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1.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46" d="100"/>
          <a:sy n="146" d="100"/>
        </p:scale>
        <p:origin x="59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pPr>
              <a:defRPr sz="1000" b="0" i="0" u="none" strike="noStrike">
                <a:solidFill>
                  <a:srgbClr val="000000"/>
                </a:solidFill>
                <a:latin typeface="Arial"/>
              </a:defRPr>
            </a:pPr>
            <a:r>
              <a:rPr lang="es-ES" sz="1000" b="0" i="0" u="none" strike="noStrike">
                <a:solidFill>
                  <a:srgbClr val="000000"/>
                </a:solidFill>
                <a:latin typeface="Arial"/>
              </a:rPr>
              <a:t>Distribución por Monto</a:t>
            </a:r>
          </a:p>
        </c:rich>
      </c:tx>
      <c:overlay val="0"/>
    </c:title>
    <c:autoTitleDeleted val="0"/>
    <c:plotArea>
      <c:layout/>
      <c:pieChart>
        <c:varyColors val="1"/>
        <c:ser>
          <c:idx val="0"/>
          <c:order val="0"/>
          <c:tx>
            <c:strRef>
              <c:f>Sheet1!$B$1</c:f>
              <c:strCache>
                <c:ptCount val="1"/>
                <c:pt idx="0">
                  <c:v>PAC Inicial</c:v>
                </c:pt>
              </c:strCache>
            </c:strRef>
          </c:tx>
          <c:spPr>
            <a:solidFill>
              <a:schemeClr val="accent1"/>
            </a:solidFill>
            <a:ln w="9525" cap="flat">
              <a:solidFill>
                <a:srgbClr val="F9F9F9"/>
              </a:solidFill>
              <a:prstDash val="solid"/>
              <a:round/>
            </a:ln>
            <a:effectLst/>
          </c:spPr>
          <c:dPt>
            <c:idx val="0"/>
            <c:bubble3D val="0"/>
            <c:spPr>
              <a:solidFill>
                <a:srgbClr val="00234E"/>
              </a:solidFill>
              <a:effectLst/>
            </c:spPr>
            <c:extLst>
              <c:ext xmlns:c16="http://schemas.microsoft.com/office/drawing/2014/chart" uri="{C3380CC4-5D6E-409C-BE32-E72D297353CC}">
                <c16:uniqueId val="{00000001-F768-A34A-A2F7-BD88A2E246B2}"/>
              </c:ext>
            </c:extLst>
          </c:dPt>
          <c:dPt>
            <c:idx val="1"/>
            <c:bubble3D val="0"/>
            <c:spPr>
              <a:solidFill>
                <a:srgbClr val="1565C0"/>
              </a:solidFill>
              <a:effectLst/>
            </c:spPr>
            <c:extLst>
              <c:ext xmlns:c16="http://schemas.microsoft.com/office/drawing/2014/chart" uri="{C3380CC4-5D6E-409C-BE32-E72D297353CC}">
                <c16:uniqueId val="{00000003-F768-A34A-A2F7-BD88A2E246B2}"/>
              </c:ext>
            </c:extLst>
          </c:dPt>
          <c:dPt>
            <c:idx val="2"/>
            <c:bubble3D val="0"/>
            <c:spPr>
              <a:solidFill>
                <a:srgbClr val="0097A7"/>
              </a:solidFill>
              <a:effectLst/>
            </c:spPr>
            <c:extLst>
              <c:ext xmlns:c16="http://schemas.microsoft.com/office/drawing/2014/chart" uri="{C3380CC4-5D6E-409C-BE32-E72D297353CC}">
                <c16:uniqueId val="{00000005-F768-A34A-A2F7-BD88A2E246B2}"/>
              </c:ext>
            </c:extLst>
          </c:dPt>
          <c:dPt>
            <c:idx val="3"/>
            <c:bubble3D val="0"/>
            <c:spPr>
              <a:solidFill>
                <a:srgbClr val="388E3C"/>
              </a:solidFill>
              <a:effectLst/>
            </c:spPr>
            <c:extLst>
              <c:ext xmlns:c16="http://schemas.microsoft.com/office/drawing/2014/chart" uri="{C3380CC4-5D6E-409C-BE32-E72D297353CC}">
                <c16:uniqueId val="{00000007-F768-A34A-A2F7-BD88A2E246B2}"/>
              </c:ext>
            </c:extLst>
          </c:dPt>
          <c:dPt>
            <c:idx val="4"/>
            <c:bubble3D val="0"/>
            <c:spPr>
              <a:solidFill>
                <a:srgbClr val="F57F17"/>
              </a:solidFill>
              <a:effectLst/>
            </c:spPr>
            <c:extLst>
              <c:ext xmlns:c16="http://schemas.microsoft.com/office/drawing/2014/chart" uri="{C3380CC4-5D6E-409C-BE32-E72D297353CC}">
                <c16:uniqueId val="{00000009-F768-A34A-A2F7-BD88A2E246B2}"/>
              </c:ext>
            </c:extLst>
          </c:dPt>
          <c:dPt>
            <c:idx val="5"/>
            <c:bubble3D val="0"/>
            <c:spPr>
              <a:solidFill>
                <a:srgbClr val="BF360C"/>
              </a:solidFill>
              <a:effectLst/>
            </c:spPr>
            <c:extLst>
              <c:ext xmlns:c16="http://schemas.microsoft.com/office/drawing/2014/chart" uri="{C3380CC4-5D6E-409C-BE32-E72D297353CC}">
                <c16:uniqueId val="{0000000B-F768-A34A-A2F7-BD88A2E246B2}"/>
              </c:ext>
            </c:extLst>
          </c:dPt>
          <c:dPt>
            <c:idx val="6"/>
            <c:bubble3D val="0"/>
            <c:spPr>
              <a:solidFill>
                <a:srgbClr val="6A1B9A"/>
              </a:solidFill>
              <a:effectLst/>
            </c:spPr>
            <c:extLst>
              <c:ext xmlns:c16="http://schemas.microsoft.com/office/drawing/2014/chart" uri="{C3380CC4-5D6E-409C-BE32-E72D297353CC}">
                <c16:uniqueId val="{0000000D-F768-A34A-A2F7-BD88A2E246B2}"/>
              </c:ext>
            </c:extLst>
          </c:dPt>
          <c:dLbls>
            <c:dLbl>
              <c:idx val="0"/>
              <c:numFmt formatCode="0%" sourceLinked="0"/>
              <c:spPr/>
              <c:txPr>
                <a:bodyPr/>
                <a:lstStyle/>
                <a:p>
                  <a:pPr>
                    <a:defRPr sz="900" b="0" i="0" u="none" strike="noStrike">
                      <a:solidFill>
                        <a:srgbClr val="FFFFFF"/>
                      </a:solidFill>
                      <a:latin typeface="Arial"/>
                    </a:defRPr>
                  </a:pPr>
                  <a:endParaRPr lang="es-CL"/>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F768-A34A-A2F7-BD88A2E246B2}"/>
                </c:ext>
              </c:extLst>
            </c:dLbl>
            <c:dLbl>
              <c:idx val="1"/>
              <c:numFmt formatCode="0%" sourceLinked="0"/>
              <c:spPr/>
              <c:txPr>
                <a:bodyPr/>
                <a:lstStyle/>
                <a:p>
                  <a:pPr>
                    <a:defRPr sz="900" b="0" i="0" u="none" strike="noStrike">
                      <a:solidFill>
                        <a:srgbClr val="FFFFFF"/>
                      </a:solidFill>
                      <a:latin typeface="Arial"/>
                    </a:defRPr>
                  </a:pPr>
                  <a:endParaRPr lang="es-CL"/>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F768-A34A-A2F7-BD88A2E246B2}"/>
                </c:ext>
              </c:extLst>
            </c:dLbl>
            <c:dLbl>
              <c:idx val="2"/>
              <c:numFmt formatCode="0%" sourceLinked="0"/>
              <c:spPr/>
              <c:txPr>
                <a:bodyPr/>
                <a:lstStyle/>
                <a:p>
                  <a:pPr>
                    <a:defRPr sz="900" b="0" i="0" u="none" strike="noStrike">
                      <a:solidFill>
                        <a:srgbClr val="FFFFFF"/>
                      </a:solidFill>
                      <a:latin typeface="Arial"/>
                    </a:defRPr>
                  </a:pPr>
                  <a:endParaRPr lang="es-CL"/>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F768-A34A-A2F7-BD88A2E246B2}"/>
                </c:ext>
              </c:extLst>
            </c:dLbl>
            <c:dLbl>
              <c:idx val="3"/>
              <c:numFmt formatCode="0%" sourceLinked="0"/>
              <c:spPr/>
              <c:txPr>
                <a:bodyPr/>
                <a:lstStyle/>
                <a:p>
                  <a:pPr>
                    <a:defRPr sz="900" b="0" i="0" u="none" strike="noStrike">
                      <a:solidFill>
                        <a:srgbClr val="FFFFFF"/>
                      </a:solidFill>
                      <a:latin typeface="Arial"/>
                    </a:defRPr>
                  </a:pPr>
                  <a:endParaRPr lang="es-CL"/>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F768-A34A-A2F7-BD88A2E246B2}"/>
                </c:ext>
              </c:extLst>
            </c:dLbl>
            <c:dLbl>
              <c:idx val="4"/>
              <c:numFmt formatCode="0%" sourceLinked="0"/>
              <c:spPr/>
              <c:txPr>
                <a:bodyPr/>
                <a:lstStyle/>
                <a:p>
                  <a:pPr>
                    <a:defRPr sz="900" b="0" i="0" u="none" strike="noStrike">
                      <a:solidFill>
                        <a:srgbClr val="FFFFFF"/>
                      </a:solidFill>
                      <a:latin typeface="Arial"/>
                    </a:defRPr>
                  </a:pPr>
                  <a:endParaRPr lang="es-CL"/>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9-F768-A34A-A2F7-BD88A2E246B2}"/>
                </c:ext>
              </c:extLst>
            </c:dLbl>
            <c:dLbl>
              <c:idx val="5"/>
              <c:numFmt formatCode="0%" sourceLinked="0"/>
              <c:spPr/>
              <c:txPr>
                <a:bodyPr/>
                <a:lstStyle/>
                <a:p>
                  <a:pPr>
                    <a:defRPr sz="900" b="0" i="0" u="none" strike="noStrike">
                      <a:solidFill>
                        <a:srgbClr val="FFFFFF"/>
                      </a:solidFill>
                      <a:latin typeface="Arial"/>
                    </a:defRPr>
                  </a:pPr>
                  <a:endParaRPr lang="es-CL"/>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B-F768-A34A-A2F7-BD88A2E246B2}"/>
                </c:ext>
              </c:extLst>
            </c:dLbl>
            <c:dLbl>
              <c:idx val="6"/>
              <c:numFmt formatCode="0%" sourceLinked="0"/>
              <c:spPr/>
              <c:txPr>
                <a:bodyPr/>
                <a:lstStyle/>
                <a:p>
                  <a:pPr>
                    <a:defRPr sz="900" b="0" i="0" u="none" strike="noStrike">
                      <a:solidFill>
                        <a:srgbClr val="FFFFFF"/>
                      </a:solidFill>
                      <a:latin typeface="Arial"/>
                    </a:defRPr>
                  </a:pPr>
                  <a:endParaRPr lang="es-CL"/>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D-F768-A34A-A2F7-BD88A2E246B2}"/>
                </c:ext>
              </c:extLst>
            </c:dLbl>
            <c:numFmt formatCode="0%" sourceLinked="0"/>
            <c:spPr>
              <a:noFill/>
              <a:ln>
                <a:noFill/>
              </a:ln>
              <a:effectLst/>
            </c:spPr>
            <c:txPr>
              <a:bodyPr/>
              <a:lstStyle/>
              <a:p>
                <a:pPr>
                  <a:defRPr sz="1800" b="0" i="0" u="none" strike="noStrike">
                    <a:solidFill>
                      <a:srgbClr val="000000"/>
                    </a:solidFill>
                    <a:latin typeface="Arial"/>
                  </a:defRPr>
                </a:pPr>
                <a:endParaRPr lang="es-CL"/>
              </a:p>
            </c:txPr>
            <c:dLblPos val="ctr"/>
            <c:showLegendKey val="0"/>
            <c:showVal val="0"/>
            <c:showCatName val="1"/>
            <c:showSerName val="0"/>
            <c:showPercent val="1"/>
            <c:showBubbleSize val="0"/>
            <c:showLeaderLines val="0"/>
            <c:extLst>
              <c:ext xmlns:c15="http://schemas.microsoft.com/office/drawing/2012/chart" uri="{CE6537A1-D6FC-4f65-9D91-7224C49458BB}"/>
            </c:extLst>
          </c:dLbls>
          <c:cat>
            <c:strRef>
              <c:f>Sheet1!$A$2:$A$8</c:f>
              <c:strCache>
                <c:ptCount val="7"/>
                <c:pt idx="0">
                  <c:v>Bienes y Servicios</c:v>
                </c:pt>
                <c:pt idx="1">
                  <c:v>Activo Fijo</c:v>
                </c:pt>
                <c:pt idx="2">
                  <c:v>Adm. Fondos</c:v>
                </c:pt>
                <c:pt idx="3">
                  <c:v>Bienestar</c:v>
                </c:pt>
                <c:pt idx="4">
                  <c:v>Conv. GORE</c:v>
                </c:pt>
                <c:pt idx="5">
                  <c:v>Obras Civiles</c:v>
                </c:pt>
                <c:pt idx="6">
                  <c:v>Proy. Arrastre</c:v>
                </c:pt>
              </c:strCache>
            </c:strRef>
          </c:cat>
          <c:val>
            <c:numRef>
              <c:f>Sheet1!$B$2:$B$8</c:f>
              <c:numCache>
                <c:formatCode>General</c:formatCode>
                <c:ptCount val="7"/>
                <c:pt idx="0">
                  <c:v>1932801598</c:v>
                </c:pt>
                <c:pt idx="1">
                  <c:v>4545805005</c:v>
                </c:pt>
                <c:pt idx="2">
                  <c:v>216217147</c:v>
                </c:pt>
                <c:pt idx="3">
                  <c:v>156000000</c:v>
                </c:pt>
                <c:pt idx="4">
                  <c:v>1438588008</c:v>
                </c:pt>
                <c:pt idx="5">
                  <c:v>7264673295</c:v>
                </c:pt>
                <c:pt idx="6">
                  <c:v>6588447864</c:v>
                </c:pt>
              </c:numCache>
            </c:numRef>
          </c:val>
          <c:extLst>
            <c:ext xmlns:c16="http://schemas.microsoft.com/office/drawing/2014/chart" uri="{C3380CC4-5D6E-409C-BE32-E72D297353CC}">
              <c16:uniqueId val="{0000000E-F768-A34A-A2F7-BD88A2E246B2}"/>
            </c:ext>
          </c:extLst>
        </c:ser>
        <c:dLbls>
          <c:showLegendKey val="0"/>
          <c:showVal val="0"/>
          <c:showCatName val="0"/>
          <c:showSerName val="0"/>
          <c:showPercent val="0"/>
          <c:showBubbleSize val="0"/>
          <c:showLeaderLines val="0"/>
        </c:dLbls>
        <c:firstSliceAng val="0"/>
      </c:pieChart>
      <c:spPr>
        <a:noFill/>
        <a:ln>
          <a:noFill/>
        </a:ln>
        <a:effectLst/>
      </c:spPr>
    </c:plotArea>
    <c:legend>
      <c:legendPos val="b"/>
      <c:overlay val="0"/>
      <c:txPr>
        <a:bodyPr/>
        <a:lstStyle/>
        <a:p>
          <a:pPr>
            <a:defRPr sz="700"/>
          </a:pPr>
          <a:endParaRPr lang="es-CL"/>
        </a:p>
      </c:txPr>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944087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234E"/>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4DAADF"/>
          </a:solidFill>
          <a:ln w="12700">
            <a:solidFill>
              <a:srgbClr val="4DAADF"/>
            </a:solidFill>
            <a:prstDash val="solid"/>
          </a:ln>
        </p:spPr>
      </p:sp>
      <p:sp>
        <p:nvSpPr>
          <p:cNvPr id="3" name="Shape 1"/>
          <p:cNvSpPr/>
          <p:nvPr/>
        </p:nvSpPr>
        <p:spPr>
          <a:xfrm>
            <a:off x="0" y="73152"/>
            <a:ext cx="228600" cy="5070348"/>
          </a:xfrm>
          <a:prstGeom prst="rect">
            <a:avLst/>
          </a:prstGeom>
          <a:solidFill>
            <a:srgbClr val="004B8D"/>
          </a:solidFill>
          <a:ln w="12700">
            <a:solidFill>
              <a:srgbClr val="004B8D"/>
            </a:solidFill>
            <a:prstDash val="solid"/>
          </a:ln>
        </p:spPr>
      </p:sp>
      <p:pic>
        <p:nvPicPr>
          <p:cNvPr id="4" name="Image 0" descr="preencoded.png"/>
          <p:cNvPicPr>
            <a:picLocks noChangeAspect="1"/>
          </p:cNvPicPr>
          <p:nvPr/>
        </p:nvPicPr>
        <p:blipFill>
          <a:blip r:embed="rId3"/>
          <a:stretch>
            <a:fillRect/>
          </a:stretch>
        </p:blipFill>
        <p:spPr>
          <a:xfrm>
            <a:off x="7498080" y="228600"/>
            <a:ext cx="1417320" cy="1417320"/>
          </a:xfrm>
          <a:prstGeom prst="ellipse">
            <a:avLst/>
          </a:prstGeom>
        </p:spPr>
      </p:pic>
      <p:sp>
        <p:nvSpPr>
          <p:cNvPr id="5" name="Shape 2"/>
          <p:cNvSpPr/>
          <p:nvPr/>
        </p:nvSpPr>
        <p:spPr>
          <a:xfrm>
            <a:off x="502920" y="228600"/>
            <a:ext cx="2926080" cy="347472"/>
          </a:xfrm>
          <a:prstGeom prst="rect">
            <a:avLst/>
          </a:prstGeom>
          <a:solidFill>
            <a:srgbClr val="4DAADF"/>
          </a:solidFill>
          <a:ln w="12700">
            <a:solidFill>
              <a:srgbClr val="4DAADF"/>
            </a:solidFill>
            <a:prstDash val="solid"/>
          </a:ln>
        </p:spPr>
      </p:sp>
      <p:sp>
        <p:nvSpPr>
          <p:cNvPr id="6" name="Text 3"/>
          <p:cNvSpPr/>
          <p:nvPr/>
        </p:nvSpPr>
        <p:spPr>
          <a:xfrm>
            <a:off x="502920" y="228600"/>
            <a:ext cx="2926080" cy="347472"/>
          </a:xfrm>
          <a:prstGeom prst="rect">
            <a:avLst/>
          </a:prstGeom>
          <a:noFill/>
          <a:ln/>
        </p:spPr>
        <p:txBody>
          <a:bodyPr wrap="square" lIns="0" tIns="0" rIns="0" bIns="0" rtlCol="0" anchor="ctr"/>
          <a:lstStyle/>
          <a:p>
            <a:pPr marL="0" indent="0" algn="ctr">
              <a:buNone/>
            </a:pPr>
            <a:r>
              <a:rPr lang="en-US" sz="1000" b="1" dirty="0">
                <a:solidFill>
                  <a:srgbClr val="00234E"/>
                </a:solidFill>
                <a:latin typeface="Calibri" pitchFamily="34" charset="0"/>
                <a:ea typeface="Calibri" pitchFamily="34" charset="-122"/>
                <a:cs typeface="Calibri" pitchFamily="34" charset="-120"/>
              </a:rPr>
              <a:t>REUNIÓN N°1 — ANÁLISIS DEL PAC</a:t>
            </a:r>
            <a:endParaRPr lang="en-US" sz="1000" dirty="0"/>
          </a:p>
        </p:txBody>
      </p:sp>
      <p:sp>
        <p:nvSpPr>
          <p:cNvPr id="7" name="Text 4"/>
          <p:cNvSpPr/>
          <p:nvPr/>
        </p:nvSpPr>
        <p:spPr>
          <a:xfrm>
            <a:off x="502920" y="914400"/>
            <a:ext cx="6858000" cy="731520"/>
          </a:xfrm>
          <a:prstGeom prst="rect">
            <a:avLst/>
          </a:prstGeom>
          <a:noFill/>
          <a:ln/>
        </p:spPr>
        <p:txBody>
          <a:bodyPr wrap="square" lIns="0" tIns="0" rIns="0" bIns="0" rtlCol="0" anchor="ctr"/>
          <a:lstStyle/>
          <a:p>
            <a:pPr marL="0" indent="0" algn="l">
              <a:buNone/>
            </a:pPr>
            <a:r>
              <a:rPr lang="en-US" sz="3800" b="1" dirty="0">
                <a:solidFill>
                  <a:srgbClr val="FFFFFF"/>
                </a:solidFill>
                <a:latin typeface="Calibri" pitchFamily="34" charset="0"/>
                <a:ea typeface="Calibri" pitchFamily="34" charset="-122"/>
                <a:cs typeface="Calibri" pitchFamily="34" charset="-120"/>
              </a:rPr>
              <a:t>PLAN ANUAL DE COMPRAS</a:t>
            </a:r>
            <a:endParaRPr lang="en-US" sz="3800" dirty="0"/>
          </a:p>
        </p:txBody>
      </p:sp>
      <p:sp>
        <p:nvSpPr>
          <p:cNvPr id="8" name="Text 5"/>
          <p:cNvSpPr/>
          <p:nvPr/>
        </p:nvSpPr>
        <p:spPr>
          <a:xfrm>
            <a:off x="502920" y="1645920"/>
            <a:ext cx="6858000" cy="594360"/>
          </a:xfrm>
          <a:prstGeom prst="rect">
            <a:avLst/>
          </a:prstGeom>
          <a:noFill/>
          <a:ln/>
        </p:spPr>
        <p:txBody>
          <a:bodyPr wrap="square" lIns="0" tIns="0" rIns="0" bIns="0" rtlCol="0" anchor="ctr"/>
          <a:lstStyle/>
          <a:p>
            <a:pPr marL="0" indent="0" algn="l">
              <a:buNone/>
            </a:pPr>
            <a:r>
              <a:rPr lang="en-US" sz="2800" dirty="0">
                <a:solidFill>
                  <a:srgbClr val="4DAADF"/>
                </a:solidFill>
                <a:latin typeface="Calibri" pitchFamily="34" charset="0"/>
                <a:ea typeface="Calibri" pitchFamily="34" charset="-122"/>
                <a:cs typeface="Calibri" pitchFamily="34" charset="-120"/>
              </a:rPr>
              <a:t>SERVICIO DE SALUD OSORNO</a:t>
            </a:r>
            <a:endParaRPr lang="en-US" sz="2800" dirty="0"/>
          </a:p>
        </p:txBody>
      </p:sp>
      <p:sp>
        <p:nvSpPr>
          <p:cNvPr id="9" name="Shape 6"/>
          <p:cNvSpPr/>
          <p:nvPr/>
        </p:nvSpPr>
        <p:spPr>
          <a:xfrm>
            <a:off x="502920" y="2331720"/>
            <a:ext cx="5486400" cy="36576"/>
          </a:xfrm>
          <a:prstGeom prst="rect">
            <a:avLst/>
          </a:prstGeom>
          <a:solidFill>
            <a:srgbClr val="4DAADF"/>
          </a:solidFill>
          <a:ln w="12700">
            <a:solidFill>
              <a:srgbClr val="4DAADF"/>
            </a:solidFill>
            <a:prstDash val="solid"/>
          </a:ln>
        </p:spPr>
      </p:sp>
      <p:sp>
        <p:nvSpPr>
          <p:cNvPr id="10" name="Text 7"/>
          <p:cNvSpPr/>
          <p:nvPr/>
        </p:nvSpPr>
        <p:spPr>
          <a:xfrm>
            <a:off x="502920" y="2468880"/>
            <a:ext cx="8412480" cy="457200"/>
          </a:xfrm>
          <a:prstGeom prst="rect">
            <a:avLst/>
          </a:prstGeom>
          <a:noFill/>
          <a:ln/>
        </p:spPr>
        <p:txBody>
          <a:bodyPr wrap="square" lIns="0" tIns="0" rIns="0" bIns="0" rtlCol="0" anchor="ctr"/>
          <a:lstStyle/>
          <a:p>
            <a:pPr marL="0" indent="0" algn="l">
              <a:buNone/>
            </a:pPr>
            <a:r>
              <a:rPr lang="en-US" sz="1800" i="1" dirty="0">
                <a:solidFill>
                  <a:srgbClr val="B0C8E0"/>
                </a:solidFill>
                <a:latin typeface="Calibri" pitchFamily="34" charset="0"/>
                <a:ea typeface="Calibri" pitchFamily="34" charset="-122"/>
                <a:cs typeface="Calibri" pitchFamily="34" charset="-120"/>
              </a:rPr>
              <a:t>Gestión, Evaluación y Proyección del PAC</a:t>
            </a:r>
            <a:endParaRPr lang="en-US" sz="1800" dirty="0"/>
          </a:p>
        </p:txBody>
      </p:sp>
      <p:sp>
        <p:nvSpPr>
          <p:cNvPr id="11" name="Text 8"/>
          <p:cNvSpPr/>
          <p:nvPr/>
        </p:nvSpPr>
        <p:spPr>
          <a:xfrm>
            <a:off x="502920" y="4114800"/>
            <a:ext cx="5486400" cy="731520"/>
          </a:xfrm>
          <a:prstGeom prst="rect">
            <a:avLst/>
          </a:prstGeom>
          <a:noFill/>
          <a:ln/>
        </p:spPr>
        <p:txBody>
          <a:bodyPr wrap="square" rtlCol="0" anchor="ctr"/>
          <a:lstStyle/>
          <a:p>
            <a:pPr marL="0" indent="0" algn="l">
              <a:buNone/>
            </a:pPr>
            <a:r>
              <a:rPr lang="en-US" sz="1400" b="1" dirty="0">
                <a:solidFill>
                  <a:srgbClr val="B0C8E0"/>
                </a:solidFill>
                <a:latin typeface="Calibri" pitchFamily="34" charset="0"/>
                <a:ea typeface="Calibri" pitchFamily="34" charset="-122"/>
                <a:cs typeface="Calibri" pitchFamily="34" charset="-120"/>
              </a:rPr>
              <a:t>Subdepartamento de Abastecimiento</a:t>
            </a:r>
            <a:endParaRPr lang="en-US" sz="1400" dirty="0"/>
          </a:p>
          <a:p>
            <a:pPr marL="0" indent="0" algn="l">
              <a:buNone/>
            </a:pPr>
            <a:r>
              <a:rPr lang="en-US" sz="1400" dirty="0">
                <a:solidFill>
                  <a:srgbClr val="B0C8E0"/>
                </a:solidFill>
                <a:latin typeface="Calibri" pitchFamily="34" charset="0"/>
                <a:ea typeface="Calibri" pitchFamily="34" charset="-122"/>
                <a:cs typeface="Calibri" pitchFamily="34" charset="-120"/>
              </a:rPr>
              <a:t>Mayo 2026</a:t>
            </a:r>
            <a:endParaRPr lang="en-US" sz="1400" dirty="0"/>
          </a:p>
        </p:txBody>
      </p:sp>
      <p:sp>
        <p:nvSpPr>
          <p:cNvPr id="12" name="Shape 9"/>
          <p:cNvSpPr/>
          <p:nvPr/>
        </p:nvSpPr>
        <p:spPr>
          <a:xfrm>
            <a:off x="0" y="5070348"/>
            <a:ext cx="9144000" cy="73152"/>
          </a:xfrm>
          <a:prstGeom prst="rect">
            <a:avLst/>
          </a:prstGeom>
          <a:solidFill>
            <a:srgbClr val="4DAADF"/>
          </a:solidFill>
          <a:ln w="12700">
            <a:solidFill>
              <a:srgbClr val="4DAADF"/>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5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234E"/>
          </a:solidFill>
          <a:ln w="12700">
            <a:solidFill>
              <a:srgbClr val="00234E"/>
            </a:solidFill>
            <a:prstDash val="solid"/>
          </a:ln>
        </p:spPr>
      </p:sp>
      <p:sp>
        <p:nvSpPr>
          <p:cNvPr id="3" name="Text 1"/>
          <p:cNvSpPr/>
          <p:nvPr/>
        </p:nvSpPr>
        <p:spPr>
          <a:xfrm>
            <a:off x="457200" y="182880"/>
            <a:ext cx="8229600" cy="548640"/>
          </a:xfrm>
          <a:prstGeom prst="rect">
            <a:avLst/>
          </a:prstGeom>
          <a:noFill/>
          <a:ln/>
        </p:spPr>
        <p:txBody>
          <a:bodyPr wrap="square" lIns="0" tIns="0" rIns="0" bIns="0" rtlCol="0" anchor="ctr"/>
          <a:lstStyle/>
          <a:p>
            <a:pPr marL="0" indent="0" algn="l">
              <a:buNone/>
            </a:pPr>
            <a:r>
              <a:rPr lang="en-US" sz="2800" b="1" dirty="0">
                <a:solidFill>
                  <a:srgbClr val="00234E"/>
                </a:solidFill>
                <a:latin typeface="Calibri" pitchFamily="34" charset="0"/>
                <a:ea typeface="Calibri" pitchFamily="34" charset="-122"/>
                <a:cs typeface="Calibri" pitchFamily="34" charset="-120"/>
              </a:rPr>
              <a:t>AGENDA</a:t>
            </a:r>
            <a:endParaRPr lang="en-US" sz="2800" dirty="0"/>
          </a:p>
        </p:txBody>
      </p:sp>
      <p:sp>
        <p:nvSpPr>
          <p:cNvPr id="4" name="Shape 2"/>
          <p:cNvSpPr/>
          <p:nvPr/>
        </p:nvSpPr>
        <p:spPr>
          <a:xfrm>
            <a:off x="365760" y="868680"/>
            <a:ext cx="8412480" cy="68580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5" name="Shape 3"/>
          <p:cNvSpPr/>
          <p:nvPr/>
        </p:nvSpPr>
        <p:spPr>
          <a:xfrm>
            <a:off x="365760" y="868680"/>
            <a:ext cx="502920" cy="685800"/>
          </a:xfrm>
          <a:prstGeom prst="rect">
            <a:avLst/>
          </a:prstGeom>
          <a:solidFill>
            <a:srgbClr val="00234E"/>
          </a:solidFill>
          <a:ln w="12700">
            <a:solidFill>
              <a:srgbClr val="00234E"/>
            </a:solidFill>
            <a:prstDash val="solid"/>
          </a:ln>
        </p:spPr>
      </p:sp>
      <p:sp>
        <p:nvSpPr>
          <p:cNvPr id="6" name="Text 4"/>
          <p:cNvSpPr/>
          <p:nvPr/>
        </p:nvSpPr>
        <p:spPr>
          <a:xfrm>
            <a:off x="365760" y="914400"/>
            <a:ext cx="502920" cy="5943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01</a:t>
            </a:r>
            <a:endParaRPr lang="en-US" sz="1600" dirty="0"/>
          </a:p>
        </p:txBody>
      </p:sp>
      <p:sp>
        <p:nvSpPr>
          <p:cNvPr id="7" name="Text 5"/>
          <p:cNvSpPr/>
          <p:nvPr/>
        </p:nvSpPr>
        <p:spPr>
          <a:xfrm>
            <a:off x="1005840" y="914400"/>
            <a:ext cx="7589520" cy="320040"/>
          </a:xfrm>
          <a:prstGeom prst="rect">
            <a:avLst/>
          </a:prstGeom>
          <a:noFill/>
          <a:ln/>
        </p:spPr>
        <p:txBody>
          <a:bodyPr wrap="square" lIns="0" tIns="0" rIns="0" bIns="0" rtlCol="0" anchor="ctr"/>
          <a:lstStyle/>
          <a:p>
            <a:pPr marL="0" indent="0">
              <a:buNone/>
            </a:pPr>
            <a:r>
              <a:rPr lang="en-US" sz="1200" b="1" dirty="0">
                <a:solidFill>
                  <a:srgbClr val="00234E"/>
                </a:solidFill>
                <a:latin typeface="Calibri" pitchFamily="34" charset="0"/>
                <a:ea typeface="Calibri" pitchFamily="34" charset="-122"/>
                <a:cs typeface="Calibri" pitchFamily="34" charset="-120"/>
              </a:rPr>
              <a:t>Metodología de Trabajo para la Evaluación Anual del Cumplimiento del Plan Anual de Compras</a:t>
            </a:r>
            <a:endParaRPr lang="en-US" sz="1200" dirty="0"/>
          </a:p>
        </p:txBody>
      </p:sp>
      <p:sp>
        <p:nvSpPr>
          <p:cNvPr id="8" name="Text 6"/>
          <p:cNvSpPr/>
          <p:nvPr/>
        </p:nvSpPr>
        <p:spPr>
          <a:xfrm>
            <a:off x="1005840" y="1234440"/>
            <a:ext cx="7589520" cy="256032"/>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Marco normativo: Ley N°19.886, Ley N°21.634, D.S. N°661/2024, Directiva N°6/2025 y Res. Exenta N°188/2026</a:t>
            </a:r>
            <a:endParaRPr lang="en-US" sz="950" dirty="0"/>
          </a:p>
        </p:txBody>
      </p:sp>
      <p:sp>
        <p:nvSpPr>
          <p:cNvPr id="9" name="Shape 7"/>
          <p:cNvSpPr/>
          <p:nvPr/>
        </p:nvSpPr>
        <p:spPr>
          <a:xfrm>
            <a:off x="365760" y="1673352"/>
            <a:ext cx="8412480" cy="68580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10" name="Shape 8"/>
          <p:cNvSpPr/>
          <p:nvPr/>
        </p:nvSpPr>
        <p:spPr>
          <a:xfrm>
            <a:off x="365760" y="1673352"/>
            <a:ext cx="502920" cy="685800"/>
          </a:xfrm>
          <a:prstGeom prst="rect">
            <a:avLst/>
          </a:prstGeom>
          <a:solidFill>
            <a:srgbClr val="00234E"/>
          </a:solidFill>
          <a:ln w="12700">
            <a:solidFill>
              <a:srgbClr val="00234E"/>
            </a:solidFill>
            <a:prstDash val="solid"/>
          </a:ln>
        </p:spPr>
      </p:sp>
      <p:sp>
        <p:nvSpPr>
          <p:cNvPr id="11" name="Text 9"/>
          <p:cNvSpPr/>
          <p:nvPr/>
        </p:nvSpPr>
        <p:spPr>
          <a:xfrm>
            <a:off x="365760" y="1719072"/>
            <a:ext cx="502920" cy="5943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02</a:t>
            </a:r>
            <a:endParaRPr lang="en-US" sz="1600" dirty="0"/>
          </a:p>
        </p:txBody>
      </p:sp>
      <p:sp>
        <p:nvSpPr>
          <p:cNvPr id="12" name="Text 10"/>
          <p:cNvSpPr/>
          <p:nvPr/>
        </p:nvSpPr>
        <p:spPr>
          <a:xfrm>
            <a:off x="1005840" y="1719072"/>
            <a:ext cx="7589520" cy="320040"/>
          </a:xfrm>
          <a:prstGeom prst="rect">
            <a:avLst/>
          </a:prstGeom>
          <a:noFill/>
          <a:ln/>
        </p:spPr>
        <p:txBody>
          <a:bodyPr wrap="square" lIns="0" tIns="0" rIns="0" bIns="0" rtlCol="0" anchor="ctr"/>
          <a:lstStyle/>
          <a:p>
            <a:pPr marL="0" indent="0">
              <a:buNone/>
            </a:pPr>
            <a:r>
              <a:rPr lang="en-US" sz="1200" b="1" dirty="0">
                <a:solidFill>
                  <a:srgbClr val="00234E"/>
                </a:solidFill>
                <a:latin typeface="Calibri" pitchFamily="34" charset="0"/>
                <a:ea typeface="Calibri" pitchFamily="34" charset="-122"/>
                <a:cs typeface="Calibri" pitchFamily="34" charset="-120"/>
              </a:rPr>
              <a:t>Comisión Evaluación PAC</a:t>
            </a:r>
            <a:endParaRPr lang="en-US" sz="1200" dirty="0"/>
          </a:p>
        </p:txBody>
      </p:sp>
      <p:sp>
        <p:nvSpPr>
          <p:cNvPr id="13" name="Text 11"/>
          <p:cNvSpPr/>
          <p:nvPr/>
        </p:nvSpPr>
        <p:spPr>
          <a:xfrm>
            <a:off x="1005840" y="2039112"/>
            <a:ext cx="7589520" cy="256032"/>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Res. Exenta N°2194 (Feb. 2023) y Oficio CP N°25231 — Instrucciones y Orientaciones para la Planificación, Elaboración, Ejecución y Control del PAC — Estado actual y propuestas de mejora</a:t>
            </a:r>
            <a:endParaRPr lang="en-US" sz="950" dirty="0"/>
          </a:p>
        </p:txBody>
      </p:sp>
      <p:sp>
        <p:nvSpPr>
          <p:cNvPr id="14" name="Shape 12"/>
          <p:cNvSpPr/>
          <p:nvPr/>
        </p:nvSpPr>
        <p:spPr>
          <a:xfrm>
            <a:off x="365760" y="2478024"/>
            <a:ext cx="8412480" cy="68580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15" name="Shape 13"/>
          <p:cNvSpPr/>
          <p:nvPr/>
        </p:nvSpPr>
        <p:spPr>
          <a:xfrm>
            <a:off x="365760" y="2478024"/>
            <a:ext cx="502920" cy="685800"/>
          </a:xfrm>
          <a:prstGeom prst="rect">
            <a:avLst/>
          </a:prstGeom>
          <a:solidFill>
            <a:srgbClr val="00234E"/>
          </a:solidFill>
          <a:ln w="12700">
            <a:solidFill>
              <a:srgbClr val="00234E"/>
            </a:solidFill>
            <a:prstDash val="solid"/>
          </a:ln>
        </p:spPr>
      </p:sp>
      <p:sp>
        <p:nvSpPr>
          <p:cNvPr id="16" name="Text 14"/>
          <p:cNvSpPr/>
          <p:nvPr/>
        </p:nvSpPr>
        <p:spPr>
          <a:xfrm>
            <a:off x="365760" y="2523744"/>
            <a:ext cx="502920" cy="5943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03</a:t>
            </a:r>
            <a:endParaRPr lang="en-US" sz="1600" dirty="0"/>
          </a:p>
        </p:txBody>
      </p:sp>
      <p:sp>
        <p:nvSpPr>
          <p:cNvPr id="17" name="Text 15"/>
          <p:cNvSpPr/>
          <p:nvPr/>
        </p:nvSpPr>
        <p:spPr>
          <a:xfrm>
            <a:off x="1005840" y="2523744"/>
            <a:ext cx="7589520" cy="320040"/>
          </a:xfrm>
          <a:prstGeom prst="rect">
            <a:avLst/>
          </a:prstGeom>
          <a:noFill/>
          <a:ln/>
        </p:spPr>
        <p:txBody>
          <a:bodyPr wrap="square" lIns="0" tIns="0" rIns="0" bIns="0" rtlCol="0" anchor="ctr"/>
          <a:lstStyle/>
          <a:p>
            <a:pPr marL="0" indent="0">
              <a:buNone/>
            </a:pPr>
            <a:r>
              <a:rPr lang="en-US" sz="1200" b="1" dirty="0">
                <a:solidFill>
                  <a:srgbClr val="00234E"/>
                </a:solidFill>
                <a:latin typeface="Calibri" pitchFamily="34" charset="0"/>
                <a:ea typeface="Calibri" pitchFamily="34" charset="-122"/>
                <a:cs typeface="Calibri" pitchFamily="34" charset="-120"/>
              </a:rPr>
              <a:t>Resultados Evaluación PAC 2025</a:t>
            </a:r>
            <a:endParaRPr lang="en-US" sz="1200" dirty="0"/>
          </a:p>
        </p:txBody>
      </p:sp>
      <p:sp>
        <p:nvSpPr>
          <p:cNvPr id="18" name="Text 16"/>
          <p:cNvSpPr/>
          <p:nvPr/>
        </p:nvSpPr>
        <p:spPr>
          <a:xfrm>
            <a:off x="1005840" y="2843784"/>
            <a:ext cx="7589520" cy="256032"/>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Primera medición nacional — Análisis comparativo de los 5 indicadores</a:t>
            </a:r>
            <a:endParaRPr lang="en-US" sz="950" dirty="0"/>
          </a:p>
        </p:txBody>
      </p:sp>
      <p:sp>
        <p:nvSpPr>
          <p:cNvPr id="19" name="Shape 17"/>
          <p:cNvSpPr/>
          <p:nvPr/>
        </p:nvSpPr>
        <p:spPr>
          <a:xfrm>
            <a:off x="365760" y="3282696"/>
            <a:ext cx="8412480" cy="68580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20" name="Shape 18"/>
          <p:cNvSpPr/>
          <p:nvPr/>
        </p:nvSpPr>
        <p:spPr>
          <a:xfrm>
            <a:off x="365760" y="3282696"/>
            <a:ext cx="502920" cy="685800"/>
          </a:xfrm>
          <a:prstGeom prst="rect">
            <a:avLst/>
          </a:prstGeom>
          <a:solidFill>
            <a:srgbClr val="00234E"/>
          </a:solidFill>
          <a:ln w="12700">
            <a:solidFill>
              <a:srgbClr val="00234E"/>
            </a:solidFill>
            <a:prstDash val="solid"/>
          </a:ln>
        </p:spPr>
      </p:sp>
      <p:sp>
        <p:nvSpPr>
          <p:cNvPr id="21" name="Text 19"/>
          <p:cNvSpPr/>
          <p:nvPr/>
        </p:nvSpPr>
        <p:spPr>
          <a:xfrm>
            <a:off x="365760" y="3328416"/>
            <a:ext cx="502920" cy="5943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04</a:t>
            </a:r>
            <a:endParaRPr lang="en-US" sz="1600" dirty="0"/>
          </a:p>
        </p:txBody>
      </p:sp>
      <p:sp>
        <p:nvSpPr>
          <p:cNvPr id="22" name="Text 20"/>
          <p:cNvSpPr/>
          <p:nvPr/>
        </p:nvSpPr>
        <p:spPr>
          <a:xfrm>
            <a:off x="1005840" y="3328416"/>
            <a:ext cx="7589520" cy="320040"/>
          </a:xfrm>
          <a:prstGeom prst="rect">
            <a:avLst/>
          </a:prstGeom>
          <a:noFill/>
          <a:ln/>
        </p:spPr>
        <p:txBody>
          <a:bodyPr wrap="square" lIns="0" tIns="0" rIns="0" bIns="0" rtlCol="0" anchor="ctr"/>
          <a:lstStyle/>
          <a:p>
            <a:pPr marL="0" indent="0">
              <a:buNone/>
            </a:pPr>
            <a:r>
              <a:rPr lang="en-US" sz="1200" b="1" dirty="0">
                <a:solidFill>
                  <a:srgbClr val="00234E"/>
                </a:solidFill>
                <a:latin typeface="Calibri" pitchFamily="34" charset="0"/>
                <a:ea typeface="Calibri" pitchFamily="34" charset="-122"/>
                <a:cs typeface="Calibri" pitchFamily="34" charset="-120"/>
              </a:rPr>
              <a:t>PAC 2026</a:t>
            </a:r>
            <a:endParaRPr lang="en-US" sz="1200" dirty="0"/>
          </a:p>
        </p:txBody>
      </p:sp>
      <p:sp>
        <p:nvSpPr>
          <p:cNvPr id="23" name="Text 21"/>
          <p:cNvSpPr/>
          <p:nvPr/>
        </p:nvSpPr>
        <p:spPr>
          <a:xfrm>
            <a:off x="1005840" y="3648456"/>
            <a:ext cx="7589520" cy="256032"/>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PAC Inicial y 1° Modificación — Análisis por unidad de compra</a:t>
            </a:r>
            <a:endParaRPr lang="en-US" sz="950" dirty="0"/>
          </a:p>
        </p:txBody>
      </p:sp>
      <p:sp>
        <p:nvSpPr>
          <p:cNvPr id="24" name="Shape 22"/>
          <p:cNvSpPr/>
          <p:nvPr/>
        </p:nvSpPr>
        <p:spPr>
          <a:xfrm>
            <a:off x="365760" y="4087368"/>
            <a:ext cx="8412480" cy="68580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25" name="Shape 23"/>
          <p:cNvSpPr/>
          <p:nvPr/>
        </p:nvSpPr>
        <p:spPr>
          <a:xfrm>
            <a:off x="365760" y="4087368"/>
            <a:ext cx="502920" cy="685800"/>
          </a:xfrm>
          <a:prstGeom prst="rect">
            <a:avLst/>
          </a:prstGeom>
          <a:solidFill>
            <a:srgbClr val="00234E"/>
          </a:solidFill>
          <a:ln w="12700">
            <a:solidFill>
              <a:srgbClr val="00234E"/>
            </a:solidFill>
            <a:prstDash val="solid"/>
          </a:ln>
        </p:spPr>
      </p:sp>
      <p:sp>
        <p:nvSpPr>
          <p:cNvPr id="26" name="Text 24"/>
          <p:cNvSpPr/>
          <p:nvPr/>
        </p:nvSpPr>
        <p:spPr>
          <a:xfrm>
            <a:off x="365760" y="4133088"/>
            <a:ext cx="502920" cy="5943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05</a:t>
            </a:r>
            <a:endParaRPr lang="en-US" sz="1600" dirty="0"/>
          </a:p>
        </p:txBody>
      </p:sp>
      <p:sp>
        <p:nvSpPr>
          <p:cNvPr id="27" name="Text 25"/>
          <p:cNvSpPr/>
          <p:nvPr/>
        </p:nvSpPr>
        <p:spPr>
          <a:xfrm>
            <a:off x="1005840" y="4133088"/>
            <a:ext cx="7589520" cy="320040"/>
          </a:xfrm>
          <a:prstGeom prst="rect">
            <a:avLst/>
          </a:prstGeom>
          <a:noFill/>
          <a:ln/>
        </p:spPr>
        <p:txBody>
          <a:bodyPr wrap="square" lIns="0" tIns="0" rIns="0" bIns="0" rtlCol="0" anchor="ctr"/>
          <a:lstStyle/>
          <a:p>
            <a:pPr marL="0" indent="0">
              <a:buNone/>
            </a:pPr>
            <a:r>
              <a:rPr lang="en-US" sz="1200" b="1" dirty="0">
                <a:solidFill>
                  <a:srgbClr val="00234E"/>
                </a:solidFill>
                <a:latin typeface="Calibri" pitchFamily="34" charset="0"/>
                <a:ea typeface="Calibri" pitchFamily="34" charset="-122"/>
                <a:cs typeface="Calibri" pitchFamily="34" charset="-120"/>
              </a:rPr>
              <a:t>Conclusiones y Compromisos</a:t>
            </a:r>
            <a:endParaRPr lang="en-US" sz="1200" dirty="0"/>
          </a:p>
        </p:txBody>
      </p:sp>
      <p:sp>
        <p:nvSpPr>
          <p:cNvPr id="28" name="Text 26"/>
          <p:cNvSpPr/>
          <p:nvPr/>
        </p:nvSpPr>
        <p:spPr>
          <a:xfrm>
            <a:off x="1005840" y="4453128"/>
            <a:ext cx="7589520" cy="256032"/>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Alineación estratégica y próximos pasos</a:t>
            </a:r>
            <a:endParaRPr lang="en-US" sz="950" dirty="0"/>
          </a:p>
        </p:txBody>
      </p:sp>
      <p:sp>
        <p:nvSpPr>
          <p:cNvPr id="29" name="Shape 27"/>
          <p:cNvSpPr/>
          <p:nvPr/>
        </p:nvSpPr>
        <p:spPr>
          <a:xfrm>
            <a:off x="0" y="5070348"/>
            <a:ext cx="9144000" cy="73152"/>
          </a:xfrm>
          <a:prstGeom prst="rect">
            <a:avLst/>
          </a:prstGeom>
          <a:solidFill>
            <a:srgbClr val="00234E"/>
          </a:solidFill>
          <a:ln w="12700">
            <a:solidFill>
              <a:srgbClr val="00234E"/>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234E"/>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4DAADF"/>
          </a:solidFill>
          <a:ln w="12700">
            <a:solidFill>
              <a:srgbClr val="4DAADF"/>
            </a:solidFill>
            <a:prstDash val="solid"/>
          </a:ln>
        </p:spPr>
      </p:sp>
      <p:sp>
        <p:nvSpPr>
          <p:cNvPr id="3" name="Shape 1"/>
          <p:cNvSpPr/>
          <p:nvPr/>
        </p:nvSpPr>
        <p:spPr>
          <a:xfrm>
            <a:off x="0" y="73152"/>
            <a:ext cx="228600" cy="5070348"/>
          </a:xfrm>
          <a:prstGeom prst="rect">
            <a:avLst/>
          </a:prstGeom>
          <a:solidFill>
            <a:srgbClr val="004B8D"/>
          </a:solidFill>
          <a:ln w="12700">
            <a:solidFill>
              <a:srgbClr val="004B8D"/>
            </a:solidFill>
            <a:prstDash val="solid"/>
          </a:ln>
        </p:spPr>
      </p:sp>
      <p:sp>
        <p:nvSpPr>
          <p:cNvPr id="4" name="Text 2"/>
          <p:cNvSpPr/>
          <p:nvPr/>
        </p:nvSpPr>
        <p:spPr>
          <a:xfrm>
            <a:off x="502920" y="457200"/>
            <a:ext cx="1828800" cy="1005840"/>
          </a:xfrm>
          <a:prstGeom prst="rect">
            <a:avLst/>
          </a:prstGeom>
          <a:noFill/>
          <a:ln/>
        </p:spPr>
        <p:txBody>
          <a:bodyPr wrap="square" lIns="0" tIns="0" rIns="0" bIns="0" rtlCol="0" anchor="ctr"/>
          <a:lstStyle/>
          <a:p>
            <a:pPr marL="0" indent="0">
              <a:buNone/>
            </a:pPr>
            <a:r>
              <a:rPr lang="en-US" sz="8000" b="1" dirty="0">
                <a:solidFill>
                  <a:srgbClr val="1A3A6B"/>
                </a:solidFill>
                <a:latin typeface="Calibri" pitchFamily="34" charset="0"/>
                <a:ea typeface="Calibri" pitchFamily="34" charset="-122"/>
                <a:cs typeface="Calibri" pitchFamily="34" charset="-120"/>
              </a:rPr>
              <a:t>01</a:t>
            </a:r>
            <a:endParaRPr lang="en-US" sz="8000" dirty="0"/>
          </a:p>
        </p:txBody>
      </p:sp>
      <p:sp>
        <p:nvSpPr>
          <p:cNvPr id="5" name="Text 3"/>
          <p:cNvSpPr/>
          <p:nvPr/>
        </p:nvSpPr>
        <p:spPr>
          <a:xfrm>
            <a:off x="502920" y="1508760"/>
            <a:ext cx="8412480" cy="182880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METODOLOGÍA DE TRABAJO PARA LA</a:t>
            </a:r>
            <a:endParaRPr lang="en-US" sz="2800" dirty="0"/>
          </a:p>
          <a:p>
            <a:pPr marL="0" indent="0">
              <a:buNone/>
            </a:pPr>
            <a:r>
              <a:rPr lang="en-US" sz="2800" b="1" dirty="0">
                <a:solidFill>
                  <a:srgbClr val="FFFFFF"/>
                </a:solidFill>
                <a:latin typeface="Calibri" pitchFamily="34" charset="0"/>
                <a:ea typeface="Calibri" pitchFamily="34" charset="-122"/>
                <a:cs typeface="Calibri" pitchFamily="34" charset="-120"/>
              </a:rPr>
              <a:t>EVALUACIÓN ANUAL DEL CUMPLIMIENTO</a:t>
            </a:r>
            <a:endParaRPr lang="en-US" sz="2800" dirty="0"/>
          </a:p>
          <a:p>
            <a:pPr marL="0" indent="0">
              <a:buNone/>
            </a:pPr>
            <a:r>
              <a:rPr lang="en-US" sz="2800" b="1" dirty="0">
                <a:solidFill>
                  <a:srgbClr val="FFFFFF"/>
                </a:solidFill>
                <a:latin typeface="Calibri" pitchFamily="34" charset="0"/>
                <a:ea typeface="Calibri" pitchFamily="34" charset="-122"/>
                <a:cs typeface="Calibri" pitchFamily="34" charset="-120"/>
              </a:rPr>
              <a:t>DEL PLAN ANUAL DE COMPRAS</a:t>
            </a:r>
            <a:endParaRPr lang="en-US" sz="2800" dirty="0"/>
          </a:p>
        </p:txBody>
      </p:sp>
      <p:sp>
        <p:nvSpPr>
          <p:cNvPr id="6" name="Text 4"/>
          <p:cNvSpPr/>
          <p:nvPr/>
        </p:nvSpPr>
        <p:spPr>
          <a:xfrm>
            <a:off x="502920" y="3429000"/>
            <a:ext cx="8412480" cy="502920"/>
          </a:xfrm>
          <a:prstGeom prst="rect">
            <a:avLst/>
          </a:prstGeom>
          <a:noFill/>
          <a:ln/>
        </p:spPr>
        <p:txBody>
          <a:bodyPr wrap="square" lIns="0" tIns="0" rIns="0" bIns="0" rtlCol="0" anchor="ctr"/>
          <a:lstStyle/>
          <a:p>
            <a:pPr marL="0" indent="0">
              <a:buNone/>
            </a:pPr>
            <a:r>
              <a:rPr lang="en-US" sz="1300" i="1" dirty="0">
                <a:solidFill>
                  <a:srgbClr val="4DAADF"/>
                </a:solidFill>
                <a:latin typeface="Calibri" pitchFamily="34" charset="0"/>
                <a:ea typeface="Calibri" pitchFamily="34" charset="-122"/>
                <a:cs typeface="Calibri" pitchFamily="34" charset="-120"/>
              </a:rPr>
              <a:t>Marco normativo: Ley N°19.886, Ley N°21.634, D.S. N°661/2024, Directiva N°6/2025 y Res. Exenta N°188/2026</a:t>
            </a:r>
            <a:endParaRPr lang="en-US" sz="1300" dirty="0"/>
          </a:p>
        </p:txBody>
      </p:sp>
      <p:sp>
        <p:nvSpPr>
          <p:cNvPr id="7" name="Shape 5"/>
          <p:cNvSpPr/>
          <p:nvPr/>
        </p:nvSpPr>
        <p:spPr>
          <a:xfrm>
            <a:off x="0" y="5070348"/>
            <a:ext cx="9144000" cy="73152"/>
          </a:xfrm>
          <a:prstGeom prst="rect">
            <a:avLst/>
          </a:prstGeom>
          <a:solidFill>
            <a:srgbClr val="4DAADF"/>
          </a:solidFill>
          <a:ln w="12700">
            <a:solidFill>
              <a:srgbClr val="4DAADF"/>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5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234E"/>
          </a:solidFill>
          <a:ln w="12700">
            <a:solidFill>
              <a:srgbClr val="00234E"/>
            </a:solidFill>
            <a:prstDash val="solid"/>
          </a:ln>
        </p:spPr>
      </p:sp>
      <p:sp>
        <p:nvSpPr>
          <p:cNvPr id="3" name="Text 1"/>
          <p:cNvSpPr/>
          <p:nvPr/>
        </p:nvSpPr>
        <p:spPr>
          <a:xfrm>
            <a:off x="457200" y="137160"/>
            <a:ext cx="8229600" cy="502920"/>
          </a:xfrm>
          <a:prstGeom prst="rect">
            <a:avLst/>
          </a:prstGeom>
          <a:noFill/>
          <a:ln/>
        </p:spPr>
        <p:txBody>
          <a:bodyPr wrap="square" lIns="0" tIns="0" rIns="0" bIns="0" rtlCol="0" anchor="ctr"/>
          <a:lstStyle/>
          <a:p>
            <a:pPr marL="0" indent="0" algn="l">
              <a:buNone/>
            </a:pPr>
            <a:r>
              <a:rPr lang="en-US" sz="2200" b="1" dirty="0">
                <a:solidFill>
                  <a:srgbClr val="00234E"/>
                </a:solidFill>
                <a:latin typeface="Calibri" pitchFamily="34" charset="0"/>
                <a:ea typeface="Calibri" pitchFamily="34" charset="-122"/>
                <a:cs typeface="Calibri" pitchFamily="34" charset="-120"/>
              </a:rPr>
              <a:t>Marco Normativo del PAC</a:t>
            </a:r>
            <a:endParaRPr lang="en-US" sz="2200" dirty="0"/>
          </a:p>
        </p:txBody>
      </p:sp>
      <p:sp>
        <p:nvSpPr>
          <p:cNvPr id="4" name="Text 2"/>
          <p:cNvSpPr/>
          <p:nvPr/>
        </p:nvSpPr>
        <p:spPr>
          <a:xfrm>
            <a:off x="457200" y="621792"/>
            <a:ext cx="8229600" cy="256032"/>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Ley N°19.886 | Ley N°21.634 | D.S. N°661/2024 | Directiva N°6/2025 | Res. Exenta N°188/2026</a:t>
            </a:r>
            <a:endParaRPr lang="en-US" sz="1100" dirty="0"/>
          </a:p>
        </p:txBody>
      </p:sp>
      <p:sp>
        <p:nvSpPr>
          <p:cNvPr id="5" name="Shape 3"/>
          <p:cNvSpPr/>
          <p:nvPr/>
        </p:nvSpPr>
        <p:spPr>
          <a:xfrm>
            <a:off x="274320" y="1005840"/>
            <a:ext cx="4206240" cy="182880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6" name="Shape 4"/>
          <p:cNvSpPr/>
          <p:nvPr/>
        </p:nvSpPr>
        <p:spPr>
          <a:xfrm>
            <a:off x="274320" y="1005840"/>
            <a:ext cx="4206240" cy="347472"/>
          </a:xfrm>
          <a:prstGeom prst="rect">
            <a:avLst/>
          </a:prstGeom>
          <a:solidFill>
            <a:srgbClr val="00234E"/>
          </a:solidFill>
          <a:ln w="12700">
            <a:solidFill>
              <a:srgbClr val="00234E"/>
            </a:solidFill>
            <a:prstDash val="solid"/>
          </a:ln>
        </p:spPr>
      </p:sp>
      <p:sp>
        <p:nvSpPr>
          <p:cNvPr id="7" name="Text 5"/>
          <p:cNvSpPr/>
          <p:nvPr/>
        </p:nvSpPr>
        <p:spPr>
          <a:xfrm>
            <a:off x="411480" y="1042416"/>
            <a:ext cx="393192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Ley N°19.886 / Ley N°21.634</a:t>
            </a:r>
            <a:endParaRPr lang="en-US" sz="1200" dirty="0"/>
          </a:p>
        </p:txBody>
      </p:sp>
      <p:sp>
        <p:nvSpPr>
          <p:cNvPr id="8" name="Text 6"/>
          <p:cNvSpPr/>
          <p:nvPr/>
        </p:nvSpPr>
        <p:spPr>
          <a:xfrm>
            <a:off x="384048" y="1389888"/>
            <a:ext cx="4005072" cy="256032"/>
          </a:xfrm>
          <a:prstGeom prst="rect">
            <a:avLst/>
          </a:prstGeom>
          <a:noFill/>
          <a:ln/>
        </p:spPr>
        <p:txBody>
          <a:bodyPr wrap="square" lIns="0" tIns="0" rIns="0" bIns="0" rtlCol="0" anchor="ctr"/>
          <a:lstStyle/>
          <a:p>
            <a:pPr marL="0" indent="0">
              <a:buNone/>
            </a:pPr>
            <a:r>
              <a:rPr lang="en-US" sz="950" b="1" i="1" dirty="0">
                <a:solidFill>
                  <a:srgbClr val="00234E"/>
                </a:solidFill>
                <a:latin typeface="Calibri" pitchFamily="34" charset="0"/>
                <a:ea typeface="Calibri" pitchFamily="34" charset="-122"/>
                <a:cs typeface="Calibri" pitchFamily="34" charset="-120"/>
              </a:rPr>
              <a:t>Art. 12 — Obligación de elaborar y evaluar el PAC</a:t>
            </a:r>
            <a:endParaRPr lang="en-US" sz="950" dirty="0"/>
          </a:p>
        </p:txBody>
      </p:sp>
      <p:sp>
        <p:nvSpPr>
          <p:cNvPr id="9" name="Text 7"/>
          <p:cNvSpPr/>
          <p:nvPr/>
        </p:nvSpPr>
        <p:spPr>
          <a:xfrm>
            <a:off x="384048" y="1645920"/>
            <a:ext cx="4005072" cy="1115568"/>
          </a:xfrm>
          <a:prstGeom prst="rect">
            <a:avLst/>
          </a:prstGeom>
          <a:noFill/>
          <a:ln/>
        </p:spPr>
        <p:txBody>
          <a:bodyPr wrap="square" lIns="0" tIns="0" rIns="0" bIns="0" rtlCol="0" anchor="ctr"/>
          <a:lstStyle/>
          <a:p>
            <a:pPr algn="just"/>
            <a:r>
              <a:rPr lang="en-US" sz="850" b="1" dirty="0">
                <a:solidFill>
                  <a:srgbClr val="333333"/>
                </a:solidFill>
                <a:latin typeface="Calibri" pitchFamily="34" charset="0"/>
                <a:ea typeface="Calibri" pitchFamily="34" charset="-122"/>
                <a:cs typeface="Calibri" pitchFamily="34" charset="-120"/>
              </a:rPr>
              <a:t>Art. 12 inc. 1°: </a:t>
            </a:r>
            <a:r>
              <a:rPr lang="en-US" sz="850" dirty="0" err="1">
                <a:solidFill>
                  <a:srgbClr val="333333"/>
                </a:solidFill>
                <a:latin typeface="Calibri" pitchFamily="34" charset="0"/>
                <a:ea typeface="Calibri" pitchFamily="34" charset="-122"/>
                <a:cs typeface="Calibri" pitchFamily="34" charset="-120"/>
              </a:rPr>
              <a:t>Cada</a:t>
            </a:r>
            <a:r>
              <a:rPr lang="en-US" sz="850" dirty="0">
                <a:solidFill>
                  <a:srgbClr val="333333"/>
                </a:solidFill>
                <a:latin typeface="Calibri" pitchFamily="34" charset="0"/>
                <a:ea typeface="Calibri" pitchFamily="34" charset="-122"/>
                <a:cs typeface="Calibri" pitchFamily="34" charset="-120"/>
              </a:rPr>
              <a:t> </a:t>
            </a:r>
            <a:r>
              <a:rPr lang="en-US" sz="850" dirty="0" err="1">
                <a:solidFill>
                  <a:srgbClr val="333333"/>
                </a:solidFill>
                <a:latin typeface="Calibri" pitchFamily="34" charset="0"/>
                <a:ea typeface="Calibri" pitchFamily="34" charset="-122"/>
                <a:cs typeface="Calibri" pitchFamily="34" charset="-120"/>
              </a:rPr>
              <a:t>institución</a:t>
            </a:r>
            <a:r>
              <a:rPr lang="en-US" sz="850" dirty="0">
                <a:solidFill>
                  <a:srgbClr val="333333"/>
                </a:solidFill>
                <a:latin typeface="Calibri" pitchFamily="34" charset="0"/>
                <a:ea typeface="Calibri" pitchFamily="34" charset="-122"/>
                <a:cs typeface="Calibri" pitchFamily="34" charset="-120"/>
              </a:rPr>
              <a:t> </a:t>
            </a:r>
            <a:r>
              <a:rPr lang="en-US" sz="850" dirty="0" err="1">
                <a:solidFill>
                  <a:srgbClr val="333333"/>
                </a:solidFill>
                <a:latin typeface="Calibri" pitchFamily="34" charset="0"/>
                <a:ea typeface="Calibri" pitchFamily="34" charset="-122"/>
                <a:cs typeface="Calibri" pitchFamily="34" charset="-120"/>
              </a:rPr>
              <a:t>deberá</a:t>
            </a:r>
            <a:r>
              <a:rPr lang="en-US" sz="850" dirty="0">
                <a:solidFill>
                  <a:srgbClr val="333333"/>
                </a:solidFill>
                <a:latin typeface="Calibri" pitchFamily="34" charset="0"/>
                <a:ea typeface="Calibri" pitchFamily="34" charset="-122"/>
                <a:cs typeface="Calibri" pitchFamily="34" charset="-120"/>
              </a:rPr>
              <a:t> </a:t>
            </a:r>
            <a:r>
              <a:rPr lang="en-US" sz="850" dirty="0" err="1">
                <a:solidFill>
                  <a:srgbClr val="333333"/>
                </a:solidFill>
                <a:latin typeface="Calibri" pitchFamily="34" charset="0"/>
                <a:ea typeface="Calibri" pitchFamily="34" charset="-122"/>
                <a:cs typeface="Calibri" pitchFamily="34" charset="-120"/>
              </a:rPr>
              <a:t>elaborar</a:t>
            </a:r>
            <a:r>
              <a:rPr lang="en-US" sz="850" dirty="0">
                <a:solidFill>
                  <a:srgbClr val="333333"/>
                </a:solidFill>
                <a:latin typeface="Calibri" pitchFamily="34" charset="0"/>
                <a:ea typeface="Calibri" pitchFamily="34" charset="-122"/>
                <a:cs typeface="Calibri" pitchFamily="34" charset="-120"/>
              </a:rPr>
              <a:t> y </a:t>
            </a:r>
            <a:r>
              <a:rPr lang="en-US" sz="850" dirty="0" err="1">
                <a:solidFill>
                  <a:srgbClr val="333333"/>
                </a:solidFill>
                <a:latin typeface="Calibri" pitchFamily="34" charset="0"/>
                <a:ea typeface="Calibri" pitchFamily="34" charset="-122"/>
                <a:cs typeface="Calibri" pitchFamily="34" charset="-120"/>
              </a:rPr>
              <a:t>evaluar</a:t>
            </a:r>
            <a:r>
              <a:rPr lang="en-US" sz="850" dirty="0">
                <a:solidFill>
                  <a:srgbClr val="333333"/>
                </a:solidFill>
                <a:latin typeface="Calibri" pitchFamily="34" charset="0"/>
                <a:ea typeface="Calibri" pitchFamily="34" charset="-122"/>
                <a:cs typeface="Calibri" pitchFamily="34" charset="-120"/>
              </a:rPr>
              <a:t> </a:t>
            </a:r>
            <a:r>
              <a:rPr lang="en-US" sz="850" dirty="0" err="1">
                <a:solidFill>
                  <a:srgbClr val="333333"/>
                </a:solidFill>
                <a:latin typeface="Calibri" pitchFamily="34" charset="0"/>
                <a:ea typeface="Calibri" pitchFamily="34" charset="-122"/>
                <a:cs typeface="Calibri" pitchFamily="34" charset="-120"/>
              </a:rPr>
              <a:t>periódicamente</a:t>
            </a:r>
            <a:r>
              <a:rPr lang="en-US" sz="850" dirty="0">
                <a:solidFill>
                  <a:srgbClr val="333333"/>
                </a:solidFill>
                <a:latin typeface="Calibri" pitchFamily="34" charset="0"/>
                <a:ea typeface="Calibri" pitchFamily="34" charset="-122"/>
                <a:cs typeface="Calibri" pitchFamily="34" charset="-120"/>
              </a:rPr>
              <a:t> un Plan </a:t>
            </a:r>
            <a:r>
              <a:rPr lang="en-US" sz="850" dirty="0" err="1">
                <a:solidFill>
                  <a:srgbClr val="333333"/>
                </a:solidFill>
                <a:latin typeface="Calibri" pitchFamily="34" charset="0"/>
                <a:ea typeface="Calibri" pitchFamily="34" charset="-122"/>
                <a:cs typeface="Calibri" pitchFamily="34" charset="-120"/>
              </a:rPr>
              <a:t>Anual</a:t>
            </a:r>
            <a:r>
              <a:rPr lang="en-US" sz="850" dirty="0">
                <a:solidFill>
                  <a:srgbClr val="333333"/>
                </a:solidFill>
                <a:latin typeface="Calibri" pitchFamily="34" charset="0"/>
                <a:ea typeface="Calibri" pitchFamily="34" charset="-122"/>
                <a:cs typeface="Calibri" pitchFamily="34" charset="-120"/>
              </a:rPr>
              <a:t> de </a:t>
            </a:r>
            <a:r>
              <a:rPr lang="en-US" sz="850" dirty="0" err="1">
                <a:solidFill>
                  <a:srgbClr val="333333"/>
                </a:solidFill>
                <a:latin typeface="Calibri" pitchFamily="34" charset="0"/>
                <a:ea typeface="Calibri" pitchFamily="34" charset="-122"/>
                <a:cs typeface="Calibri" pitchFamily="34" charset="-120"/>
              </a:rPr>
              <a:t>Compras</a:t>
            </a:r>
            <a:r>
              <a:rPr lang="en-US" sz="850" dirty="0">
                <a:solidFill>
                  <a:srgbClr val="333333"/>
                </a:solidFill>
                <a:latin typeface="Calibri" pitchFamily="34" charset="0"/>
                <a:ea typeface="Calibri" pitchFamily="34" charset="-122"/>
                <a:cs typeface="Calibri" pitchFamily="34" charset="-120"/>
              </a:rPr>
              <a:t> y </a:t>
            </a:r>
            <a:r>
              <a:rPr lang="en-US" sz="850" dirty="0" err="1">
                <a:solidFill>
                  <a:srgbClr val="333333"/>
                </a:solidFill>
                <a:latin typeface="Calibri" pitchFamily="34" charset="0"/>
                <a:ea typeface="Calibri" pitchFamily="34" charset="-122"/>
                <a:cs typeface="Calibri" pitchFamily="34" charset="-120"/>
              </a:rPr>
              <a:t>Contrataciones</a:t>
            </a:r>
            <a:r>
              <a:rPr lang="en-US" sz="850" dirty="0">
                <a:solidFill>
                  <a:srgbClr val="333333"/>
                </a:solidFill>
                <a:latin typeface="Calibri" pitchFamily="34" charset="0"/>
                <a:ea typeface="Calibri" pitchFamily="34" charset="-122"/>
                <a:cs typeface="Calibri" pitchFamily="34" charset="-120"/>
              </a:rPr>
              <a:t> al que </a:t>
            </a:r>
            <a:r>
              <a:rPr lang="en-US" sz="850" dirty="0" err="1">
                <a:solidFill>
                  <a:srgbClr val="333333"/>
                </a:solidFill>
                <a:latin typeface="Calibri" pitchFamily="34" charset="0"/>
                <a:ea typeface="Calibri" pitchFamily="34" charset="-122"/>
                <a:cs typeface="Calibri" pitchFamily="34" charset="-120"/>
              </a:rPr>
              <a:t>deberá</a:t>
            </a:r>
            <a:r>
              <a:rPr lang="en-US" sz="850" dirty="0">
                <a:solidFill>
                  <a:srgbClr val="333333"/>
                </a:solidFill>
                <a:latin typeface="Calibri" pitchFamily="34" charset="0"/>
                <a:ea typeface="Calibri" pitchFamily="34" charset="-122"/>
                <a:cs typeface="Calibri" pitchFamily="34" charset="-120"/>
              </a:rPr>
              <a:t> </a:t>
            </a:r>
            <a:r>
              <a:rPr lang="en-US" sz="850" dirty="0" err="1">
                <a:solidFill>
                  <a:srgbClr val="333333"/>
                </a:solidFill>
                <a:latin typeface="Calibri" pitchFamily="34" charset="0"/>
                <a:ea typeface="Calibri" pitchFamily="34" charset="-122"/>
                <a:cs typeface="Calibri" pitchFamily="34" charset="-120"/>
              </a:rPr>
              <a:t>sujetarse</a:t>
            </a:r>
            <a:r>
              <a:rPr lang="en-US" sz="850" dirty="0">
                <a:solidFill>
                  <a:srgbClr val="333333"/>
                </a:solidFill>
                <a:latin typeface="Calibri" pitchFamily="34" charset="0"/>
                <a:ea typeface="Calibri" pitchFamily="34" charset="-122"/>
                <a:cs typeface="Calibri" pitchFamily="34" charset="-120"/>
              </a:rPr>
              <a:t> para </a:t>
            </a:r>
            <a:r>
              <a:rPr lang="en-US" sz="850" dirty="0" err="1">
                <a:solidFill>
                  <a:srgbClr val="333333"/>
                </a:solidFill>
                <a:latin typeface="Calibri" pitchFamily="34" charset="0"/>
                <a:ea typeface="Calibri" pitchFamily="34" charset="-122"/>
                <a:cs typeface="Calibri" pitchFamily="34" charset="-120"/>
              </a:rPr>
              <a:t>realizar</a:t>
            </a:r>
            <a:r>
              <a:rPr lang="en-US" sz="850" dirty="0">
                <a:solidFill>
                  <a:srgbClr val="333333"/>
                </a:solidFill>
                <a:latin typeface="Calibri" pitchFamily="34" charset="0"/>
                <a:ea typeface="Calibri" pitchFamily="34" charset="-122"/>
                <a:cs typeface="Calibri" pitchFamily="34" charset="-120"/>
              </a:rPr>
              <a:t> sus </a:t>
            </a:r>
            <a:r>
              <a:rPr lang="en-US" sz="850" dirty="0" err="1">
                <a:solidFill>
                  <a:srgbClr val="333333"/>
                </a:solidFill>
                <a:latin typeface="Calibri" pitchFamily="34" charset="0"/>
                <a:ea typeface="Calibri" pitchFamily="34" charset="-122"/>
                <a:cs typeface="Calibri" pitchFamily="34" charset="-120"/>
              </a:rPr>
              <a:t>procesos</a:t>
            </a:r>
            <a:r>
              <a:rPr lang="en-US" sz="850" dirty="0">
                <a:solidFill>
                  <a:srgbClr val="333333"/>
                </a:solidFill>
                <a:latin typeface="Calibri" pitchFamily="34" charset="0"/>
                <a:ea typeface="Calibri" pitchFamily="34" charset="-122"/>
                <a:cs typeface="Calibri" pitchFamily="34" charset="-120"/>
              </a:rPr>
              <a:t> de </a:t>
            </a:r>
            <a:r>
              <a:rPr lang="en-US" sz="850" dirty="0" err="1">
                <a:solidFill>
                  <a:srgbClr val="333333"/>
                </a:solidFill>
                <a:latin typeface="Calibri" pitchFamily="34" charset="0"/>
                <a:ea typeface="Calibri" pitchFamily="34" charset="-122"/>
                <a:cs typeface="Calibri" pitchFamily="34" charset="-120"/>
              </a:rPr>
              <a:t>compra</a:t>
            </a:r>
            <a:endParaRPr lang="en-US" sz="850" dirty="0">
              <a:solidFill>
                <a:srgbClr val="333333"/>
              </a:solidFill>
              <a:latin typeface="Calibri" pitchFamily="34" charset="0"/>
              <a:ea typeface="Calibri" pitchFamily="34" charset="-122"/>
              <a:cs typeface="Calibri" pitchFamily="34" charset="-120"/>
            </a:endParaRPr>
          </a:p>
          <a:p>
            <a:pPr algn="just"/>
            <a:endParaRPr lang="en-US" sz="850" dirty="0"/>
          </a:p>
          <a:p>
            <a:pPr marL="0" indent="0" algn="just">
              <a:buNone/>
            </a:pPr>
            <a:r>
              <a:rPr lang="en-US" sz="850" b="1" dirty="0">
                <a:solidFill>
                  <a:srgbClr val="333333"/>
                </a:solidFill>
                <a:latin typeface="Calibri" pitchFamily="34" charset="0"/>
                <a:ea typeface="Calibri" pitchFamily="34" charset="-122"/>
                <a:cs typeface="Calibri" pitchFamily="34" charset="-120"/>
              </a:rPr>
              <a:t>La Ley N°21.634 </a:t>
            </a:r>
            <a:r>
              <a:rPr lang="en-US" sz="850" dirty="0">
                <a:solidFill>
                  <a:srgbClr val="333333"/>
                </a:solidFill>
                <a:latin typeface="Calibri" pitchFamily="34" charset="0"/>
                <a:ea typeface="Calibri" pitchFamily="34" charset="-122"/>
                <a:cs typeface="Calibri" pitchFamily="34" charset="-120"/>
              </a:rPr>
              <a:t>(2023) moderniza esta obligación: agrega criterios de elaboración, facultad de la DCCP para exigir modificaciones y entrega al Ministerio de Hacienda la metodología de evaluación anual.</a:t>
            </a:r>
            <a:endParaRPr lang="en-US" sz="850" dirty="0"/>
          </a:p>
        </p:txBody>
      </p:sp>
      <p:sp>
        <p:nvSpPr>
          <p:cNvPr id="10" name="Shape 8"/>
          <p:cNvSpPr/>
          <p:nvPr/>
        </p:nvSpPr>
        <p:spPr>
          <a:xfrm>
            <a:off x="4709160" y="1005840"/>
            <a:ext cx="4206240" cy="182880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11" name="Shape 9"/>
          <p:cNvSpPr/>
          <p:nvPr/>
        </p:nvSpPr>
        <p:spPr>
          <a:xfrm>
            <a:off x="4709160" y="1005840"/>
            <a:ext cx="4206240" cy="347472"/>
          </a:xfrm>
          <a:prstGeom prst="rect">
            <a:avLst/>
          </a:prstGeom>
          <a:solidFill>
            <a:srgbClr val="004B8D"/>
          </a:solidFill>
          <a:ln w="12700">
            <a:solidFill>
              <a:srgbClr val="004B8D"/>
            </a:solidFill>
            <a:prstDash val="solid"/>
          </a:ln>
        </p:spPr>
      </p:sp>
      <p:sp>
        <p:nvSpPr>
          <p:cNvPr id="12" name="Text 10"/>
          <p:cNvSpPr/>
          <p:nvPr/>
        </p:nvSpPr>
        <p:spPr>
          <a:xfrm>
            <a:off x="4846320" y="1042416"/>
            <a:ext cx="393192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D.S. N°661/2024</a:t>
            </a:r>
            <a:endParaRPr lang="en-US" sz="1200" dirty="0"/>
          </a:p>
        </p:txBody>
      </p:sp>
      <p:sp>
        <p:nvSpPr>
          <p:cNvPr id="13" name="Text 11"/>
          <p:cNvSpPr/>
          <p:nvPr/>
        </p:nvSpPr>
        <p:spPr>
          <a:xfrm>
            <a:off x="4818888" y="1389888"/>
            <a:ext cx="4005072" cy="256032"/>
          </a:xfrm>
          <a:prstGeom prst="rect">
            <a:avLst/>
          </a:prstGeom>
          <a:noFill/>
          <a:ln/>
        </p:spPr>
        <p:txBody>
          <a:bodyPr wrap="square" lIns="0" tIns="0" rIns="0" bIns="0" rtlCol="0" anchor="ctr"/>
          <a:lstStyle/>
          <a:p>
            <a:pPr marL="0" indent="0">
              <a:buNone/>
            </a:pPr>
            <a:r>
              <a:rPr lang="en-US" sz="950" b="1" i="1" dirty="0">
                <a:solidFill>
                  <a:srgbClr val="004B8D"/>
                </a:solidFill>
                <a:latin typeface="Calibri" pitchFamily="34" charset="0"/>
                <a:ea typeface="Calibri" pitchFamily="34" charset="-122"/>
                <a:cs typeface="Calibri" pitchFamily="34" charset="-120"/>
              </a:rPr>
              <a:t>Cap. XI (Arts. 165, 167, 170) — Reglamento del PAC</a:t>
            </a:r>
            <a:endParaRPr lang="en-US" sz="950" dirty="0"/>
          </a:p>
        </p:txBody>
      </p:sp>
      <p:sp>
        <p:nvSpPr>
          <p:cNvPr id="14" name="Text 12"/>
          <p:cNvSpPr/>
          <p:nvPr/>
        </p:nvSpPr>
        <p:spPr>
          <a:xfrm>
            <a:off x="4818888" y="1645920"/>
            <a:ext cx="4005072" cy="1115568"/>
          </a:xfrm>
          <a:prstGeom prst="rect">
            <a:avLst/>
          </a:prstGeom>
          <a:noFill/>
          <a:ln/>
        </p:spPr>
        <p:txBody>
          <a:bodyPr wrap="square" lIns="0" tIns="0" rIns="0" bIns="0" rtlCol="0" anchor="ctr"/>
          <a:lstStyle/>
          <a:p>
            <a:pPr marL="0" indent="0" algn="just">
              <a:buNone/>
            </a:pPr>
            <a:r>
              <a:rPr lang="en-US" sz="850" b="1" dirty="0">
                <a:solidFill>
                  <a:srgbClr val="333333"/>
                </a:solidFill>
                <a:latin typeface="Calibri" pitchFamily="34" charset="0"/>
                <a:ea typeface="Calibri" pitchFamily="34" charset="-122"/>
                <a:cs typeface="Calibri" pitchFamily="34" charset="-120"/>
              </a:rPr>
              <a:t>Art. 165: </a:t>
            </a:r>
            <a:r>
              <a:rPr lang="en-US" sz="850" dirty="0">
                <a:solidFill>
                  <a:srgbClr val="333333"/>
                </a:solidFill>
                <a:latin typeface="Calibri" pitchFamily="34" charset="0"/>
                <a:ea typeface="Calibri" pitchFamily="34" charset="-122"/>
                <a:cs typeface="Calibri" pitchFamily="34" charset="-120"/>
              </a:rPr>
              <a:t>Fija el contenido mínimo obligatorio: listado de bienes/servicios, cantidad estimada, presupuesto estimado, procedimiento de contratación y fecha estimada de publicación.</a:t>
            </a:r>
            <a:endParaRPr lang="en-US" sz="850" dirty="0"/>
          </a:p>
          <a:p>
            <a:pPr marL="0" indent="0" algn="just">
              <a:buNone/>
            </a:pPr>
            <a:endParaRPr lang="en-US" sz="850" dirty="0"/>
          </a:p>
          <a:p>
            <a:pPr marL="0" indent="0" algn="just">
              <a:buNone/>
            </a:pPr>
            <a:r>
              <a:rPr lang="en-US" sz="850" b="1" dirty="0">
                <a:solidFill>
                  <a:srgbClr val="333333"/>
                </a:solidFill>
                <a:latin typeface="Calibri" pitchFamily="34" charset="0"/>
                <a:ea typeface="Calibri" pitchFamily="34" charset="-122"/>
                <a:cs typeface="Calibri" pitchFamily="34" charset="-120"/>
              </a:rPr>
              <a:t>Art. 167: </a:t>
            </a:r>
            <a:r>
              <a:rPr lang="en-US" sz="850" dirty="0">
                <a:solidFill>
                  <a:srgbClr val="333333"/>
                </a:solidFill>
                <a:latin typeface="Calibri" pitchFamily="34" charset="0"/>
                <a:ea typeface="Calibri" pitchFamily="34" charset="-122"/>
                <a:cs typeface="Calibri" pitchFamily="34" charset="-120"/>
              </a:rPr>
              <a:t>Plazo máximo de publicación del PAC: 31 de enero de cada año.</a:t>
            </a:r>
            <a:endParaRPr lang="en-US" sz="850" dirty="0"/>
          </a:p>
          <a:p>
            <a:pPr marL="0" indent="0" algn="just">
              <a:buNone/>
            </a:pPr>
            <a:endParaRPr lang="en-US" sz="850" dirty="0"/>
          </a:p>
          <a:p>
            <a:pPr marL="0" indent="0" algn="just">
              <a:buNone/>
            </a:pPr>
            <a:r>
              <a:rPr lang="en-US" sz="850" b="1" dirty="0">
                <a:solidFill>
                  <a:srgbClr val="333333"/>
                </a:solidFill>
                <a:latin typeface="Calibri" pitchFamily="34" charset="0"/>
                <a:ea typeface="Calibri" pitchFamily="34" charset="-122"/>
                <a:cs typeface="Calibri" pitchFamily="34" charset="-120"/>
              </a:rPr>
              <a:t>Art. 170: </a:t>
            </a:r>
            <a:r>
              <a:rPr lang="en-US" sz="850" dirty="0">
                <a:solidFill>
                  <a:srgbClr val="333333"/>
                </a:solidFill>
                <a:latin typeface="Calibri" pitchFamily="34" charset="0"/>
                <a:ea typeface="Calibri" pitchFamily="34" charset="-122"/>
                <a:cs typeface="Calibri" pitchFamily="34" charset="-120"/>
              </a:rPr>
              <a:t>Los resultados de evaluación deben publicarse en Mercado Público.</a:t>
            </a:r>
            <a:endParaRPr lang="en-US" sz="850" dirty="0"/>
          </a:p>
        </p:txBody>
      </p:sp>
      <p:sp>
        <p:nvSpPr>
          <p:cNvPr id="15" name="Shape 13"/>
          <p:cNvSpPr/>
          <p:nvPr/>
        </p:nvSpPr>
        <p:spPr>
          <a:xfrm>
            <a:off x="274320" y="2971800"/>
            <a:ext cx="4206240" cy="182880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16" name="Shape 14"/>
          <p:cNvSpPr/>
          <p:nvPr/>
        </p:nvSpPr>
        <p:spPr>
          <a:xfrm>
            <a:off x="274320" y="2971800"/>
            <a:ext cx="4206240" cy="347472"/>
          </a:xfrm>
          <a:prstGeom prst="rect">
            <a:avLst/>
          </a:prstGeom>
          <a:solidFill>
            <a:srgbClr val="005A9E"/>
          </a:solidFill>
          <a:ln w="12700">
            <a:solidFill>
              <a:srgbClr val="005A9E"/>
            </a:solidFill>
            <a:prstDash val="solid"/>
          </a:ln>
        </p:spPr>
      </p:sp>
      <p:sp>
        <p:nvSpPr>
          <p:cNvPr id="17" name="Text 15"/>
          <p:cNvSpPr/>
          <p:nvPr/>
        </p:nvSpPr>
        <p:spPr>
          <a:xfrm>
            <a:off x="411480" y="3008376"/>
            <a:ext cx="393192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Directiva N°6/2025</a:t>
            </a:r>
            <a:endParaRPr lang="en-US" sz="1200" dirty="0"/>
          </a:p>
        </p:txBody>
      </p:sp>
      <p:sp>
        <p:nvSpPr>
          <p:cNvPr id="18" name="Text 16"/>
          <p:cNvSpPr/>
          <p:nvPr/>
        </p:nvSpPr>
        <p:spPr>
          <a:xfrm>
            <a:off x="384048" y="3355848"/>
            <a:ext cx="4005072" cy="256032"/>
          </a:xfrm>
          <a:prstGeom prst="rect">
            <a:avLst/>
          </a:prstGeom>
          <a:noFill/>
          <a:ln/>
        </p:spPr>
        <p:txBody>
          <a:bodyPr wrap="square" lIns="0" tIns="0" rIns="0" bIns="0" rtlCol="0" anchor="ctr"/>
          <a:lstStyle/>
          <a:p>
            <a:pPr marL="0" indent="0">
              <a:buNone/>
            </a:pPr>
            <a:r>
              <a:rPr lang="en-US" sz="950" b="1" i="1" dirty="0">
                <a:solidFill>
                  <a:srgbClr val="005A9E"/>
                </a:solidFill>
                <a:latin typeface="Calibri" pitchFamily="34" charset="0"/>
                <a:ea typeface="Calibri" pitchFamily="34" charset="-122"/>
                <a:cs typeface="Calibri" pitchFamily="34" charset="-120"/>
              </a:rPr>
              <a:t>ChileCompra — Lineamientos operativos actualizados</a:t>
            </a:r>
            <a:endParaRPr lang="en-US" sz="950" dirty="0"/>
          </a:p>
        </p:txBody>
      </p:sp>
      <p:sp>
        <p:nvSpPr>
          <p:cNvPr id="19" name="Text 17"/>
          <p:cNvSpPr/>
          <p:nvPr/>
        </p:nvSpPr>
        <p:spPr>
          <a:xfrm>
            <a:off x="384048" y="3611880"/>
            <a:ext cx="4005072" cy="1115568"/>
          </a:xfrm>
          <a:prstGeom prst="rect">
            <a:avLst/>
          </a:prstGeom>
          <a:noFill/>
          <a:ln/>
        </p:spPr>
        <p:txBody>
          <a:bodyPr wrap="square" lIns="0" tIns="0" rIns="0" bIns="0" rtlCol="0" anchor="ctr"/>
          <a:lstStyle/>
          <a:p>
            <a:pPr marL="0" indent="0" algn="just">
              <a:buNone/>
            </a:pPr>
            <a:r>
              <a:rPr lang="en-US" sz="850" dirty="0">
                <a:solidFill>
                  <a:srgbClr val="333333"/>
                </a:solidFill>
                <a:latin typeface="Calibri" pitchFamily="34" charset="0"/>
                <a:ea typeface="Calibri" pitchFamily="34" charset="-122"/>
                <a:cs typeface="Calibri" pitchFamily="34" charset="-120"/>
              </a:rPr>
              <a:t>Reemplaza la Directiva de 2007. Define el PAC como un 'formulario electrónico, sistematizado y estandarizado'.</a:t>
            </a:r>
            <a:endParaRPr lang="en-US" sz="850" dirty="0"/>
          </a:p>
          <a:p>
            <a:pPr marL="0" indent="0" algn="just">
              <a:buNone/>
            </a:pPr>
            <a:endParaRPr lang="en-US" sz="850" dirty="0"/>
          </a:p>
          <a:p>
            <a:pPr marL="0" indent="0" algn="just">
              <a:buNone/>
            </a:pPr>
            <a:r>
              <a:rPr lang="en-US" sz="850" dirty="0">
                <a:solidFill>
                  <a:srgbClr val="333333"/>
                </a:solidFill>
                <a:latin typeface="Calibri" pitchFamily="34" charset="0"/>
                <a:ea typeface="Calibri" pitchFamily="34" charset="-122"/>
                <a:cs typeface="Calibri" pitchFamily="34" charset="-120"/>
              </a:rPr>
              <a:t>Incorpora criterios de sustentabilidad, eficiencia, innovación y vinculación con objetivos estratégicos institucionales.</a:t>
            </a:r>
            <a:endParaRPr lang="en-US" sz="850" dirty="0"/>
          </a:p>
          <a:p>
            <a:pPr marL="0" indent="0" algn="just">
              <a:buNone/>
            </a:pPr>
            <a:endParaRPr lang="en-US" sz="850" dirty="0"/>
          </a:p>
          <a:p>
            <a:pPr marL="0" indent="0" algn="just">
              <a:buNone/>
            </a:pPr>
            <a:r>
              <a:rPr lang="en-US" sz="850" dirty="0">
                <a:solidFill>
                  <a:srgbClr val="333333"/>
                </a:solidFill>
                <a:latin typeface="Calibri" pitchFamily="34" charset="0"/>
                <a:ea typeface="Calibri" pitchFamily="34" charset="-122"/>
                <a:cs typeface="Calibri" pitchFamily="34" charset="-120"/>
              </a:rPr>
              <a:t>Establece 5 factores obligatorios a considerar en la elaboración, entre ellos: el plan estratégico de desarrollo de la institución.</a:t>
            </a:r>
            <a:endParaRPr lang="en-US" sz="850" dirty="0"/>
          </a:p>
        </p:txBody>
      </p:sp>
      <p:sp>
        <p:nvSpPr>
          <p:cNvPr id="20" name="Shape 18"/>
          <p:cNvSpPr/>
          <p:nvPr/>
        </p:nvSpPr>
        <p:spPr>
          <a:xfrm>
            <a:off x="4709160" y="2971800"/>
            <a:ext cx="4206240" cy="182880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21" name="Shape 19"/>
          <p:cNvSpPr/>
          <p:nvPr/>
        </p:nvSpPr>
        <p:spPr>
          <a:xfrm>
            <a:off x="4709160" y="2971800"/>
            <a:ext cx="4206240" cy="347472"/>
          </a:xfrm>
          <a:prstGeom prst="rect">
            <a:avLst/>
          </a:prstGeom>
          <a:solidFill>
            <a:srgbClr val="005A9E"/>
          </a:solidFill>
          <a:ln w="12700">
            <a:solidFill>
              <a:srgbClr val="005A9E"/>
            </a:solidFill>
            <a:prstDash val="solid"/>
          </a:ln>
        </p:spPr>
      </p:sp>
      <p:sp>
        <p:nvSpPr>
          <p:cNvPr id="22" name="Text 20"/>
          <p:cNvSpPr/>
          <p:nvPr/>
        </p:nvSpPr>
        <p:spPr>
          <a:xfrm>
            <a:off x="4846320" y="3008376"/>
            <a:ext cx="393192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Res. Exenta N°188/2026</a:t>
            </a:r>
            <a:endParaRPr lang="en-US" sz="1200" dirty="0"/>
          </a:p>
        </p:txBody>
      </p:sp>
      <p:sp>
        <p:nvSpPr>
          <p:cNvPr id="23" name="Text 21"/>
          <p:cNvSpPr/>
          <p:nvPr/>
        </p:nvSpPr>
        <p:spPr>
          <a:xfrm>
            <a:off x="4818888" y="3355848"/>
            <a:ext cx="4005072" cy="256032"/>
          </a:xfrm>
          <a:prstGeom prst="rect">
            <a:avLst/>
          </a:prstGeom>
          <a:noFill/>
          <a:ln/>
        </p:spPr>
        <p:txBody>
          <a:bodyPr wrap="square" lIns="0" tIns="0" rIns="0" bIns="0" rtlCol="0" anchor="ctr"/>
          <a:lstStyle/>
          <a:p>
            <a:pPr marL="0" indent="0">
              <a:buNone/>
            </a:pPr>
            <a:r>
              <a:rPr lang="en-US" sz="950" b="1" i="1" dirty="0">
                <a:solidFill>
                  <a:srgbClr val="005A9E"/>
                </a:solidFill>
                <a:latin typeface="Calibri" pitchFamily="34" charset="0"/>
                <a:ea typeface="Calibri" pitchFamily="34" charset="-122"/>
                <a:cs typeface="Calibri" pitchFamily="34" charset="-120"/>
              </a:rPr>
              <a:t>Ministerio de Hacienda — </a:t>
            </a:r>
            <a:r>
              <a:rPr lang="en-US" sz="950" b="1" i="1" dirty="0" err="1">
                <a:solidFill>
                  <a:srgbClr val="005A9E"/>
                </a:solidFill>
                <a:latin typeface="Calibri" pitchFamily="34" charset="0"/>
                <a:ea typeface="Calibri" pitchFamily="34" charset="-122"/>
                <a:cs typeface="Calibri" pitchFamily="34" charset="-120"/>
              </a:rPr>
              <a:t>Metodología</a:t>
            </a:r>
            <a:r>
              <a:rPr lang="en-US" sz="950" b="1" i="1" dirty="0">
                <a:solidFill>
                  <a:srgbClr val="005A9E"/>
                </a:solidFill>
                <a:latin typeface="Calibri" pitchFamily="34" charset="0"/>
                <a:ea typeface="Calibri" pitchFamily="34" charset="-122"/>
                <a:cs typeface="Calibri" pitchFamily="34" charset="-120"/>
              </a:rPr>
              <a:t> de Evaluación</a:t>
            </a:r>
            <a:endParaRPr lang="en-US" sz="950" dirty="0"/>
          </a:p>
        </p:txBody>
      </p:sp>
      <p:sp>
        <p:nvSpPr>
          <p:cNvPr id="24" name="Text 22"/>
          <p:cNvSpPr/>
          <p:nvPr/>
        </p:nvSpPr>
        <p:spPr>
          <a:xfrm>
            <a:off x="4818888" y="3611880"/>
            <a:ext cx="4005072" cy="1115568"/>
          </a:xfrm>
          <a:prstGeom prst="rect">
            <a:avLst/>
          </a:prstGeom>
          <a:noFill/>
          <a:ln/>
        </p:spPr>
        <p:txBody>
          <a:bodyPr wrap="square" lIns="0" tIns="0" rIns="0" bIns="0" rtlCol="0" anchor="ctr"/>
          <a:lstStyle/>
          <a:p>
            <a:pPr marL="0" indent="0" algn="just">
              <a:buNone/>
            </a:pPr>
            <a:r>
              <a:rPr lang="en-US" sz="850" dirty="0">
                <a:solidFill>
                  <a:srgbClr val="333333"/>
                </a:solidFill>
                <a:latin typeface="Calibri" pitchFamily="34" charset="0"/>
                <a:ea typeface="Calibri" pitchFamily="34" charset="-122"/>
                <a:cs typeface="Calibri" pitchFamily="34" charset="-120"/>
              </a:rPr>
              <a:t>Establece metodología uniforme para evaluar el PAC con 5 dimensiones de análisis con indicadores cuantitativos ponderados.</a:t>
            </a:r>
            <a:endParaRPr lang="en-US" sz="850" dirty="0"/>
          </a:p>
          <a:p>
            <a:pPr marL="0" indent="0" algn="just">
              <a:buNone/>
            </a:pPr>
            <a:endParaRPr lang="en-US" sz="850" dirty="0"/>
          </a:p>
          <a:p>
            <a:pPr marL="0" indent="0" algn="just">
              <a:buNone/>
            </a:pPr>
            <a:r>
              <a:rPr lang="en-US" sz="850" dirty="0">
                <a:solidFill>
                  <a:srgbClr val="333333"/>
                </a:solidFill>
                <a:latin typeface="Calibri" pitchFamily="34" charset="0"/>
                <a:ea typeface="Calibri" pitchFamily="34" charset="-122"/>
                <a:cs typeface="Calibri" pitchFamily="34" charset="-120"/>
              </a:rPr>
              <a:t>Primera medición actúa como línea base nacional.</a:t>
            </a:r>
            <a:endParaRPr lang="en-US" sz="850" dirty="0"/>
          </a:p>
          <a:p>
            <a:pPr marL="0" indent="0" algn="just">
              <a:buNone/>
            </a:pPr>
            <a:endParaRPr lang="en-US" sz="850" dirty="0"/>
          </a:p>
          <a:p>
            <a:pPr marL="0" indent="0" algn="just">
              <a:buNone/>
            </a:pPr>
            <a:r>
              <a:rPr lang="en-US" sz="850" dirty="0">
                <a:solidFill>
                  <a:srgbClr val="333333"/>
                </a:solidFill>
                <a:latin typeface="Calibri" pitchFamily="34" charset="0"/>
                <a:ea typeface="Calibri" pitchFamily="34" charset="-122"/>
                <a:cs typeface="Calibri" pitchFamily="34" charset="-120"/>
              </a:rPr>
              <a:t>Vigente desde el 6 de marzo de 2026.</a:t>
            </a:r>
            <a:endParaRPr lang="en-US" sz="850" dirty="0"/>
          </a:p>
        </p:txBody>
      </p:sp>
      <p:sp>
        <p:nvSpPr>
          <p:cNvPr id="25" name="Shape 23"/>
          <p:cNvSpPr/>
          <p:nvPr/>
        </p:nvSpPr>
        <p:spPr>
          <a:xfrm>
            <a:off x="0" y="5070348"/>
            <a:ext cx="9144000" cy="73152"/>
          </a:xfrm>
          <a:prstGeom prst="rect">
            <a:avLst/>
          </a:prstGeom>
          <a:solidFill>
            <a:srgbClr val="00234E"/>
          </a:solidFill>
          <a:ln w="12700">
            <a:solidFill>
              <a:srgbClr val="00234E"/>
            </a:solidFill>
            <a:prstDash val="solid"/>
          </a:ln>
        </p:spPr>
      </p:sp>
      <p:sp>
        <p:nvSpPr>
          <p:cNvPr id="26" name="Text 24"/>
          <p:cNvSpPr/>
          <p:nvPr/>
        </p:nvSpPr>
        <p:spPr>
          <a:xfrm>
            <a:off x="274320" y="4919472"/>
            <a:ext cx="8595360" cy="164592"/>
          </a:xfrm>
          <a:prstGeom prst="rect">
            <a:avLst/>
          </a:prstGeom>
          <a:noFill/>
          <a:ln/>
        </p:spPr>
        <p:txBody>
          <a:bodyPr wrap="square" lIns="0" tIns="0" rIns="0" bIns="0" rtlCol="0" anchor="ctr"/>
          <a:lstStyle/>
          <a:p>
            <a:pPr marL="0" indent="0" algn="r">
              <a:buNone/>
            </a:pPr>
            <a:r>
              <a:rPr lang="en-US" sz="800" dirty="0">
                <a:solidFill>
                  <a:srgbClr val="AAAAAA"/>
                </a:solidFill>
                <a:latin typeface="Calibri" pitchFamily="34" charset="0"/>
                <a:ea typeface="Calibri" pitchFamily="34" charset="-122"/>
                <a:cs typeface="Calibri" pitchFamily="34" charset="-120"/>
              </a:rPr>
              <a:t>Subdepartamento de Abastecimiento — Servicio de Salud Osorno</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5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234E"/>
          </a:solidFill>
          <a:ln w="12700">
            <a:solidFill>
              <a:srgbClr val="00234E"/>
            </a:solidFill>
            <a:prstDash val="solid"/>
          </a:ln>
        </p:spPr>
      </p:sp>
      <p:sp>
        <p:nvSpPr>
          <p:cNvPr id="3" name="Text 1"/>
          <p:cNvSpPr/>
          <p:nvPr/>
        </p:nvSpPr>
        <p:spPr>
          <a:xfrm>
            <a:off x="457200" y="137160"/>
            <a:ext cx="8229600" cy="457200"/>
          </a:xfrm>
          <a:prstGeom prst="rect">
            <a:avLst/>
          </a:prstGeom>
          <a:noFill/>
          <a:ln/>
        </p:spPr>
        <p:txBody>
          <a:bodyPr wrap="square" lIns="0" tIns="0" rIns="0" bIns="0" rtlCol="0" anchor="ctr"/>
          <a:lstStyle/>
          <a:p>
            <a:pPr marL="0" indent="0" algn="l">
              <a:buNone/>
            </a:pPr>
            <a:r>
              <a:rPr lang="en-US" sz="2200" b="1" dirty="0">
                <a:solidFill>
                  <a:srgbClr val="00234E"/>
                </a:solidFill>
                <a:latin typeface="Calibri" pitchFamily="34" charset="0"/>
                <a:ea typeface="Calibri" pitchFamily="34" charset="-122"/>
                <a:cs typeface="Calibri" pitchFamily="34" charset="-120"/>
              </a:rPr>
              <a:t>Res. Exenta N°188/2026 — Aspectos Clave</a:t>
            </a:r>
            <a:endParaRPr lang="en-US" sz="2200" dirty="0"/>
          </a:p>
        </p:txBody>
      </p:sp>
      <p:sp>
        <p:nvSpPr>
          <p:cNvPr id="4" name="Text 2"/>
          <p:cNvSpPr/>
          <p:nvPr/>
        </p:nvSpPr>
        <p:spPr>
          <a:xfrm>
            <a:off x="457200" y="576072"/>
            <a:ext cx="8229600" cy="228600"/>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Ministerio de Hacienda | Totalmente tramitada el 6 de marzo de 2026</a:t>
            </a:r>
            <a:endParaRPr lang="en-US" sz="1000" dirty="0"/>
          </a:p>
        </p:txBody>
      </p:sp>
      <p:sp>
        <p:nvSpPr>
          <p:cNvPr id="5" name="Shape 3"/>
          <p:cNvSpPr/>
          <p:nvPr/>
        </p:nvSpPr>
        <p:spPr>
          <a:xfrm>
            <a:off x="256032" y="877824"/>
            <a:ext cx="4206240" cy="187452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6" name="Shape 4"/>
          <p:cNvSpPr/>
          <p:nvPr/>
        </p:nvSpPr>
        <p:spPr>
          <a:xfrm>
            <a:off x="256032" y="877824"/>
            <a:ext cx="4206240" cy="347472"/>
          </a:xfrm>
          <a:prstGeom prst="rect">
            <a:avLst/>
          </a:prstGeom>
          <a:solidFill>
            <a:srgbClr val="00234E"/>
          </a:solidFill>
          <a:ln w="12700">
            <a:solidFill>
              <a:srgbClr val="00234E"/>
            </a:solidFill>
            <a:prstDash val="solid"/>
          </a:ln>
        </p:spPr>
      </p:sp>
      <p:sp>
        <p:nvSpPr>
          <p:cNvPr id="7" name="Text 5"/>
          <p:cNvSpPr/>
          <p:nvPr/>
        </p:nvSpPr>
        <p:spPr>
          <a:xfrm>
            <a:off x="365760" y="896112"/>
            <a:ext cx="393192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1. </a:t>
            </a:r>
            <a:r>
              <a:rPr lang="en-US" sz="1200" b="1" dirty="0" err="1">
                <a:solidFill>
                  <a:srgbClr val="FFFFFF"/>
                </a:solidFill>
                <a:latin typeface="Calibri" pitchFamily="34" charset="0"/>
                <a:ea typeface="Calibri" pitchFamily="34" charset="-122"/>
                <a:cs typeface="Calibri" pitchFamily="34" charset="-120"/>
              </a:rPr>
              <a:t>Propósito</a:t>
            </a:r>
            <a:r>
              <a:rPr lang="en-US" sz="1200" b="1" dirty="0">
                <a:solidFill>
                  <a:srgbClr val="FFFFFF"/>
                </a:solidFill>
                <a:latin typeface="Calibri" pitchFamily="34" charset="0"/>
                <a:ea typeface="Calibri" pitchFamily="34" charset="-122"/>
                <a:cs typeface="Calibri" pitchFamily="34" charset="-120"/>
              </a:rPr>
              <a:t> de la Evaluación</a:t>
            </a:r>
            <a:endParaRPr lang="en-US" sz="1200" dirty="0"/>
          </a:p>
        </p:txBody>
      </p:sp>
      <p:sp>
        <p:nvSpPr>
          <p:cNvPr id="8" name="Text 6"/>
          <p:cNvSpPr/>
          <p:nvPr/>
        </p:nvSpPr>
        <p:spPr>
          <a:xfrm>
            <a:off x="365760" y="1280160"/>
            <a:ext cx="3977640" cy="1417320"/>
          </a:xfrm>
          <a:prstGeom prst="rect">
            <a:avLst/>
          </a:prstGeom>
          <a:noFill/>
          <a:ln/>
        </p:spPr>
        <p:txBody>
          <a:bodyPr wrap="square" lIns="0" tIns="0" rIns="0" bIns="0" rtlCol="0" anchor="ctr"/>
          <a:lstStyle/>
          <a:p>
            <a:pPr marL="0" indent="0" algn="just">
              <a:buNone/>
            </a:pPr>
            <a:r>
              <a:rPr lang="en-US" sz="900" dirty="0">
                <a:solidFill>
                  <a:srgbClr val="333333"/>
                </a:solidFill>
                <a:latin typeface="Calibri" pitchFamily="34" charset="0"/>
                <a:ea typeface="Calibri" pitchFamily="34" charset="-122"/>
                <a:cs typeface="Calibri" pitchFamily="34" charset="-120"/>
              </a:rPr>
              <a:t>Determinar el grado de cumplimiento, eficiencia y coherencia entre la planificación y la ejecución efectiva durante el año del plan.</a:t>
            </a:r>
            <a:endParaRPr lang="en-US" sz="900" dirty="0"/>
          </a:p>
          <a:p>
            <a:pPr marL="0" indent="0" algn="just">
              <a:buNone/>
            </a:pPr>
            <a:endParaRPr lang="en-US" sz="900" dirty="0"/>
          </a:p>
          <a:p>
            <a:pPr marL="0" indent="0" algn="just">
              <a:buNone/>
            </a:pPr>
            <a:r>
              <a:rPr lang="en-US" sz="900" dirty="0">
                <a:solidFill>
                  <a:srgbClr val="333333"/>
                </a:solidFill>
                <a:latin typeface="Calibri" pitchFamily="34" charset="0"/>
                <a:ea typeface="Calibri" pitchFamily="34" charset="-122"/>
                <a:cs typeface="Calibri" pitchFamily="34" charset="-120"/>
              </a:rPr>
              <a:t>Permite mejorar la calidad de la planificación, fomentar la competencia, fortalecer la transparencia y promover la mejora continua en la gestión de compras públicas.</a:t>
            </a:r>
            <a:endParaRPr lang="en-US" sz="900" dirty="0"/>
          </a:p>
        </p:txBody>
      </p:sp>
      <p:sp>
        <p:nvSpPr>
          <p:cNvPr id="9" name="Shape 7"/>
          <p:cNvSpPr/>
          <p:nvPr/>
        </p:nvSpPr>
        <p:spPr>
          <a:xfrm>
            <a:off x="4681728" y="877824"/>
            <a:ext cx="4206240" cy="187452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10" name="Shape 8"/>
          <p:cNvSpPr/>
          <p:nvPr/>
        </p:nvSpPr>
        <p:spPr>
          <a:xfrm>
            <a:off x="4681728" y="877824"/>
            <a:ext cx="4206240" cy="347472"/>
          </a:xfrm>
          <a:prstGeom prst="rect">
            <a:avLst/>
          </a:prstGeom>
          <a:solidFill>
            <a:srgbClr val="004B8D"/>
          </a:solidFill>
          <a:ln w="12700">
            <a:solidFill>
              <a:srgbClr val="004B8D"/>
            </a:solidFill>
            <a:prstDash val="solid"/>
          </a:ln>
        </p:spPr>
      </p:sp>
      <p:sp>
        <p:nvSpPr>
          <p:cNvPr id="11" name="Text 9"/>
          <p:cNvSpPr/>
          <p:nvPr/>
        </p:nvSpPr>
        <p:spPr>
          <a:xfrm>
            <a:off x="4791456" y="896112"/>
            <a:ext cx="393192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2. </a:t>
            </a:r>
            <a:r>
              <a:rPr lang="en-US" sz="1200" b="1" dirty="0" err="1">
                <a:solidFill>
                  <a:srgbClr val="FFFFFF"/>
                </a:solidFill>
                <a:latin typeface="Calibri" pitchFamily="34" charset="0"/>
                <a:ea typeface="Calibri" pitchFamily="34" charset="-122"/>
                <a:cs typeface="Calibri" pitchFamily="34" charset="-120"/>
              </a:rPr>
              <a:t>Enfoque</a:t>
            </a:r>
            <a:r>
              <a:rPr lang="en-US" sz="1200" b="1" dirty="0">
                <a:solidFill>
                  <a:srgbClr val="FFFFFF"/>
                </a:solidFill>
                <a:latin typeface="Calibri" pitchFamily="34" charset="0"/>
                <a:ea typeface="Calibri" pitchFamily="34" charset="-122"/>
                <a:cs typeface="Calibri" pitchFamily="34" charset="-120"/>
              </a:rPr>
              <a:t> Metodológico</a:t>
            </a:r>
            <a:endParaRPr lang="en-US" sz="1200" dirty="0"/>
          </a:p>
        </p:txBody>
      </p:sp>
      <p:sp>
        <p:nvSpPr>
          <p:cNvPr id="12" name="Text 10"/>
          <p:cNvSpPr/>
          <p:nvPr/>
        </p:nvSpPr>
        <p:spPr>
          <a:xfrm>
            <a:off x="4791456" y="1280160"/>
            <a:ext cx="3977640" cy="1417320"/>
          </a:xfrm>
          <a:prstGeom prst="rect">
            <a:avLst/>
          </a:prstGeom>
          <a:noFill/>
          <a:ln/>
        </p:spPr>
        <p:txBody>
          <a:bodyPr wrap="square" lIns="0" tIns="0" rIns="0" bIns="0" rtlCol="0" anchor="ctr"/>
          <a:lstStyle/>
          <a:p>
            <a:pPr marL="0" indent="0" algn="just">
              <a:buNone/>
            </a:pPr>
            <a:r>
              <a:rPr lang="en-US" sz="900" dirty="0">
                <a:solidFill>
                  <a:srgbClr val="333333"/>
                </a:solidFill>
                <a:latin typeface="Calibri" pitchFamily="34" charset="0"/>
                <a:ea typeface="Calibri" pitchFamily="34" charset="-122"/>
                <a:cs typeface="Calibri" pitchFamily="34" charset="-120"/>
              </a:rPr>
              <a:t>Combina evaluación cuantitativa y cualitativa, integrando fuentes administrativas del sistema de compras públicas con la autoevaluación institucional.</a:t>
            </a:r>
            <a:endParaRPr lang="en-US" sz="900" dirty="0"/>
          </a:p>
          <a:p>
            <a:pPr marL="0" indent="0" algn="just">
              <a:buNone/>
            </a:pPr>
            <a:endParaRPr lang="en-US" sz="900" dirty="0"/>
          </a:p>
          <a:p>
            <a:pPr marL="0" indent="0" algn="just">
              <a:buNone/>
            </a:pPr>
            <a:r>
              <a:rPr lang="en-US" sz="900" dirty="0">
                <a:solidFill>
                  <a:srgbClr val="333333"/>
                </a:solidFill>
                <a:latin typeface="Calibri" pitchFamily="34" charset="0"/>
                <a:ea typeface="Calibri" pitchFamily="34" charset="-122"/>
                <a:cs typeface="Calibri" pitchFamily="34" charset="-120"/>
              </a:rPr>
              <a:t>Se organiza en 5 dimensiones de análisis con indicadores e instrumentos definidos, calculados a partir del Registro PAC, Transacciones Mercado Público, Módulo de Contratos y Consultas al Mercado (RFI).</a:t>
            </a:r>
            <a:endParaRPr lang="en-US" sz="900" dirty="0"/>
          </a:p>
        </p:txBody>
      </p:sp>
      <p:sp>
        <p:nvSpPr>
          <p:cNvPr id="13" name="Shape 11"/>
          <p:cNvSpPr/>
          <p:nvPr/>
        </p:nvSpPr>
        <p:spPr>
          <a:xfrm>
            <a:off x="256032" y="2852928"/>
            <a:ext cx="2697480" cy="205740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14" name="Shape 12"/>
          <p:cNvSpPr/>
          <p:nvPr/>
        </p:nvSpPr>
        <p:spPr>
          <a:xfrm>
            <a:off x="256032" y="2852928"/>
            <a:ext cx="2697480" cy="347472"/>
          </a:xfrm>
          <a:prstGeom prst="rect">
            <a:avLst/>
          </a:prstGeom>
          <a:solidFill>
            <a:srgbClr val="005A9E"/>
          </a:solidFill>
          <a:ln w="12700">
            <a:solidFill>
              <a:srgbClr val="005A9E"/>
            </a:solidFill>
            <a:prstDash val="solid"/>
          </a:ln>
        </p:spPr>
      </p:sp>
      <p:sp>
        <p:nvSpPr>
          <p:cNvPr id="15" name="Text 13"/>
          <p:cNvSpPr/>
          <p:nvPr/>
        </p:nvSpPr>
        <p:spPr>
          <a:xfrm>
            <a:off x="365760" y="2871216"/>
            <a:ext cx="246888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3. </a:t>
            </a:r>
            <a:r>
              <a:rPr lang="en-US" sz="1100" b="1" dirty="0" err="1">
                <a:solidFill>
                  <a:srgbClr val="FFFFFF"/>
                </a:solidFill>
                <a:latin typeface="Calibri" pitchFamily="34" charset="0"/>
                <a:ea typeface="Calibri" pitchFamily="34" charset="-122"/>
                <a:cs typeface="Calibri" pitchFamily="34" charset="-120"/>
              </a:rPr>
              <a:t>Evaluación</a:t>
            </a:r>
            <a:r>
              <a:rPr lang="en-US" sz="1100" b="1" dirty="0">
                <a:solidFill>
                  <a:srgbClr val="FFFFFF"/>
                </a:solidFill>
                <a:latin typeface="Calibri" pitchFamily="34" charset="0"/>
                <a:ea typeface="Calibri" pitchFamily="34" charset="-122"/>
                <a:cs typeface="Calibri" pitchFamily="34" charset="-120"/>
              </a:rPr>
              <a:t> Cuantitativa</a:t>
            </a:r>
            <a:endParaRPr lang="en-US" sz="1100" dirty="0"/>
          </a:p>
        </p:txBody>
      </p:sp>
      <p:sp>
        <p:nvSpPr>
          <p:cNvPr id="16" name="Text 14"/>
          <p:cNvSpPr/>
          <p:nvPr/>
        </p:nvSpPr>
        <p:spPr>
          <a:xfrm>
            <a:off x="365760" y="3246120"/>
            <a:ext cx="2487168" cy="1572768"/>
          </a:xfrm>
          <a:prstGeom prst="rect">
            <a:avLst/>
          </a:prstGeom>
          <a:noFill/>
          <a:ln/>
        </p:spPr>
        <p:txBody>
          <a:bodyPr wrap="square" lIns="0" tIns="0" rIns="0" bIns="0" rtlCol="0" anchor="ctr"/>
          <a:lstStyle/>
          <a:p>
            <a:pPr marL="0" indent="0" algn="just">
              <a:buNone/>
            </a:pPr>
            <a:r>
              <a:rPr lang="en-US" sz="850" dirty="0">
                <a:solidFill>
                  <a:srgbClr val="333333"/>
                </a:solidFill>
                <a:latin typeface="Calibri" pitchFamily="34" charset="0"/>
                <a:ea typeface="Calibri" pitchFamily="34" charset="-122"/>
                <a:cs typeface="Calibri" pitchFamily="34" charset="-120"/>
              </a:rPr>
              <a:t>6 indicadores calculados automáticamente desde las plataformas de ChileCompra.</a:t>
            </a:r>
            <a:endParaRPr lang="en-US" sz="850" dirty="0"/>
          </a:p>
          <a:p>
            <a:pPr marL="0" indent="0" algn="just">
              <a:buNone/>
            </a:pPr>
            <a:endParaRPr lang="en-US" sz="850" dirty="0"/>
          </a:p>
          <a:p>
            <a:pPr marL="0" indent="0" algn="just">
              <a:buNone/>
            </a:pPr>
            <a:r>
              <a:rPr lang="en-US" sz="850" dirty="0">
                <a:solidFill>
                  <a:srgbClr val="333333"/>
                </a:solidFill>
                <a:latin typeface="Calibri" pitchFamily="34" charset="0"/>
                <a:ea typeface="Calibri" pitchFamily="34" charset="-122"/>
                <a:cs typeface="Calibri" pitchFamily="34" charset="-120"/>
              </a:rPr>
              <a:t>Ponderados según dimensión: la mayor ponderación recae en Planificación y Coherencia del PAC (50%).</a:t>
            </a:r>
            <a:endParaRPr lang="en-US" sz="850" dirty="0"/>
          </a:p>
        </p:txBody>
      </p:sp>
      <p:sp>
        <p:nvSpPr>
          <p:cNvPr id="17" name="Shape 15"/>
          <p:cNvSpPr/>
          <p:nvPr/>
        </p:nvSpPr>
        <p:spPr>
          <a:xfrm>
            <a:off x="3172968" y="2852928"/>
            <a:ext cx="2697480" cy="205740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18" name="Shape 16"/>
          <p:cNvSpPr/>
          <p:nvPr/>
        </p:nvSpPr>
        <p:spPr>
          <a:xfrm>
            <a:off x="3172968" y="2852928"/>
            <a:ext cx="2697480" cy="347472"/>
          </a:xfrm>
          <a:prstGeom prst="rect">
            <a:avLst/>
          </a:prstGeom>
          <a:solidFill>
            <a:srgbClr val="005A9E"/>
          </a:solidFill>
          <a:ln w="12700">
            <a:solidFill>
              <a:srgbClr val="005A9E"/>
            </a:solidFill>
            <a:prstDash val="solid"/>
          </a:ln>
        </p:spPr>
      </p:sp>
      <p:sp>
        <p:nvSpPr>
          <p:cNvPr id="19" name="Text 17"/>
          <p:cNvSpPr/>
          <p:nvPr/>
        </p:nvSpPr>
        <p:spPr>
          <a:xfrm>
            <a:off x="3282696" y="2871216"/>
            <a:ext cx="246888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4. </a:t>
            </a:r>
            <a:r>
              <a:rPr lang="en-US" sz="1100" b="1" dirty="0" err="1">
                <a:solidFill>
                  <a:srgbClr val="FFFFFF"/>
                </a:solidFill>
                <a:latin typeface="Calibri" pitchFamily="34" charset="0"/>
                <a:ea typeface="Calibri" pitchFamily="34" charset="-122"/>
                <a:cs typeface="Calibri" pitchFamily="34" charset="-120"/>
              </a:rPr>
              <a:t>Evaluación</a:t>
            </a:r>
            <a:r>
              <a:rPr lang="en-US" sz="1100" b="1" dirty="0">
                <a:solidFill>
                  <a:srgbClr val="FFFFFF"/>
                </a:solidFill>
                <a:latin typeface="Calibri" pitchFamily="34" charset="0"/>
                <a:ea typeface="Calibri" pitchFamily="34" charset="-122"/>
                <a:cs typeface="Calibri" pitchFamily="34" charset="-120"/>
              </a:rPr>
              <a:t> Cualitativa</a:t>
            </a:r>
            <a:endParaRPr lang="en-US" sz="1100" dirty="0"/>
          </a:p>
        </p:txBody>
      </p:sp>
      <p:sp>
        <p:nvSpPr>
          <p:cNvPr id="20" name="Text 18"/>
          <p:cNvSpPr/>
          <p:nvPr/>
        </p:nvSpPr>
        <p:spPr>
          <a:xfrm>
            <a:off x="3282696" y="3246120"/>
            <a:ext cx="2487168" cy="1572768"/>
          </a:xfrm>
          <a:prstGeom prst="rect">
            <a:avLst/>
          </a:prstGeom>
          <a:noFill/>
          <a:ln/>
        </p:spPr>
        <p:txBody>
          <a:bodyPr wrap="square" lIns="0" tIns="0" rIns="0" bIns="0" rtlCol="0" anchor="ctr"/>
          <a:lstStyle/>
          <a:p>
            <a:pPr marL="0" indent="0" algn="just">
              <a:buNone/>
            </a:pPr>
            <a:r>
              <a:rPr lang="en-US" sz="850" dirty="0">
                <a:solidFill>
                  <a:srgbClr val="333333"/>
                </a:solidFill>
                <a:latin typeface="Calibri" pitchFamily="34" charset="0"/>
                <a:ea typeface="Calibri" pitchFamily="34" charset="-122"/>
                <a:cs typeface="Calibri" pitchFamily="34" charset="-120"/>
              </a:rPr>
              <a:t>Autoevaluación mediante escala Likert (1 a 5) por dimensión, con preguntas abiertas sobre logros y acciones de mejora.</a:t>
            </a:r>
            <a:endParaRPr lang="en-US" sz="850" dirty="0"/>
          </a:p>
          <a:p>
            <a:pPr marL="0" indent="0" algn="just">
              <a:buNone/>
            </a:pPr>
            <a:endParaRPr lang="en-US" sz="850" dirty="0"/>
          </a:p>
          <a:p>
            <a:pPr marL="0" indent="0" algn="just">
              <a:buNone/>
            </a:pPr>
            <a:r>
              <a:rPr lang="en-US" sz="850" dirty="0">
                <a:solidFill>
                  <a:srgbClr val="333333"/>
                </a:solidFill>
                <a:latin typeface="Calibri" pitchFamily="34" charset="0"/>
                <a:ea typeface="Calibri" pitchFamily="34" charset="-122"/>
                <a:cs typeface="Calibri" pitchFamily="34" charset="-120"/>
              </a:rPr>
              <a:t>Tiene carácter diagnóstico: no afecta el puntaje ponderado final, pero orienta la mejora continua.</a:t>
            </a:r>
            <a:endParaRPr lang="en-US" sz="850" dirty="0"/>
          </a:p>
        </p:txBody>
      </p:sp>
      <p:sp>
        <p:nvSpPr>
          <p:cNvPr id="21" name="Shape 19"/>
          <p:cNvSpPr/>
          <p:nvPr/>
        </p:nvSpPr>
        <p:spPr>
          <a:xfrm>
            <a:off x="6089904" y="2852928"/>
            <a:ext cx="2798064" cy="205740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22" name="Shape 20"/>
          <p:cNvSpPr/>
          <p:nvPr/>
        </p:nvSpPr>
        <p:spPr>
          <a:xfrm>
            <a:off x="6089904" y="2852928"/>
            <a:ext cx="2798064" cy="347472"/>
          </a:xfrm>
          <a:prstGeom prst="rect">
            <a:avLst/>
          </a:prstGeom>
          <a:solidFill>
            <a:srgbClr val="4DAADF"/>
          </a:solidFill>
          <a:ln w="12700">
            <a:solidFill>
              <a:srgbClr val="4DAADF"/>
            </a:solidFill>
            <a:prstDash val="solid"/>
          </a:ln>
        </p:spPr>
      </p:sp>
      <p:sp>
        <p:nvSpPr>
          <p:cNvPr id="23" name="Text 21"/>
          <p:cNvSpPr/>
          <p:nvPr/>
        </p:nvSpPr>
        <p:spPr>
          <a:xfrm>
            <a:off x="6199632" y="2871216"/>
            <a:ext cx="2578608" cy="27432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5. </a:t>
            </a:r>
            <a:r>
              <a:rPr lang="en-US" sz="1000" b="1" dirty="0" err="1">
                <a:solidFill>
                  <a:srgbClr val="FFFFFF"/>
                </a:solidFill>
                <a:latin typeface="Calibri" pitchFamily="34" charset="0"/>
                <a:ea typeface="Calibri" pitchFamily="34" charset="-122"/>
                <a:cs typeface="Calibri" pitchFamily="34" charset="-120"/>
              </a:rPr>
              <a:t>Periodicidad</a:t>
            </a:r>
            <a:r>
              <a:rPr lang="en-US" sz="1000" b="1" dirty="0">
                <a:solidFill>
                  <a:srgbClr val="FFFFFF"/>
                </a:solidFill>
                <a:latin typeface="Calibri" pitchFamily="34" charset="0"/>
                <a:ea typeface="Calibri" pitchFamily="34" charset="-122"/>
                <a:cs typeface="Calibri" pitchFamily="34" charset="-120"/>
              </a:rPr>
              <a:t> y Responsabilidad</a:t>
            </a:r>
            <a:endParaRPr lang="en-US" sz="1000" dirty="0"/>
          </a:p>
        </p:txBody>
      </p:sp>
      <p:sp>
        <p:nvSpPr>
          <p:cNvPr id="24" name="Text 22"/>
          <p:cNvSpPr/>
          <p:nvPr/>
        </p:nvSpPr>
        <p:spPr>
          <a:xfrm>
            <a:off x="6199632" y="3246120"/>
            <a:ext cx="2578608" cy="1572768"/>
          </a:xfrm>
          <a:prstGeom prst="rect">
            <a:avLst/>
          </a:prstGeom>
          <a:noFill/>
          <a:ln/>
        </p:spPr>
        <p:txBody>
          <a:bodyPr wrap="square" lIns="0" tIns="0" rIns="0" bIns="0" rtlCol="0" anchor="ctr"/>
          <a:lstStyle/>
          <a:p>
            <a:pPr marL="0" indent="0" algn="just">
              <a:buNone/>
            </a:pPr>
            <a:r>
              <a:rPr lang="en-US" sz="850" dirty="0">
                <a:solidFill>
                  <a:srgbClr val="333333"/>
                </a:solidFill>
                <a:latin typeface="Calibri" pitchFamily="34" charset="0"/>
                <a:ea typeface="Calibri" pitchFamily="34" charset="-122"/>
                <a:cs typeface="Calibri" pitchFamily="34" charset="-120"/>
              </a:rPr>
              <a:t>Evaluación de carácter anual, con datos administrativos al 31 de diciembre de cada año.</a:t>
            </a:r>
            <a:endParaRPr lang="en-US" sz="850" dirty="0"/>
          </a:p>
          <a:p>
            <a:pPr marL="0" indent="0" algn="just">
              <a:buNone/>
            </a:pPr>
            <a:endParaRPr lang="en-US" sz="850" dirty="0"/>
          </a:p>
          <a:p>
            <a:pPr marL="0" indent="0" algn="just">
              <a:buNone/>
            </a:pPr>
            <a:r>
              <a:rPr lang="en-US" sz="850" dirty="0">
                <a:solidFill>
                  <a:srgbClr val="333333"/>
                </a:solidFill>
                <a:latin typeface="Calibri" pitchFamily="34" charset="0"/>
                <a:ea typeface="Calibri" pitchFamily="34" charset="-122"/>
                <a:cs typeface="Calibri" pitchFamily="34" charset="-120"/>
              </a:rPr>
              <a:t>El período para evaluar indicadores y registrar resultados es de 4 meses desde el cierre del año.</a:t>
            </a:r>
            <a:endParaRPr lang="en-US" sz="850" dirty="0"/>
          </a:p>
          <a:p>
            <a:pPr marL="0" indent="0" algn="just">
              <a:buNone/>
            </a:pPr>
            <a:endParaRPr lang="en-US" sz="850" dirty="0"/>
          </a:p>
          <a:p>
            <a:pPr marL="0" indent="0" algn="just">
              <a:buNone/>
            </a:pPr>
            <a:r>
              <a:rPr lang="en-US" sz="850" dirty="0">
                <a:solidFill>
                  <a:srgbClr val="333333"/>
                </a:solidFill>
                <a:latin typeface="Calibri" pitchFamily="34" charset="0"/>
                <a:ea typeface="Calibri" pitchFamily="34" charset="-122"/>
                <a:cs typeface="Calibri" pitchFamily="34" charset="-120"/>
              </a:rPr>
              <a:t>ChileCompra consolida y publica los resultados en Mercado Público.</a:t>
            </a:r>
            <a:endParaRPr lang="en-US" sz="850" dirty="0"/>
          </a:p>
        </p:txBody>
      </p:sp>
      <p:sp>
        <p:nvSpPr>
          <p:cNvPr id="25" name="Shape 23"/>
          <p:cNvSpPr/>
          <p:nvPr/>
        </p:nvSpPr>
        <p:spPr>
          <a:xfrm>
            <a:off x="0" y="5070348"/>
            <a:ext cx="9144000" cy="73152"/>
          </a:xfrm>
          <a:prstGeom prst="rect">
            <a:avLst/>
          </a:prstGeom>
          <a:solidFill>
            <a:srgbClr val="00234E"/>
          </a:solidFill>
          <a:ln w="12700">
            <a:solidFill>
              <a:srgbClr val="00234E"/>
            </a:solidFill>
            <a:prstDash val="solid"/>
          </a:ln>
        </p:spPr>
      </p:sp>
      <p:sp>
        <p:nvSpPr>
          <p:cNvPr id="26" name="Text 24"/>
          <p:cNvSpPr/>
          <p:nvPr/>
        </p:nvSpPr>
        <p:spPr>
          <a:xfrm>
            <a:off x="274320" y="4919472"/>
            <a:ext cx="8595360" cy="164592"/>
          </a:xfrm>
          <a:prstGeom prst="rect">
            <a:avLst/>
          </a:prstGeom>
          <a:noFill/>
          <a:ln/>
        </p:spPr>
        <p:txBody>
          <a:bodyPr wrap="square" lIns="0" tIns="0" rIns="0" bIns="0" rtlCol="0" anchor="ctr"/>
          <a:lstStyle/>
          <a:p>
            <a:pPr marL="0" indent="0" algn="r">
              <a:buNone/>
            </a:pPr>
            <a:r>
              <a:rPr lang="en-US" sz="800" dirty="0">
                <a:solidFill>
                  <a:srgbClr val="AAAAAA"/>
                </a:solidFill>
                <a:latin typeface="Calibri" pitchFamily="34" charset="0"/>
                <a:ea typeface="Calibri" pitchFamily="34" charset="-122"/>
                <a:cs typeface="Calibri" pitchFamily="34" charset="-120"/>
              </a:rPr>
              <a:t>Subdepartamento de Abastecimiento — Servicio de Salud Osorno</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5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234E"/>
          </a:solidFill>
          <a:ln w="12700">
            <a:solidFill>
              <a:srgbClr val="00234E"/>
            </a:solidFill>
            <a:prstDash val="solid"/>
          </a:ln>
        </p:spPr>
      </p:sp>
      <p:sp>
        <p:nvSpPr>
          <p:cNvPr id="3" name="Text 1"/>
          <p:cNvSpPr/>
          <p:nvPr/>
        </p:nvSpPr>
        <p:spPr>
          <a:xfrm>
            <a:off x="457200" y="137160"/>
            <a:ext cx="8229600" cy="411480"/>
          </a:xfrm>
          <a:prstGeom prst="rect">
            <a:avLst/>
          </a:prstGeom>
          <a:noFill/>
          <a:ln/>
        </p:spPr>
        <p:txBody>
          <a:bodyPr wrap="square" lIns="0" tIns="0" rIns="0" bIns="0" rtlCol="0" anchor="ctr"/>
          <a:lstStyle/>
          <a:p>
            <a:pPr marL="0" indent="0" algn="l">
              <a:buNone/>
            </a:pPr>
            <a:r>
              <a:rPr lang="en-US" sz="2000" b="1" dirty="0">
                <a:solidFill>
                  <a:srgbClr val="00234E"/>
                </a:solidFill>
                <a:latin typeface="Calibri" pitchFamily="34" charset="0"/>
                <a:ea typeface="Calibri" pitchFamily="34" charset="-122"/>
                <a:cs typeface="Calibri" pitchFamily="34" charset="-120"/>
              </a:rPr>
              <a:t>Indicadores y Fórmulas de Cálculo — Parte 1 de 2</a:t>
            </a:r>
            <a:endParaRPr lang="en-US" sz="2000" dirty="0"/>
          </a:p>
        </p:txBody>
      </p:sp>
      <p:sp>
        <p:nvSpPr>
          <p:cNvPr id="4" name="Text 2"/>
          <p:cNvSpPr/>
          <p:nvPr/>
        </p:nvSpPr>
        <p:spPr>
          <a:xfrm>
            <a:off x="457200" y="530352"/>
            <a:ext cx="8229600" cy="228600"/>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Res. Exenta N°188/2026 — Indicadores cuantitativos con ponderación</a:t>
            </a:r>
            <a:endParaRPr lang="en-US" sz="1000" dirty="0"/>
          </a:p>
        </p:txBody>
      </p:sp>
      <p:sp>
        <p:nvSpPr>
          <p:cNvPr id="5" name="Shape 3"/>
          <p:cNvSpPr/>
          <p:nvPr/>
        </p:nvSpPr>
        <p:spPr>
          <a:xfrm>
            <a:off x="256032" y="804672"/>
            <a:ext cx="1993392" cy="292608"/>
          </a:xfrm>
          <a:prstGeom prst="rect">
            <a:avLst/>
          </a:prstGeom>
          <a:solidFill>
            <a:srgbClr val="00234E"/>
          </a:solidFill>
          <a:ln w="12700">
            <a:solidFill>
              <a:srgbClr val="00234E"/>
            </a:solidFill>
            <a:prstDash val="solid"/>
          </a:ln>
        </p:spPr>
      </p:sp>
      <p:sp>
        <p:nvSpPr>
          <p:cNvPr id="6" name="Text 4"/>
          <p:cNvSpPr/>
          <p:nvPr/>
        </p:nvSpPr>
        <p:spPr>
          <a:xfrm>
            <a:off x="301752" y="804672"/>
            <a:ext cx="1901952" cy="292608"/>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Dimensión</a:t>
            </a:r>
            <a:endParaRPr lang="en-US" sz="900" dirty="0"/>
          </a:p>
        </p:txBody>
      </p:sp>
      <p:sp>
        <p:nvSpPr>
          <p:cNvPr id="7" name="Shape 5"/>
          <p:cNvSpPr/>
          <p:nvPr/>
        </p:nvSpPr>
        <p:spPr>
          <a:xfrm>
            <a:off x="2286000" y="804672"/>
            <a:ext cx="2523744" cy="292608"/>
          </a:xfrm>
          <a:prstGeom prst="rect">
            <a:avLst/>
          </a:prstGeom>
          <a:solidFill>
            <a:srgbClr val="00234E"/>
          </a:solidFill>
          <a:ln w="12700">
            <a:solidFill>
              <a:srgbClr val="00234E"/>
            </a:solidFill>
            <a:prstDash val="solid"/>
          </a:ln>
        </p:spPr>
      </p:sp>
      <p:sp>
        <p:nvSpPr>
          <p:cNvPr id="8" name="Text 6"/>
          <p:cNvSpPr/>
          <p:nvPr/>
        </p:nvSpPr>
        <p:spPr>
          <a:xfrm>
            <a:off x="2331720" y="804672"/>
            <a:ext cx="2432304" cy="292608"/>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Indicador</a:t>
            </a:r>
            <a:endParaRPr lang="en-US" sz="900" dirty="0"/>
          </a:p>
        </p:txBody>
      </p:sp>
      <p:sp>
        <p:nvSpPr>
          <p:cNvPr id="9" name="Shape 7"/>
          <p:cNvSpPr/>
          <p:nvPr/>
        </p:nvSpPr>
        <p:spPr>
          <a:xfrm>
            <a:off x="4846320" y="804672"/>
            <a:ext cx="2066544" cy="292608"/>
          </a:xfrm>
          <a:prstGeom prst="rect">
            <a:avLst/>
          </a:prstGeom>
          <a:solidFill>
            <a:srgbClr val="00234E"/>
          </a:solidFill>
          <a:ln w="12700">
            <a:solidFill>
              <a:srgbClr val="00234E"/>
            </a:solidFill>
            <a:prstDash val="solid"/>
          </a:ln>
        </p:spPr>
      </p:sp>
      <p:sp>
        <p:nvSpPr>
          <p:cNvPr id="10" name="Text 8"/>
          <p:cNvSpPr/>
          <p:nvPr/>
        </p:nvSpPr>
        <p:spPr>
          <a:xfrm>
            <a:off x="4892040" y="804672"/>
            <a:ext cx="1975104" cy="292608"/>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Fórmula de Cálculo</a:t>
            </a:r>
            <a:endParaRPr lang="en-US" sz="900" dirty="0"/>
          </a:p>
        </p:txBody>
      </p:sp>
      <p:sp>
        <p:nvSpPr>
          <p:cNvPr id="11" name="Shape 9"/>
          <p:cNvSpPr/>
          <p:nvPr/>
        </p:nvSpPr>
        <p:spPr>
          <a:xfrm>
            <a:off x="6949440" y="804672"/>
            <a:ext cx="1938528" cy="292608"/>
          </a:xfrm>
          <a:prstGeom prst="rect">
            <a:avLst/>
          </a:prstGeom>
          <a:solidFill>
            <a:srgbClr val="00234E"/>
          </a:solidFill>
          <a:ln w="12700">
            <a:solidFill>
              <a:srgbClr val="00234E"/>
            </a:solidFill>
            <a:prstDash val="solid"/>
          </a:ln>
        </p:spPr>
      </p:sp>
      <p:sp>
        <p:nvSpPr>
          <p:cNvPr id="12" name="Text 10"/>
          <p:cNvSpPr/>
          <p:nvPr/>
        </p:nvSpPr>
        <p:spPr>
          <a:xfrm>
            <a:off x="6995160" y="804672"/>
            <a:ext cx="1847088" cy="292608"/>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Objetivo</a:t>
            </a:r>
            <a:endParaRPr lang="en-US" sz="900" dirty="0"/>
          </a:p>
        </p:txBody>
      </p:sp>
      <p:sp>
        <p:nvSpPr>
          <p:cNvPr id="13" name="Shape 11"/>
          <p:cNvSpPr/>
          <p:nvPr/>
        </p:nvSpPr>
        <p:spPr>
          <a:xfrm>
            <a:off x="256032" y="1143000"/>
            <a:ext cx="1993392" cy="914400"/>
          </a:xfrm>
          <a:prstGeom prst="rect">
            <a:avLst/>
          </a:prstGeom>
          <a:solidFill>
            <a:srgbClr val="FFFFFF"/>
          </a:solidFill>
          <a:ln w="6350">
            <a:solidFill>
              <a:srgbClr val="E2E8F0"/>
            </a:solidFill>
            <a:prstDash val="solid"/>
          </a:ln>
        </p:spPr>
      </p:sp>
      <p:sp>
        <p:nvSpPr>
          <p:cNvPr id="14" name="Shape 12"/>
          <p:cNvSpPr/>
          <p:nvPr/>
        </p:nvSpPr>
        <p:spPr>
          <a:xfrm>
            <a:off x="256032" y="1143000"/>
            <a:ext cx="73152" cy="914400"/>
          </a:xfrm>
          <a:prstGeom prst="rect">
            <a:avLst/>
          </a:prstGeom>
          <a:solidFill>
            <a:srgbClr val="00234E"/>
          </a:solidFill>
          <a:ln w="12700">
            <a:solidFill>
              <a:srgbClr val="00234E"/>
            </a:solidFill>
            <a:prstDash val="solid"/>
          </a:ln>
        </p:spPr>
      </p:sp>
      <p:sp>
        <p:nvSpPr>
          <p:cNvPr id="15" name="Text 13"/>
          <p:cNvSpPr/>
          <p:nvPr/>
        </p:nvSpPr>
        <p:spPr>
          <a:xfrm>
            <a:off x="365760" y="1188720"/>
            <a:ext cx="1837944" cy="822960"/>
          </a:xfrm>
          <a:prstGeom prst="rect">
            <a:avLst/>
          </a:prstGeom>
          <a:noFill/>
          <a:ln/>
        </p:spPr>
        <p:txBody>
          <a:bodyPr wrap="square" lIns="0" tIns="0" rIns="0" bIns="0" rtlCol="0" anchor="ctr"/>
          <a:lstStyle/>
          <a:p>
            <a:pPr marL="0" indent="0">
              <a:buNone/>
            </a:pPr>
            <a:r>
              <a:rPr lang="en-US" sz="800" b="1" dirty="0">
                <a:solidFill>
                  <a:srgbClr val="00234E"/>
                </a:solidFill>
                <a:latin typeface="Calibri" pitchFamily="34" charset="0"/>
                <a:ea typeface="Calibri" pitchFamily="34" charset="-122"/>
                <a:cs typeface="Calibri" pitchFamily="34" charset="-120"/>
              </a:rPr>
              <a:t>Planificación y Coherencia del PAC</a:t>
            </a:r>
            <a:endParaRPr lang="en-US" sz="800" dirty="0"/>
          </a:p>
          <a:p>
            <a:pPr marL="0" indent="0">
              <a:buNone/>
            </a:pPr>
            <a:r>
              <a:rPr lang="en-US" sz="800" b="1" dirty="0">
                <a:solidFill>
                  <a:srgbClr val="00234E"/>
                </a:solidFill>
                <a:latin typeface="Calibri" pitchFamily="34" charset="0"/>
                <a:ea typeface="Calibri" pitchFamily="34" charset="-122"/>
                <a:cs typeface="Calibri" pitchFamily="34" charset="-120"/>
              </a:rPr>
              <a:t>(50%)</a:t>
            </a:r>
            <a:endParaRPr lang="en-US" sz="800" dirty="0"/>
          </a:p>
        </p:txBody>
      </p:sp>
      <p:sp>
        <p:nvSpPr>
          <p:cNvPr id="16" name="Shape 14"/>
          <p:cNvSpPr/>
          <p:nvPr/>
        </p:nvSpPr>
        <p:spPr>
          <a:xfrm>
            <a:off x="2286000" y="1143000"/>
            <a:ext cx="2523744" cy="914400"/>
          </a:xfrm>
          <a:prstGeom prst="rect">
            <a:avLst/>
          </a:prstGeom>
          <a:solidFill>
            <a:srgbClr val="FFFFFF"/>
          </a:solidFill>
          <a:ln w="6350">
            <a:solidFill>
              <a:srgbClr val="E2E8F0"/>
            </a:solidFill>
            <a:prstDash val="solid"/>
          </a:ln>
        </p:spPr>
      </p:sp>
      <p:sp>
        <p:nvSpPr>
          <p:cNvPr id="17" name="Text 15"/>
          <p:cNvSpPr/>
          <p:nvPr/>
        </p:nvSpPr>
        <p:spPr>
          <a:xfrm>
            <a:off x="2359152" y="1188720"/>
            <a:ext cx="2377440" cy="822960"/>
          </a:xfrm>
          <a:prstGeom prst="rect">
            <a:avLst/>
          </a:prstGeom>
          <a:noFill/>
          <a:ln/>
        </p:spPr>
        <p:txBody>
          <a:bodyPr wrap="square" lIns="0" tIns="0" rIns="0" bIns="0" rtlCol="0" anchor="ctr"/>
          <a:lstStyle/>
          <a:p>
            <a:pPr marL="0" indent="0">
              <a:buNone/>
            </a:pPr>
            <a:r>
              <a:rPr lang="en-US" sz="850" dirty="0">
                <a:solidFill>
                  <a:srgbClr val="333333"/>
                </a:solidFill>
                <a:latin typeface="Calibri" pitchFamily="34" charset="0"/>
                <a:ea typeface="Calibri" pitchFamily="34" charset="-122"/>
                <a:cs typeface="Calibri" pitchFamily="34" charset="-120"/>
              </a:rPr>
              <a:t>1. Porcentaje de compras dentro del PAC</a:t>
            </a:r>
            <a:endParaRPr lang="en-US" sz="850" dirty="0"/>
          </a:p>
          <a:p>
            <a:pPr marL="0" indent="0">
              <a:buNone/>
            </a:pPr>
            <a:endParaRPr lang="en-US" sz="850" dirty="0"/>
          </a:p>
          <a:p>
            <a:pPr marL="0" indent="0">
              <a:buNone/>
            </a:pPr>
            <a:r>
              <a:rPr lang="en-US" sz="850" dirty="0">
                <a:solidFill>
                  <a:srgbClr val="333333"/>
                </a:solidFill>
                <a:latin typeface="Calibri" pitchFamily="34" charset="0"/>
                <a:ea typeface="Calibri" pitchFamily="34" charset="-122"/>
                <a:cs typeface="Calibri" pitchFamily="34" charset="-120"/>
              </a:rPr>
              <a:t>Ponderación: 25%</a:t>
            </a:r>
            <a:endParaRPr lang="en-US" sz="850" dirty="0"/>
          </a:p>
        </p:txBody>
      </p:sp>
      <p:sp>
        <p:nvSpPr>
          <p:cNvPr id="18" name="Shape 16"/>
          <p:cNvSpPr/>
          <p:nvPr/>
        </p:nvSpPr>
        <p:spPr>
          <a:xfrm>
            <a:off x="4846320" y="1143000"/>
            <a:ext cx="2066544" cy="914400"/>
          </a:xfrm>
          <a:prstGeom prst="rect">
            <a:avLst/>
          </a:prstGeom>
          <a:solidFill>
            <a:srgbClr val="FFFFFF"/>
          </a:solidFill>
          <a:ln w="6350">
            <a:solidFill>
              <a:srgbClr val="E2E8F0"/>
            </a:solidFill>
            <a:prstDash val="solid"/>
          </a:ln>
        </p:spPr>
      </p:sp>
      <p:sp>
        <p:nvSpPr>
          <p:cNvPr id="19" name="Text 17"/>
          <p:cNvSpPr/>
          <p:nvPr/>
        </p:nvSpPr>
        <p:spPr>
          <a:xfrm>
            <a:off x="4919472" y="1188720"/>
            <a:ext cx="1920240" cy="822960"/>
          </a:xfrm>
          <a:prstGeom prst="rect">
            <a:avLst/>
          </a:prstGeom>
          <a:noFill/>
          <a:ln/>
        </p:spPr>
        <p:txBody>
          <a:bodyPr wrap="square" lIns="0" tIns="0" rIns="0" bIns="0" rtlCol="0" anchor="ctr"/>
          <a:lstStyle/>
          <a:p>
            <a:pPr marL="0" indent="0">
              <a:buNone/>
            </a:pPr>
            <a:r>
              <a:rPr lang="en-US" sz="800" i="1" dirty="0">
                <a:solidFill>
                  <a:srgbClr val="1E3A5F"/>
                </a:solidFill>
                <a:latin typeface="Calibri" pitchFamily="34" charset="0"/>
                <a:ea typeface="Calibri" pitchFamily="34" charset="-122"/>
                <a:cs typeface="Calibri" pitchFamily="34" charset="-120"/>
              </a:rPr>
              <a:t>(Montos transados en compras de PAC año N / Montos transados en compras año N) × 100</a:t>
            </a:r>
            <a:endParaRPr lang="en-US" sz="800" dirty="0"/>
          </a:p>
        </p:txBody>
      </p:sp>
      <p:sp>
        <p:nvSpPr>
          <p:cNvPr id="20" name="Shape 18"/>
          <p:cNvSpPr/>
          <p:nvPr/>
        </p:nvSpPr>
        <p:spPr>
          <a:xfrm>
            <a:off x="6949440" y="1143000"/>
            <a:ext cx="1938528" cy="914400"/>
          </a:xfrm>
          <a:prstGeom prst="rect">
            <a:avLst/>
          </a:prstGeom>
          <a:solidFill>
            <a:srgbClr val="FFFFFF"/>
          </a:solidFill>
          <a:ln w="6350">
            <a:solidFill>
              <a:srgbClr val="E2E8F0"/>
            </a:solidFill>
            <a:prstDash val="solid"/>
          </a:ln>
        </p:spPr>
      </p:sp>
      <p:sp>
        <p:nvSpPr>
          <p:cNvPr id="21" name="Text 19"/>
          <p:cNvSpPr/>
          <p:nvPr/>
        </p:nvSpPr>
        <p:spPr>
          <a:xfrm>
            <a:off x="7022592" y="1188720"/>
            <a:ext cx="1828800" cy="822960"/>
          </a:xfrm>
          <a:prstGeom prst="rect">
            <a:avLst/>
          </a:prstGeom>
          <a:noFill/>
          <a:ln/>
        </p:spPr>
        <p:txBody>
          <a:bodyPr wrap="square" lIns="0" tIns="0" rIns="0" bIns="0" rtlCol="0" anchor="ctr"/>
          <a:lstStyle/>
          <a:p>
            <a:pPr marL="0" indent="0">
              <a:buNone/>
            </a:pPr>
            <a:r>
              <a:rPr lang="en-US" sz="800" dirty="0">
                <a:solidFill>
                  <a:srgbClr val="333333"/>
                </a:solidFill>
                <a:latin typeface="Calibri" pitchFamily="34" charset="0"/>
                <a:ea typeface="Calibri" pitchFamily="34" charset="-122"/>
                <a:cs typeface="Calibri" pitchFamily="34" charset="-120"/>
              </a:rPr>
              <a:t>Mide el grado de ajuste del PAC declarado con lo efectivamente ejecutado.</a:t>
            </a:r>
            <a:endParaRPr lang="en-US" sz="800" dirty="0"/>
          </a:p>
        </p:txBody>
      </p:sp>
      <p:sp>
        <p:nvSpPr>
          <p:cNvPr id="22" name="Shape 20"/>
          <p:cNvSpPr/>
          <p:nvPr/>
        </p:nvSpPr>
        <p:spPr>
          <a:xfrm>
            <a:off x="256032" y="2112264"/>
            <a:ext cx="1993392" cy="914400"/>
          </a:xfrm>
          <a:prstGeom prst="rect">
            <a:avLst/>
          </a:prstGeom>
          <a:solidFill>
            <a:srgbClr val="F8FAFF"/>
          </a:solidFill>
          <a:ln w="6350">
            <a:solidFill>
              <a:srgbClr val="E2E8F0"/>
            </a:solidFill>
            <a:prstDash val="solid"/>
          </a:ln>
        </p:spPr>
      </p:sp>
      <p:sp>
        <p:nvSpPr>
          <p:cNvPr id="23" name="Shape 21"/>
          <p:cNvSpPr/>
          <p:nvPr/>
        </p:nvSpPr>
        <p:spPr>
          <a:xfrm>
            <a:off x="256032" y="2112264"/>
            <a:ext cx="73152" cy="914400"/>
          </a:xfrm>
          <a:prstGeom prst="rect">
            <a:avLst/>
          </a:prstGeom>
          <a:solidFill>
            <a:srgbClr val="00234E"/>
          </a:solidFill>
          <a:ln w="12700">
            <a:solidFill>
              <a:srgbClr val="00234E"/>
            </a:solidFill>
            <a:prstDash val="solid"/>
          </a:ln>
        </p:spPr>
      </p:sp>
      <p:sp>
        <p:nvSpPr>
          <p:cNvPr id="24" name="Text 22"/>
          <p:cNvSpPr/>
          <p:nvPr/>
        </p:nvSpPr>
        <p:spPr>
          <a:xfrm>
            <a:off x="365760" y="2157984"/>
            <a:ext cx="1837944" cy="822960"/>
          </a:xfrm>
          <a:prstGeom prst="rect">
            <a:avLst/>
          </a:prstGeom>
          <a:noFill/>
          <a:ln/>
        </p:spPr>
        <p:txBody>
          <a:bodyPr wrap="square" lIns="0" tIns="0" rIns="0" bIns="0" rtlCol="0" anchor="ctr"/>
          <a:lstStyle/>
          <a:p>
            <a:pPr marL="0" indent="0">
              <a:buNone/>
            </a:pPr>
            <a:r>
              <a:rPr lang="en-US" sz="800" b="1" dirty="0">
                <a:solidFill>
                  <a:srgbClr val="00234E"/>
                </a:solidFill>
                <a:latin typeface="Calibri" pitchFamily="34" charset="0"/>
                <a:ea typeface="Calibri" pitchFamily="34" charset="-122"/>
                <a:cs typeface="Calibri" pitchFamily="34" charset="-120"/>
              </a:rPr>
              <a:t>Planificación y Coherencia del PAC</a:t>
            </a:r>
            <a:endParaRPr lang="en-US" sz="800" dirty="0"/>
          </a:p>
          <a:p>
            <a:pPr marL="0" indent="0">
              <a:buNone/>
            </a:pPr>
            <a:r>
              <a:rPr lang="en-US" sz="800" b="1" dirty="0">
                <a:solidFill>
                  <a:srgbClr val="00234E"/>
                </a:solidFill>
                <a:latin typeface="Calibri" pitchFamily="34" charset="0"/>
                <a:ea typeface="Calibri" pitchFamily="34" charset="-122"/>
                <a:cs typeface="Calibri" pitchFamily="34" charset="-120"/>
              </a:rPr>
              <a:t>(50%)</a:t>
            </a:r>
            <a:endParaRPr lang="en-US" sz="800" dirty="0"/>
          </a:p>
        </p:txBody>
      </p:sp>
      <p:sp>
        <p:nvSpPr>
          <p:cNvPr id="25" name="Shape 23"/>
          <p:cNvSpPr/>
          <p:nvPr/>
        </p:nvSpPr>
        <p:spPr>
          <a:xfrm>
            <a:off x="2286000" y="2112264"/>
            <a:ext cx="2523744" cy="914400"/>
          </a:xfrm>
          <a:prstGeom prst="rect">
            <a:avLst/>
          </a:prstGeom>
          <a:solidFill>
            <a:srgbClr val="F8FAFF"/>
          </a:solidFill>
          <a:ln w="6350">
            <a:solidFill>
              <a:srgbClr val="E2E8F0"/>
            </a:solidFill>
            <a:prstDash val="solid"/>
          </a:ln>
        </p:spPr>
      </p:sp>
      <p:sp>
        <p:nvSpPr>
          <p:cNvPr id="26" name="Text 24"/>
          <p:cNvSpPr/>
          <p:nvPr/>
        </p:nvSpPr>
        <p:spPr>
          <a:xfrm>
            <a:off x="2359152" y="2157984"/>
            <a:ext cx="2377440" cy="822960"/>
          </a:xfrm>
          <a:prstGeom prst="rect">
            <a:avLst/>
          </a:prstGeom>
          <a:noFill/>
          <a:ln/>
        </p:spPr>
        <p:txBody>
          <a:bodyPr wrap="square" lIns="0" tIns="0" rIns="0" bIns="0" rtlCol="0" anchor="ctr"/>
          <a:lstStyle/>
          <a:p>
            <a:pPr marL="0" indent="0">
              <a:buNone/>
            </a:pPr>
            <a:r>
              <a:rPr lang="en-US" sz="850" dirty="0">
                <a:solidFill>
                  <a:srgbClr val="333333"/>
                </a:solidFill>
                <a:latin typeface="Calibri" pitchFamily="34" charset="0"/>
                <a:ea typeface="Calibri" pitchFamily="34" charset="-122"/>
                <a:cs typeface="Calibri" pitchFamily="34" charset="-120"/>
              </a:rPr>
              <a:t>2. Porcentaje de Procesos Competitivos</a:t>
            </a:r>
            <a:endParaRPr lang="en-US" sz="850" dirty="0"/>
          </a:p>
          <a:p>
            <a:pPr marL="0" indent="0">
              <a:buNone/>
            </a:pPr>
            <a:endParaRPr lang="en-US" sz="850" dirty="0"/>
          </a:p>
          <a:p>
            <a:pPr marL="0" indent="0">
              <a:buNone/>
            </a:pPr>
            <a:r>
              <a:rPr lang="en-US" sz="850" dirty="0">
                <a:solidFill>
                  <a:srgbClr val="333333"/>
                </a:solidFill>
                <a:latin typeface="Calibri" pitchFamily="34" charset="0"/>
                <a:ea typeface="Calibri" pitchFamily="34" charset="-122"/>
                <a:cs typeface="Calibri" pitchFamily="34" charset="-120"/>
              </a:rPr>
              <a:t>Ponderación: 15%</a:t>
            </a:r>
            <a:endParaRPr lang="en-US" sz="850" dirty="0"/>
          </a:p>
        </p:txBody>
      </p:sp>
      <p:sp>
        <p:nvSpPr>
          <p:cNvPr id="27" name="Shape 25"/>
          <p:cNvSpPr/>
          <p:nvPr/>
        </p:nvSpPr>
        <p:spPr>
          <a:xfrm>
            <a:off x="4846320" y="2112264"/>
            <a:ext cx="2066544" cy="914400"/>
          </a:xfrm>
          <a:prstGeom prst="rect">
            <a:avLst/>
          </a:prstGeom>
          <a:solidFill>
            <a:srgbClr val="F8FAFF"/>
          </a:solidFill>
          <a:ln w="6350">
            <a:solidFill>
              <a:srgbClr val="E2E8F0"/>
            </a:solidFill>
            <a:prstDash val="solid"/>
          </a:ln>
        </p:spPr>
      </p:sp>
      <p:sp>
        <p:nvSpPr>
          <p:cNvPr id="28" name="Text 26"/>
          <p:cNvSpPr/>
          <p:nvPr/>
        </p:nvSpPr>
        <p:spPr>
          <a:xfrm>
            <a:off x="4919472" y="2157984"/>
            <a:ext cx="1920240" cy="822960"/>
          </a:xfrm>
          <a:prstGeom prst="rect">
            <a:avLst/>
          </a:prstGeom>
          <a:noFill/>
          <a:ln/>
        </p:spPr>
        <p:txBody>
          <a:bodyPr wrap="square" lIns="0" tIns="0" rIns="0" bIns="0" rtlCol="0" anchor="ctr"/>
          <a:lstStyle/>
          <a:p>
            <a:pPr marL="0" indent="0">
              <a:buNone/>
            </a:pPr>
            <a:r>
              <a:rPr lang="en-US" sz="800" i="1" dirty="0">
                <a:solidFill>
                  <a:srgbClr val="1E3A5F"/>
                </a:solidFill>
                <a:latin typeface="Calibri" pitchFamily="34" charset="0"/>
                <a:ea typeface="Calibri" pitchFamily="34" charset="-122"/>
                <a:cs typeface="Calibri" pitchFamily="34" charset="-120"/>
              </a:rPr>
              <a:t>(Montos transados en procesos competitivos año N / Montos transados año N) × 100</a:t>
            </a:r>
            <a:endParaRPr lang="en-US" sz="800" dirty="0"/>
          </a:p>
        </p:txBody>
      </p:sp>
      <p:sp>
        <p:nvSpPr>
          <p:cNvPr id="29" name="Shape 27"/>
          <p:cNvSpPr/>
          <p:nvPr/>
        </p:nvSpPr>
        <p:spPr>
          <a:xfrm>
            <a:off x="6949440" y="2112264"/>
            <a:ext cx="1938528" cy="914400"/>
          </a:xfrm>
          <a:prstGeom prst="rect">
            <a:avLst/>
          </a:prstGeom>
          <a:solidFill>
            <a:srgbClr val="F8FAFF"/>
          </a:solidFill>
          <a:ln w="6350">
            <a:solidFill>
              <a:srgbClr val="E2E8F0"/>
            </a:solidFill>
            <a:prstDash val="solid"/>
          </a:ln>
        </p:spPr>
      </p:sp>
      <p:sp>
        <p:nvSpPr>
          <p:cNvPr id="30" name="Text 28"/>
          <p:cNvSpPr/>
          <p:nvPr/>
        </p:nvSpPr>
        <p:spPr>
          <a:xfrm>
            <a:off x="7022592" y="2157984"/>
            <a:ext cx="1828800" cy="822960"/>
          </a:xfrm>
          <a:prstGeom prst="rect">
            <a:avLst/>
          </a:prstGeom>
          <a:noFill/>
          <a:ln/>
        </p:spPr>
        <p:txBody>
          <a:bodyPr wrap="square" lIns="0" tIns="0" rIns="0" bIns="0" rtlCol="0" anchor="ctr"/>
          <a:lstStyle/>
          <a:p>
            <a:pPr marL="0" indent="0">
              <a:buNone/>
            </a:pPr>
            <a:r>
              <a:rPr lang="en-US" sz="800" dirty="0">
                <a:solidFill>
                  <a:srgbClr val="333333"/>
                </a:solidFill>
                <a:latin typeface="Calibri" pitchFamily="34" charset="0"/>
                <a:ea typeface="Calibri" pitchFamily="34" charset="-122"/>
                <a:cs typeface="Calibri" pitchFamily="34" charset="-120"/>
              </a:rPr>
              <a:t>Mide la preferencia de procesos competitivos. Una mayor preferencia se evalúa positivamente.</a:t>
            </a:r>
            <a:endParaRPr lang="en-US" sz="800" dirty="0"/>
          </a:p>
        </p:txBody>
      </p:sp>
      <p:sp>
        <p:nvSpPr>
          <p:cNvPr id="31" name="Shape 29"/>
          <p:cNvSpPr/>
          <p:nvPr/>
        </p:nvSpPr>
        <p:spPr>
          <a:xfrm>
            <a:off x="256032" y="3081528"/>
            <a:ext cx="1993392" cy="914400"/>
          </a:xfrm>
          <a:prstGeom prst="rect">
            <a:avLst/>
          </a:prstGeom>
          <a:solidFill>
            <a:srgbClr val="FFFFFF"/>
          </a:solidFill>
          <a:ln w="6350">
            <a:solidFill>
              <a:srgbClr val="E2E8F0"/>
            </a:solidFill>
            <a:prstDash val="solid"/>
          </a:ln>
        </p:spPr>
      </p:sp>
      <p:sp>
        <p:nvSpPr>
          <p:cNvPr id="32" name="Shape 30"/>
          <p:cNvSpPr/>
          <p:nvPr/>
        </p:nvSpPr>
        <p:spPr>
          <a:xfrm>
            <a:off x="256032" y="3081528"/>
            <a:ext cx="73152" cy="914400"/>
          </a:xfrm>
          <a:prstGeom prst="rect">
            <a:avLst/>
          </a:prstGeom>
          <a:solidFill>
            <a:srgbClr val="00234E"/>
          </a:solidFill>
          <a:ln w="12700">
            <a:solidFill>
              <a:srgbClr val="00234E"/>
            </a:solidFill>
            <a:prstDash val="solid"/>
          </a:ln>
        </p:spPr>
      </p:sp>
      <p:sp>
        <p:nvSpPr>
          <p:cNvPr id="33" name="Text 31"/>
          <p:cNvSpPr/>
          <p:nvPr/>
        </p:nvSpPr>
        <p:spPr>
          <a:xfrm>
            <a:off x="365760" y="3127248"/>
            <a:ext cx="1837944" cy="822960"/>
          </a:xfrm>
          <a:prstGeom prst="rect">
            <a:avLst/>
          </a:prstGeom>
          <a:noFill/>
          <a:ln/>
        </p:spPr>
        <p:txBody>
          <a:bodyPr wrap="square" lIns="0" tIns="0" rIns="0" bIns="0" rtlCol="0" anchor="ctr"/>
          <a:lstStyle/>
          <a:p>
            <a:pPr marL="0" indent="0">
              <a:buNone/>
            </a:pPr>
            <a:r>
              <a:rPr lang="en-US" sz="800" b="1" dirty="0">
                <a:solidFill>
                  <a:srgbClr val="00234E"/>
                </a:solidFill>
                <a:latin typeface="Calibri" pitchFamily="34" charset="0"/>
                <a:ea typeface="Calibri" pitchFamily="34" charset="-122"/>
                <a:cs typeface="Calibri" pitchFamily="34" charset="-120"/>
              </a:rPr>
              <a:t>Planificación y Coherencia del PAC</a:t>
            </a:r>
            <a:endParaRPr lang="en-US" sz="800" dirty="0"/>
          </a:p>
          <a:p>
            <a:pPr marL="0" indent="0">
              <a:buNone/>
            </a:pPr>
            <a:r>
              <a:rPr lang="en-US" sz="800" b="1" dirty="0">
                <a:solidFill>
                  <a:srgbClr val="00234E"/>
                </a:solidFill>
                <a:latin typeface="Calibri" pitchFamily="34" charset="0"/>
                <a:ea typeface="Calibri" pitchFamily="34" charset="-122"/>
                <a:cs typeface="Calibri" pitchFamily="34" charset="-120"/>
              </a:rPr>
              <a:t>(50%)</a:t>
            </a:r>
            <a:endParaRPr lang="en-US" sz="800" dirty="0"/>
          </a:p>
        </p:txBody>
      </p:sp>
      <p:sp>
        <p:nvSpPr>
          <p:cNvPr id="34" name="Shape 32"/>
          <p:cNvSpPr/>
          <p:nvPr/>
        </p:nvSpPr>
        <p:spPr>
          <a:xfrm>
            <a:off x="2286000" y="3081528"/>
            <a:ext cx="2523744" cy="914400"/>
          </a:xfrm>
          <a:prstGeom prst="rect">
            <a:avLst/>
          </a:prstGeom>
          <a:solidFill>
            <a:srgbClr val="FFFFFF"/>
          </a:solidFill>
          <a:ln w="6350">
            <a:solidFill>
              <a:srgbClr val="E2E8F0"/>
            </a:solidFill>
            <a:prstDash val="solid"/>
          </a:ln>
        </p:spPr>
      </p:sp>
      <p:sp>
        <p:nvSpPr>
          <p:cNvPr id="35" name="Text 33"/>
          <p:cNvSpPr/>
          <p:nvPr/>
        </p:nvSpPr>
        <p:spPr>
          <a:xfrm>
            <a:off x="2359152" y="3127248"/>
            <a:ext cx="2377440" cy="822960"/>
          </a:xfrm>
          <a:prstGeom prst="rect">
            <a:avLst/>
          </a:prstGeom>
          <a:noFill/>
          <a:ln/>
        </p:spPr>
        <p:txBody>
          <a:bodyPr wrap="square" lIns="0" tIns="0" rIns="0" bIns="0" rtlCol="0" anchor="ctr"/>
          <a:lstStyle/>
          <a:p>
            <a:pPr marL="0" indent="0">
              <a:buNone/>
            </a:pPr>
            <a:r>
              <a:rPr lang="en-US" sz="850" dirty="0">
                <a:solidFill>
                  <a:srgbClr val="333333"/>
                </a:solidFill>
                <a:latin typeface="Calibri" pitchFamily="34" charset="0"/>
                <a:ea typeface="Calibri" pitchFamily="34" charset="-122"/>
                <a:cs typeface="Calibri" pitchFamily="34" charset="-120"/>
              </a:rPr>
              <a:t>3. Cantidad de modificaciones al PAC</a:t>
            </a:r>
            <a:endParaRPr lang="en-US" sz="850" dirty="0"/>
          </a:p>
          <a:p>
            <a:pPr marL="0" indent="0">
              <a:buNone/>
            </a:pPr>
            <a:endParaRPr lang="en-US" sz="850" dirty="0"/>
          </a:p>
          <a:p>
            <a:pPr marL="0" indent="0">
              <a:buNone/>
            </a:pPr>
            <a:r>
              <a:rPr lang="en-US" sz="850" dirty="0">
                <a:solidFill>
                  <a:srgbClr val="333333"/>
                </a:solidFill>
                <a:latin typeface="Calibri" pitchFamily="34" charset="0"/>
                <a:ea typeface="Calibri" pitchFamily="34" charset="-122"/>
                <a:cs typeface="Calibri" pitchFamily="34" charset="-120"/>
              </a:rPr>
              <a:t>Ponderación: 10%</a:t>
            </a:r>
            <a:endParaRPr lang="en-US" sz="850" dirty="0"/>
          </a:p>
        </p:txBody>
      </p:sp>
      <p:sp>
        <p:nvSpPr>
          <p:cNvPr id="36" name="Shape 34"/>
          <p:cNvSpPr/>
          <p:nvPr/>
        </p:nvSpPr>
        <p:spPr>
          <a:xfrm>
            <a:off x="4846320" y="3081528"/>
            <a:ext cx="2066544" cy="914400"/>
          </a:xfrm>
          <a:prstGeom prst="rect">
            <a:avLst/>
          </a:prstGeom>
          <a:solidFill>
            <a:srgbClr val="FFFFFF"/>
          </a:solidFill>
          <a:ln w="6350">
            <a:solidFill>
              <a:srgbClr val="E2E8F0"/>
            </a:solidFill>
            <a:prstDash val="solid"/>
          </a:ln>
        </p:spPr>
      </p:sp>
      <p:sp>
        <p:nvSpPr>
          <p:cNvPr id="37" name="Text 35"/>
          <p:cNvSpPr/>
          <p:nvPr/>
        </p:nvSpPr>
        <p:spPr>
          <a:xfrm>
            <a:off x="4919472" y="3127248"/>
            <a:ext cx="1920240" cy="822960"/>
          </a:xfrm>
          <a:prstGeom prst="rect">
            <a:avLst/>
          </a:prstGeom>
          <a:noFill/>
          <a:ln/>
        </p:spPr>
        <p:txBody>
          <a:bodyPr wrap="square" lIns="0" tIns="0" rIns="0" bIns="0" rtlCol="0" anchor="ctr"/>
          <a:lstStyle/>
          <a:p>
            <a:pPr marL="0" indent="0">
              <a:buNone/>
            </a:pPr>
            <a:r>
              <a:rPr lang="en-US" sz="800" i="1" dirty="0">
                <a:solidFill>
                  <a:srgbClr val="1E3A5F"/>
                </a:solidFill>
                <a:latin typeface="Calibri" pitchFamily="34" charset="0"/>
                <a:ea typeface="Calibri" pitchFamily="34" charset="-122"/>
                <a:cs typeface="Calibri" pitchFamily="34" charset="-120"/>
              </a:rPr>
              <a:t>N° de ediciones al PAC vigente</a:t>
            </a:r>
            <a:endParaRPr lang="en-US" sz="800" dirty="0"/>
          </a:p>
        </p:txBody>
      </p:sp>
      <p:sp>
        <p:nvSpPr>
          <p:cNvPr id="38" name="Shape 36"/>
          <p:cNvSpPr/>
          <p:nvPr/>
        </p:nvSpPr>
        <p:spPr>
          <a:xfrm>
            <a:off x="6949440" y="3081528"/>
            <a:ext cx="1938528" cy="914400"/>
          </a:xfrm>
          <a:prstGeom prst="rect">
            <a:avLst/>
          </a:prstGeom>
          <a:solidFill>
            <a:srgbClr val="FFFFFF"/>
          </a:solidFill>
          <a:ln w="6350">
            <a:solidFill>
              <a:srgbClr val="E2E8F0"/>
            </a:solidFill>
            <a:prstDash val="solid"/>
          </a:ln>
        </p:spPr>
      </p:sp>
      <p:sp>
        <p:nvSpPr>
          <p:cNvPr id="39" name="Text 37"/>
          <p:cNvSpPr/>
          <p:nvPr/>
        </p:nvSpPr>
        <p:spPr>
          <a:xfrm>
            <a:off x="7022592" y="3127248"/>
            <a:ext cx="1828800" cy="822960"/>
          </a:xfrm>
          <a:prstGeom prst="rect">
            <a:avLst/>
          </a:prstGeom>
          <a:noFill/>
          <a:ln/>
        </p:spPr>
        <p:txBody>
          <a:bodyPr wrap="square" lIns="0" tIns="0" rIns="0" bIns="0" rtlCol="0" anchor="ctr"/>
          <a:lstStyle/>
          <a:p>
            <a:pPr marL="0" indent="0">
              <a:buNone/>
            </a:pPr>
            <a:r>
              <a:rPr lang="en-US" sz="800" dirty="0">
                <a:solidFill>
                  <a:srgbClr val="333333"/>
                </a:solidFill>
                <a:latin typeface="Calibri" pitchFamily="34" charset="0"/>
                <a:ea typeface="Calibri" pitchFamily="34" charset="-122"/>
                <a:cs typeface="Calibri" pitchFamily="34" charset="-120"/>
              </a:rPr>
              <a:t>Mide la cantidad de adecuaciones que recibe un PAC durante un año de ejecución.</a:t>
            </a:r>
            <a:endParaRPr lang="en-US" sz="800" dirty="0"/>
          </a:p>
        </p:txBody>
      </p:sp>
      <p:sp>
        <p:nvSpPr>
          <p:cNvPr id="40" name="Shape 38"/>
          <p:cNvSpPr/>
          <p:nvPr/>
        </p:nvSpPr>
        <p:spPr>
          <a:xfrm>
            <a:off x="256032" y="4050792"/>
            <a:ext cx="1993392" cy="914400"/>
          </a:xfrm>
          <a:prstGeom prst="rect">
            <a:avLst/>
          </a:prstGeom>
          <a:solidFill>
            <a:srgbClr val="F8FAFF"/>
          </a:solidFill>
          <a:ln w="6350">
            <a:solidFill>
              <a:srgbClr val="E2E8F0"/>
            </a:solidFill>
            <a:prstDash val="solid"/>
          </a:ln>
        </p:spPr>
      </p:sp>
      <p:sp>
        <p:nvSpPr>
          <p:cNvPr id="41" name="Shape 39"/>
          <p:cNvSpPr/>
          <p:nvPr/>
        </p:nvSpPr>
        <p:spPr>
          <a:xfrm>
            <a:off x="256032" y="4050792"/>
            <a:ext cx="73152" cy="914400"/>
          </a:xfrm>
          <a:prstGeom prst="rect">
            <a:avLst/>
          </a:prstGeom>
          <a:solidFill>
            <a:srgbClr val="004B8D"/>
          </a:solidFill>
          <a:ln w="12700">
            <a:solidFill>
              <a:srgbClr val="004B8D"/>
            </a:solidFill>
            <a:prstDash val="solid"/>
          </a:ln>
        </p:spPr>
      </p:sp>
      <p:sp>
        <p:nvSpPr>
          <p:cNvPr id="42" name="Text 40"/>
          <p:cNvSpPr/>
          <p:nvPr/>
        </p:nvSpPr>
        <p:spPr>
          <a:xfrm>
            <a:off x="365760" y="4096512"/>
            <a:ext cx="1837944" cy="822960"/>
          </a:xfrm>
          <a:prstGeom prst="rect">
            <a:avLst/>
          </a:prstGeom>
          <a:noFill/>
          <a:ln/>
        </p:spPr>
        <p:txBody>
          <a:bodyPr wrap="square" lIns="0" tIns="0" rIns="0" bIns="0" rtlCol="0" anchor="ctr"/>
          <a:lstStyle/>
          <a:p>
            <a:pPr marL="0" indent="0">
              <a:buNone/>
            </a:pPr>
            <a:r>
              <a:rPr lang="en-US" sz="800" b="1" dirty="0">
                <a:solidFill>
                  <a:srgbClr val="004B8D"/>
                </a:solidFill>
                <a:latin typeface="Calibri" pitchFamily="34" charset="0"/>
                <a:ea typeface="Calibri" pitchFamily="34" charset="-122"/>
                <a:cs typeface="Calibri" pitchFamily="34" charset="-120"/>
              </a:rPr>
              <a:t>Satisfacción y Cumplimiento del Objetivo Público</a:t>
            </a:r>
            <a:endParaRPr lang="en-US" sz="800" dirty="0"/>
          </a:p>
          <a:p>
            <a:pPr marL="0" indent="0">
              <a:buNone/>
            </a:pPr>
            <a:r>
              <a:rPr lang="en-US" sz="800" b="1" dirty="0">
                <a:solidFill>
                  <a:srgbClr val="004B8D"/>
                </a:solidFill>
                <a:latin typeface="Calibri" pitchFamily="34" charset="0"/>
                <a:ea typeface="Calibri" pitchFamily="34" charset="-122"/>
                <a:cs typeface="Calibri" pitchFamily="34" charset="-120"/>
              </a:rPr>
              <a:t>(20%)</a:t>
            </a:r>
            <a:endParaRPr lang="en-US" sz="800" dirty="0"/>
          </a:p>
        </p:txBody>
      </p:sp>
      <p:sp>
        <p:nvSpPr>
          <p:cNvPr id="43" name="Shape 41"/>
          <p:cNvSpPr/>
          <p:nvPr/>
        </p:nvSpPr>
        <p:spPr>
          <a:xfrm>
            <a:off x="2286000" y="4050792"/>
            <a:ext cx="2523744" cy="914400"/>
          </a:xfrm>
          <a:prstGeom prst="rect">
            <a:avLst/>
          </a:prstGeom>
          <a:solidFill>
            <a:srgbClr val="F8FAFF"/>
          </a:solidFill>
          <a:ln w="6350">
            <a:solidFill>
              <a:srgbClr val="E2E8F0"/>
            </a:solidFill>
            <a:prstDash val="solid"/>
          </a:ln>
        </p:spPr>
      </p:sp>
      <p:sp>
        <p:nvSpPr>
          <p:cNvPr id="44" name="Text 42"/>
          <p:cNvSpPr/>
          <p:nvPr/>
        </p:nvSpPr>
        <p:spPr>
          <a:xfrm>
            <a:off x="2359152" y="4096512"/>
            <a:ext cx="2377440" cy="822960"/>
          </a:xfrm>
          <a:prstGeom prst="rect">
            <a:avLst/>
          </a:prstGeom>
          <a:noFill/>
          <a:ln/>
        </p:spPr>
        <p:txBody>
          <a:bodyPr wrap="square" lIns="0" tIns="0" rIns="0" bIns="0" rtlCol="0" anchor="ctr"/>
          <a:lstStyle/>
          <a:p>
            <a:pPr marL="0" indent="0">
              <a:buNone/>
            </a:pPr>
            <a:r>
              <a:rPr lang="en-US" sz="850" dirty="0">
                <a:solidFill>
                  <a:srgbClr val="333333"/>
                </a:solidFill>
                <a:latin typeface="Calibri" pitchFamily="34" charset="0"/>
                <a:ea typeface="Calibri" pitchFamily="34" charset="-122"/>
                <a:cs typeface="Calibri" pitchFamily="34" charset="-120"/>
              </a:rPr>
              <a:t>4. Satisfacción con el servicio/Producto recibido</a:t>
            </a:r>
            <a:endParaRPr lang="en-US" sz="850" dirty="0"/>
          </a:p>
          <a:p>
            <a:pPr marL="0" indent="0">
              <a:buNone/>
            </a:pPr>
            <a:endParaRPr lang="en-US" sz="850" dirty="0"/>
          </a:p>
          <a:p>
            <a:pPr marL="0" indent="0">
              <a:buNone/>
            </a:pPr>
            <a:r>
              <a:rPr lang="en-US" sz="850" dirty="0">
                <a:solidFill>
                  <a:srgbClr val="333333"/>
                </a:solidFill>
                <a:latin typeface="Calibri" pitchFamily="34" charset="0"/>
                <a:ea typeface="Calibri" pitchFamily="34" charset="-122"/>
                <a:cs typeface="Calibri" pitchFamily="34" charset="-120"/>
              </a:rPr>
              <a:t>Ponderación: 20%</a:t>
            </a:r>
            <a:endParaRPr lang="en-US" sz="850" dirty="0"/>
          </a:p>
        </p:txBody>
      </p:sp>
      <p:sp>
        <p:nvSpPr>
          <p:cNvPr id="45" name="Shape 43"/>
          <p:cNvSpPr/>
          <p:nvPr/>
        </p:nvSpPr>
        <p:spPr>
          <a:xfrm>
            <a:off x="4846320" y="4050792"/>
            <a:ext cx="2066544" cy="914400"/>
          </a:xfrm>
          <a:prstGeom prst="rect">
            <a:avLst/>
          </a:prstGeom>
          <a:solidFill>
            <a:srgbClr val="F8FAFF"/>
          </a:solidFill>
          <a:ln w="6350">
            <a:solidFill>
              <a:srgbClr val="E2E8F0"/>
            </a:solidFill>
            <a:prstDash val="solid"/>
          </a:ln>
        </p:spPr>
      </p:sp>
      <p:sp>
        <p:nvSpPr>
          <p:cNvPr id="46" name="Text 44"/>
          <p:cNvSpPr/>
          <p:nvPr/>
        </p:nvSpPr>
        <p:spPr>
          <a:xfrm>
            <a:off x="4919472" y="4096512"/>
            <a:ext cx="1920240" cy="822960"/>
          </a:xfrm>
          <a:prstGeom prst="rect">
            <a:avLst/>
          </a:prstGeom>
          <a:noFill/>
          <a:ln/>
        </p:spPr>
        <p:txBody>
          <a:bodyPr wrap="square" lIns="0" tIns="0" rIns="0" bIns="0" rtlCol="0" anchor="ctr"/>
          <a:lstStyle/>
          <a:p>
            <a:pPr marL="0" indent="0">
              <a:buNone/>
            </a:pPr>
            <a:r>
              <a:rPr lang="en-US" sz="800" i="1" dirty="0">
                <a:solidFill>
                  <a:srgbClr val="1E3A5F"/>
                </a:solidFill>
                <a:latin typeface="Calibri" pitchFamily="34" charset="0"/>
                <a:ea typeface="Calibri" pitchFamily="34" charset="-122"/>
                <a:cs typeface="Calibri" pitchFamily="34" charset="-120"/>
              </a:rPr>
              <a:t>Σ Notas de contratos / N° de notas</a:t>
            </a:r>
            <a:endParaRPr lang="en-US" sz="800" dirty="0"/>
          </a:p>
        </p:txBody>
      </p:sp>
      <p:sp>
        <p:nvSpPr>
          <p:cNvPr id="47" name="Shape 45"/>
          <p:cNvSpPr/>
          <p:nvPr/>
        </p:nvSpPr>
        <p:spPr>
          <a:xfrm>
            <a:off x="6949440" y="4050792"/>
            <a:ext cx="1938528" cy="914400"/>
          </a:xfrm>
          <a:prstGeom prst="rect">
            <a:avLst/>
          </a:prstGeom>
          <a:solidFill>
            <a:srgbClr val="F8FAFF"/>
          </a:solidFill>
          <a:ln w="6350">
            <a:solidFill>
              <a:srgbClr val="E2E8F0"/>
            </a:solidFill>
            <a:prstDash val="solid"/>
          </a:ln>
        </p:spPr>
      </p:sp>
      <p:sp>
        <p:nvSpPr>
          <p:cNvPr id="48" name="Text 46"/>
          <p:cNvSpPr/>
          <p:nvPr/>
        </p:nvSpPr>
        <p:spPr>
          <a:xfrm>
            <a:off x="7022592" y="4096512"/>
            <a:ext cx="1828800" cy="822960"/>
          </a:xfrm>
          <a:prstGeom prst="rect">
            <a:avLst/>
          </a:prstGeom>
          <a:noFill/>
          <a:ln/>
        </p:spPr>
        <p:txBody>
          <a:bodyPr wrap="square" lIns="0" tIns="0" rIns="0" bIns="0" rtlCol="0" anchor="ctr"/>
          <a:lstStyle/>
          <a:p>
            <a:pPr marL="0" indent="0">
              <a:buNone/>
            </a:pPr>
            <a:r>
              <a:rPr lang="en-US" sz="800" dirty="0">
                <a:solidFill>
                  <a:srgbClr val="333333"/>
                </a:solidFill>
                <a:latin typeface="Calibri" pitchFamily="34" charset="0"/>
                <a:ea typeface="Calibri" pitchFamily="34" charset="-122"/>
                <a:cs typeface="Calibri" pitchFamily="34" charset="-120"/>
              </a:rPr>
              <a:t>Mide el nivel de satisfacción en calidad y tiempo de los bienes y servicios contratados.</a:t>
            </a:r>
            <a:endParaRPr lang="en-US" sz="800" dirty="0"/>
          </a:p>
        </p:txBody>
      </p:sp>
      <p:sp>
        <p:nvSpPr>
          <p:cNvPr id="49" name="Shape 47"/>
          <p:cNvSpPr/>
          <p:nvPr/>
        </p:nvSpPr>
        <p:spPr>
          <a:xfrm>
            <a:off x="0" y="5070348"/>
            <a:ext cx="9144000" cy="73152"/>
          </a:xfrm>
          <a:prstGeom prst="rect">
            <a:avLst/>
          </a:prstGeom>
          <a:solidFill>
            <a:srgbClr val="00234E"/>
          </a:solidFill>
          <a:ln w="12700">
            <a:solidFill>
              <a:srgbClr val="00234E"/>
            </a:solidFill>
            <a:prstDash val="solid"/>
          </a:ln>
        </p:spPr>
      </p:sp>
      <p:sp>
        <p:nvSpPr>
          <p:cNvPr id="50" name="Text 48"/>
          <p:cNvSpPr/>
          <p:nvPr/>
        </p:nvSpPr>
        <p:spPr>
          <a:xfrm>
            <a:off x="274320" y="4919472"/>
            <a:ext cx="8595360" cy="164592"/>
          </a:xfrm>
          <a:prstGeom prst="rect">
            <a:avLst/>
          </a:prstGeom>
          <a:noFill/>
          <a:ln/>
        </p:spPr>
        <p:txBody>
          <a:bodyPr wrap="square" lIns="0" tIns="0" rIns="0" bIns="0" rtlCol="0" anchor="ctr"/>
          <a:lstStyle/>
          <a:p>
            <a:pPr marL="0" indent="0" algn="r">
              <a:buNone/>
            </a:pPr>
            <a:r>
              <a:rPr lang="en-US" sz="800" dirty="0">
                <a:solidFill>
                  <a:srgbClr val="AAAAAA"/>
                </a:solidFill>
                <a:latin typeface="Calibri" pitchFamily="34" charset="0"/>
                <a:ea typeface="Calibri" pitchFamily="34" charset="-122"/>
                <a:cs typeface="Calibri" pitchFamily="34" charset="-120"/>
              </a:rPr>
              <a:t>Subdepartamento de Abastecimiento — Servicio de Salud Osorno</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5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234E"/>
          </a:solidFill>
          <a:ln w="12700">
            <a:solidFill>
              <a:srgbClr val="00234E"/>
            </a:solidFill>
            <a:prstDash val="solid"/>
          </a:ln>
        </p:spPr>
      </p:sp>
      <p:sp>
        <p:nvSpPr>
          <p:cNvPr id="3" name="Text 1"/>
          <p:cNvSpPr/>
          <p:nvPr/>
        </p:nvSpPr>
        <p:spPr>
          <a:xfrm>
            <a:off x="457200" y="137160"/>
            <a:ext cx="8229600" cy="411480"/>
          </a:xfrm>
          <a:prstGeom prst="rect">
            <a:avLst/>
          </a:prstGeom>
          <a:noFill/>
          <a:ln/>
        </p:spPr>
        <p:txBody>
          <a:bodyPr wrap="square" lIns="0" tIns="0" rIns="0" bIns="0" rtlCol="0" anchor="ctr"/>
          <a:lstStyle/>
          <a:p>
            <a:pPr marL="0" indent="0" algn="l">
              <a:buNone/>
            </a:pPr>
            <a:r>
              <a:rPr lang="en-US" sz="2000" b="1" dirty="0">
                <a:solidFill>
                  <a:srgbClr val="00234E"/>
                </a:solidFill>
                <a:latin typeface="Calibri" pitchFamily="34" charset="0"/>
                <a:ea typeface="Calibri" pitchFamily="34" charset="-122"/>
                <a:cs typeface="Calibri" pitchFamily="34" charset="-120"/>
              </a:rPr>
              <a:t>Indicadores y Fórmulas de Cálculo — Parte 2 de 2</a:t>
            </a:r>
            <a:endParaRPr lang="en-US" sz="2000" dirty="0"/>
          </a:p>
        </p:txBody>
      </p:sp>
      <p:sp>
        <p:nvSpPr>
          <p:cNvPr id="4" name="Text 2"/>
          <p:cNvSpPr/>
          <p:nvPr/>
        </p:nvSpPr>
        <p:spPr>
          <a:xfrm>
            <a:off x="457200" y="530352"/>
            <a:ext cx="8229600" cy="228600"/>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Res. Exenta N°188/2026 — Indicadores cuantitativos con ponderación</a:t>
            </a:r>
            <a:endParaRPr lang="en-US" sz="1000" dirty="0"/>
          </a:p>
        </p:txBody>
      </p:sp>
      <p:sp>
        <p:nvSpPr>
          <p:cNvPr id="5" name="Shape 3"/>
          <p:cNvSpPr/>
          <p:nvPr/>
        </p:nvSpPr>
        <p:spPr>
          <a:xfrm>
            <a:off x="256032" y="804672"/>
            <a:ext cx="1993392" cy="292608"/>
          </a:xfrm>
          <a:prstGeom prst="rect">
            <a:avLst/>
          </a:prstGeom>
          <a:solidFill>
            <a:srgbClr val="00234E"/>
          </a:solidFill>
          <a:ln w="12700">
            <a:solidFill>
              <a:srgbClr val="00234E"/>
            </a:solidFill>
            <a:prstDash val="solid"/>
          </a:ln>
        </p:spPr>
      </p:sp>
      <p:sp>
        <p:nvSpPr>
          <p:cNvPr id="6" name="Text 4"/>
          <p:cNvSpPr/>
          <p:nvPr/>
        </p:nvSpPr>
        <p:spPr>
          <a:xfrm>
            <a:off x="301752" y="804672"/>
            <a:ext cx="1901952" cy="292608"/>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Dimensión</a:t>
            </a:r>
            <a:endParaRPr lang="en-US" sz="900" dirty="0"/>
          </a:p>
        </p:txBody>
      </p:sp>
      <p:sp>
        <p:nvSpPr>
          <p:cNvPr id="7" name="Shape 5"/>
          <p:cNvSpPr/>
          <p:nvPr/>
        </p:nvSpPr>
        <p:spPr>
          <a:xfrm>
            <a:off x="2286000" y="804672"/>
            <a:ext cx="2523744" cy="292608"/>
          </a:xfrm>
          <a:prstGeom prst="rect">
            <a:avLst/>
          </a:prstGeom>
          <a:solidFill>
            <a:srgbClr val="00234E"/>
          </a:solidFill>
          <a:ln w="12700">
            <a:solidFill>
              <a:srgbClr val="00234E"/>
            </a:solidFill>
            <a:prstDash val="solid"/>
          </a:ln>
        </p:spPr>
      </p:sp>
      <p:sp>
        <p:nvSpPr>
          <p:cNvPr id="8" name="Text 6"/>
          <p:cNvSpPr/>
          <p:nvPr/>
        </p:nvSpPr>
        <p:spPr>
          <a:xfrm>
            <a:off x="2331720" y="804672"/>
            <a:ext cx="2432304" cy="292608"/>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Indicador</a:t>
            </a:r>
            <a:endParaRPr lang="en-US" sz="900" dirty="0"/>
          </a:p>
        </p:txBody>
      </p:sp>
      <p:sp>
        <p:nvSpPr>
          <p:cNvPr id="9" name="Shape 7"/>
          <p:cNvSpPr/>
          <p:nvPr/>
        </p:nvSpPr>
        <p:spPr>
          <a:xfrm>
            <a:off x="4846320" y="804672"/>
            <a:ext cx="2066544" cy="292608"/>
          </a:xfrm>
          <a:prstGeom prst="rect">
            <a:avLst/>
          </a:prstGeom>
          <a:solidFill>
            <a:srgbClr val="00234E"/>
          </a:solidFill>
          <a:ln w="12700">
            <a:solidFill>
              <a:srgbClr val="00234E"/>
            </a:solidFill>
            <a:prstDash val="solid"/>
          </a:ln>
        </p:spPr>
      </p:sp>
      <p:sp>
        <p:nvSpPr>
          <p:cNvPr id="10" name="Text 8"/>
          <p:cNvSpPr/>
          <p:nvPr/>
        </p:nvSpPr>
        <p:spPr>
          <a:xfrm>
            <a:off x="4892040" y="804672"/>
            <a:ext cx="1975104" cy="292608"/>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Fórmula de Cálculo</a:t>
            </a:r>
            <a:endParaRPr lang="en-US" sz="900" dirty="0"/>
          </a:p>
        </p:txBody>
      </p:sp>
      <p:sp>
        <p:nvSpPr>
          <p:cNvPr id="11" name="Shape 9"/>
          <p:cNvSpPr/>
          <p:nvPr/>
        </p:nvSpPr>
        <p:spPr>
          <a:xfrm>
            <a:off x="6949440" y="804672"/>
            <a:ext cx="1938528" cy="292608"/>
          </a:xfrm>
          <a:prstGeom prst="rect">
            <a:avLst/>
          </a:prstGeom>
          <a:solidFill>
            <a:srgbClr val="00234E"/>
          </a:solidFill>
          <a:ln w="12700">
            <a:solidFill>
              <a:srgbClr val="00234E"/>
            </a:solidFill>
            <a:prstDash val="solid"/>
          </a:ln>
        </p:spPr>
      </p:sp>
      <p:sp>
        <p:nvSpPr>
          <p:cNvPr id="12" name="Text 10"/>
          <p:cNvSpPr/>
          <p:nvPr/>
        </p:nvSpPr>
        <p:spPr>
          <a:xfrm>
            <a:off x="6995160" y="804672"/>
            <a:ext cx="1847088" cy="292608"/>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Objetivo</a:t>
            </a:r>
            <a:endParaRPr lang="en-US" sz="900" dirty="0"/>
          </a:p>
        </p:txBody>
      </p:sp>
      <p:sp>
        <p:nvSpPr>
          <p:cNvPr id="13" name="Shape 11"/>
          <p:cNvSpPr/>
          <p:nvPr/>
        </p:nvSpPr>
        <p:spPr>
          <a:xfrm>
            <a:off x="256032" y="1170432"/>
            <a:ext cx="1993392" cy="1188720"/>
          </a:xfrm>
          <a:prstGeom prst="rect">
            <a:avLst/>
          </a:prstGeom>
          <a:solidFill>
            <a:srgbClr val="FFFFFF"/>
          </a:solidFill>
          <a:ln w="6350">
            <a:solidFill>
              <a:srgbClr val="E2E8F0"/>
            </a:solidFill>
            <a:prstDash val="solid"/>
          </a:ln>
        </p:spPr>
      </p:sp>
      <p:sp>
        <p:nvSpPr>
          <p:cNvPr id="14" name="Shape 12"/>
          <p:cNvSpPr/>
          <p:nvPr/>
        </p:nvSpPr>
        <p:spPr>
          <a:xfrm>
            <a:off x="256032" y="1170432"/>
            <a:ext cx="73152" cy="1188720"/>
          </a:xfrm>
          <a:prstGeom prst="rect">
            <a:avLst/>
          </a:prstGeom>
          <a:solidFill>
            <a:srgbClr val="005A9E"/>
          </a:solidFill>
          <a:ln w="12700">
            <a:solidFill>
              <a:srgbClr val="005A9E"/>
            </a:solidFill>
            <a:prstDash val="solid"/>
          </a:ln>
        </p:spPr>
      </p:sp>
      <p:sp>
        <p:nvSpPr>
          <p:cNvPr id="15" name="Text 13"/>
          <p:cNvSpPr/>
          <p:nvPr/>
        </p:nvSpPr>
        <p:spPr>
          <a:xfrm>
            <a:off x="365760" y="1216152"/>
            <a:ext cx="1837944" cy="1097280"/>
          </a:xfrm>
          <a:prstGeom prst="rect">
            <a:avLst/>
          </a:prstGeom>
          <a:noFill/>
          <a:ln/>
        </p:spPr>
        <p:txBody>
          <a:bodyPr wrap="square" lIns="0" tIns="0" rIns="0" bIns="0" rtlCol="0" anchor="ctr"/>
          <a:lstStyle/>
          <a:p>
            <a:pPr marL="0" indent="0">
              <a:buNone/>
            </a:pPr>
            <a:r>
              <a:rPr lang="en-US" sz="800" b="1" dirty="0">
                <a:solidFill>
                  <a:srgbClr val="005A9E"/>
                </a:solidFill>
                <a:latin typeface="Calibri" pitchFamily="34" charset="0"/>
                <a:ea typeface="Calibri" pitchFamily="34" charset="-122"/>
                <a:cs typeface="Calibri" pitchFamily="34" charset="-120"/>
              </a:rPr>
              <a:t>Eficiencia y Resultados Contractuales</a:t>
            </a:r>
            <a:endParaRPr lang="en-US" sz="800" dirty="0"/>
          </a:p>
          <a:p>
            <a:pPr marL="0" indent="0">
              <a:buNone/>
            </a:pPr>
            <a:r>
              <a:rPr lang="en-US" sz="800" b="1" dirty="0">
                <a:solidFill>
                  <a:srgbClr val="005A9E"/>
                </a:solidFill>
                <a:latin typeface="Calibri" pitchFamily="34" charset="0"/>
                <a:ea typeface="Calibri" pitchFamily="34" charset="-122"/>
                <a:cs typeface="Calibri" pitchFamily="34" charset="-120"/>
              </a:rPr>
              <a:t>(20%)</a:t>
            </a:r>
            <a:endParaRPr lang="en-US" sz="800" dirty="0"/>
          </a:p>
        </p:txBody>
      </p:sp>
      <p:sp>
        <p:nvSpPr>
          <p:cNvPr id="16" name="Shape 14"/>
          <p:cNvSpPr/>
          <p:nvPr/>
        </p:nvSpPr>
        <p:spPr>
          <a:xfrm>
            <a:off x="2286000" y="1170432"/>
            <a:ext cx="2523744" cy="1188720"/>
          </a:xfrm>
          <a:prstGeom prst="rect">
            <a:avLst/>
          </a:prstGeom>
          <a:solidFill>
            <a:srgbClr val="FFFFFF"/>
          </a:solidFill>
          <a:ln w="6350">
            <a:solidFill>
              <a:srgbClr val="E2E8F0"/>
            </a:solidFill>
            <a:prstDash val="solid"/>
          </a:ln>
        </p:spPr>
      </p:sp>
      <p:sp>
        <p:nvSpPr>
          <p:cNvPr id="17" name="Text 15"/>
          <p:cNvSpPr/>
          <p:nvPr/>
        </p:nvSpPr>
        <p:spPr>
          <a:xfrm>
            <a:off x="2359152" y="1216152"/>
            <a:ext cx="2377440" cy="1097280"/>
          </a:xfrm>
          <a:prstGeom prst="rect">
            <a:avLst/>
          </a:prstGeom>
          <a:noFill/>
          <a:ln/>
        </p:spPr>
        <p:txBody>
          <a:bodyPr wrap="square" lIns="0" tIns="0" rIns="0" bIns="0" rtlCol="0" anchor="ctr"/>
          <a:lstStyle/>
          <a:p>
            <a:pPr marL="0" indent="0">
              <a:buNone/>
            </a:pPr>
            <a:r>
              <a:rPr lang="en-US" sz="850" dirty="0">
                <a:solidFill>
                  <a:srgbClr val="333333"/>
                </a:solidFill>
                <a:latin typeface="Calibri" pitchFamily="34" charset="0"/>
                <a:ea typeface="Calibri" pitchFamily="34" charset="-122"/>
                <a:cs typeface="Calibri" pitchFamily="34" charset="-120"/>
              </a:rPr>
              <a:t>5. Ahorro en licitaciones</a:t>
            </a:r>
            <a:endParaRPr lang="en-US" sz="850" dirty="0"/>
          </a:p>
          <a:p>
            <a:pPr marL="0" indent="0">
              <a:buNone/>
            </a:pPr>
            <a:endParaRPr lang="en-US" sz="850" dirty="0"/>
          </a:p>
          <a:p>
            <a:pPr marL="0" indent="0">
              <a:buNone/>
            </a:pPr>
            <a:r>
              <a:rPr lang="en-US" sz="850" dirty="0">
                <a:solidFill>
                  <a:srgbClr val="333333"/>
                </a:solidFill>
                <a:latin typeface="Calibri" pitchFamily="34" charset="0"/>
                <a:ea typeface="Calibri" pitchFamily="34" charset="-122"/>
                <a:cs typeface="Calibri" pitchFamily="34" charset="-120"/>
              </a:rPr>
              <a:t>Ponderación: 20%</a:t>
            </a:r>
            <a:endParaRPr lang="en-US" sz="850" dirty="0"/>
          </a:p>
        </p:txBody>
      </p:sp>
      <p:sp>
        <p:nvSpPr>
          <p:cNvPr id="18" name="Shape 16"/>
          <p:cNvSpPr/>
          <p:nvPr/>
        </p:nvSpPr>
        <p:spPr>
          <a:xfrm>
            <a:off x="4846320" y="1170432"/>
            <a:ext cx="2066544" cy="1188720"/>
          </a:xfrm>
          <a:prstGeom prst="rect">
            <a:avLst/>
          </a:prstGeom>
          <a:solidFill>
            <a:srgbClr val="FFFFFF"/>
          </a:solidFill>
          <a:ln w="6350">
            <a:solidFill>
              <a:srgbClr val="E2E8F0"/>
            </a:solidFill>
            <a:prstDash val="solid"/>
          </a:ln>
        </p:spPr>
      </p:sp>
      <p:sp>
        <p:nvSpPr>
          <p:cNvPr id="19" name="Text 17"/>
          <p:cNvSpPr/>
          <p:nvPr/>
        </p:nvSpPr>
        <p:spPr>
          <a:xfrm>
            <a:off x="4919472" y="1216152"/>
            <a:ext cx="1920240" cy="1097280"/>
          </a:xfrm>
          <a:prstGeom prst="rect">
            <a:avLst/>
          </a:prstGeom>
          <a:noFill/>
          <a:ln/>
        </p:spPr>
        <p:txBody>
          <a:bodyPr wrap="square" lIns="0" tIns="0" rIns="0" bIns="0" rtlCol="0" anchor="ctr"/>
          <a:lstStyle/>
          <a:p>
            <a:pPr marL="0" indent="0">
              <a:buNone/>
            </a:pPr>
            <a:r>
              <a:rPr lang="en-US" sz="800" i="1" dirty="0">
                <a:solidFill>
                  <a:srgbClr val="1E3A5F"/>
                </a:solidFill>
                <a:latin typeface="Calibri" pitchFamily="34" charset="0"/>
                <a:ea typeface="Calibri" pitchFamily="34" charset="-122"/>
                <a:cs typeface="Calibri" pitchFamily="34" charset="-120"/>
              </a:rPr>
              <a:t>(Monto total ahorrado / Monto total adjudicado) × 100</a:t>
            </a:r>
            <a:endParaRPr lang="en-US" sz="800" dirty="0"/>
          </a:p>
          <a:p>
            <a:pPr marL="0" indent="0">
              <a:buNone/>
            </a:pPr>
            <a:endParaRPr lang="en-US" sz="800" dirty="0"/>
          </a:p>
          <a:p>
            <a:pPr marL="0" indent="0">
              <a:buNone/>
            </a:pPr>
            <a:r>
              <a:rPr lang="en-US" sz="800" i="1" dirty="0">
                <a:solidFill>
                  <a:srgbClr val="1E3A5F"/>
                </a:solidFill>
                <a:latin typeface="Calibri" pitchFamily="34" charset="0"/>
                <a:ea typeface="Calibri" pitchFamily="34" charset="-122"/>
                <a:cs typeface="Calibri" pitchFamily="34" charset="-120"/>
              </a:rPr>
              <a:t>Ahorro por ítem = (Precio prom. ofertas – Precio adjudicado) × Cantidad adjudicada</a:t>
            </a:r>
            <a:endParaRPr lang="en-US" sz="800" dirty="0"/>
          </a:p>
        </p:txBody>
      </p:sp>
      <p:sp>
        <p:nvSpPr>
          <p:cNvPr id="20" name="Shape 18"/>
          <p:cNvSpPr/>
          <p:nvPr/>
        </p:nvSpPr>
        <p:spPr>
          <a:xfrm>
            <a:off x="6949440" y="1170432"/>
            <a:ext cx="1938528" cy="1188720"/>
          </a:xfrm>
          <a:prstGeom prst="rect">
            <a:avLst/>
          </a:prstGeom>
          <a:solidFill>
            <a:srgbClr val="FFFFFF"/>
          </a:solidFill>
          <a:ln w="6350">
            <a:solidFill>
              <a:srgbClr val="E2E8F0"/>
            </a:solidFill>
            <a:prstDash val="solid"/>
          </a:ln>
        </p:spPr>
      </p:sp>
      <p:sp>
        <p:nvSpPr>
          <p:cNvPr id="21" name="Text 19"/>
          <p:cNvSpPr/>
          <p:nvPr/>
        </p:nvSpPr>
        <p:spPr>
          <a:xfrm>
            <a:off x="7022592" y="1216152"/>
            <a:ext cx="1828800" cy="1097280"/>
          </a:xfrm>
          <a:prstGeom prst="rect">
            <a:avLst/>
          </a:prstGeom>
          <a:noFill/>
          <a:ln/>
        </p:spPr>
        <p:txBody>
          <a:bodyPr wrap="square" lIns="0" tIns="0" rIns="0" bIns="0" rtlCol="0" anchor="ctr"/>
          <a:lstStyle/>
          <a:p>
            <a:pPr marL="0" indent="0">
              <a:buNone/>
            </a:pPr>
            <a:r>
              <a:rPr lang="en-US" sz="800" dirty="0">
                <a:solidFill>
                  <a:srgbClr val="333333"/>
                </a:solidFill>
                <a:latin typeface="Calibri" pitchFamily="34" charset="0"/>
                <a:ea typeface="Calibri" pitchFamily="34" charset="-122"/>
                <a:cs typeface="Calibri" pitchFamily="34" charset="-120"/>
              </a:rPr>
              <a:t>Mide el nivel de ahorro logrado en licitaciones. Una mejor planificación puede influir en mejores precios en procesos competitivos.</a:t>
            </a:r>
            <a:endParaRPr lang="en-US" sz="800" dirty="0"/>
          </a:p>
        </p:txBody>
      </p:sp>
      <p:sp>
        <p:nvSpPr>
          <p:cNvPr id="22" name="Shape 20"/>
          <p:cNvSpPr/>
          <p:nvPr/>
        </p:nvSpPr>
        <p:spPr>
          <a:xfrm>
            <a:off x="256032" y="2450592"/>
            <a:ext cx="1993392" cy="1188720"/>
          </a:xfrm>
          <a:prstGeom prst="rect">
            <a:avLst/>
          </a:prstGeom>
          <a:solidFill>
            <a:srgbClr val="FFFFFF"/>
          </a:solidFill>
          <a:ln w="6350">
            <a:solidFill>
              <a:srgbClr val="E2E8F0"/>
            </a:solidFill>
            <a:prstDash val="solid"/>
          </a:ln>
        </p:spPr>
      </p:sp>
      <p:sp>
        <p:nvSpPr>
          <p:cNvPr id="23" name="Shape 21"/>
          <p:cNvSpPr/>
          <p:nvPr/>
        </p:nvSpPr>
        <p:spPr>
          <a:xfrm>
            <a:off x="256032" y="2450592"/>
            <a:ext cx="73152" cy="1188720"/>
          </a:xfrm>
          <a:prstGeom prst="rect">
            <a:avLst/>
          </a:prstGeom>
          <a:solidFill>
            <a:srgbClr val="4DAADF"/>
          </a:solidFill>
          <a:ln w="12700">
            <a:solidFill>
              <a:srgbClr val="4DAADF"/>
            </a:solidFill>
            <a:prstDash val="solid"/>
          </a:ln>
        </p:spPr>
      </p:sp>
      <p:sp>
        <p:nvSpPr>
          <p:cNvPr id="24" name="Text 22"/>
          <p:cNvSpPr/>
          <p:nvPr/>
        </p:nvSpPr>
        <p:spPr>
          <a:xfrm>
            <a:off x="365760" y="2496312"/>
            <a:ext cx="1837944" cy="1097280"/>
          </a:xfrm>
          <a:prstGeom prst="rect">
            <a:avLst/>
          </a:prstGeom>
          <a:noFill/>
          <a:ln/>
        </p:spPr>
        <p:txBody>
          <a:bodyPr wrap="square" lIns="0" tIns="0" rIns="0" bIns="0" rtlCol="0" anchor="ctr"/>
          <a:lstStyle/>
          <a:p>
            <a:pPr marL="0" indent="0">
              <a:buNone/>
            </a:pPr>
            <a:r>
              <a:rPr lang="en-US" sz="800" b="1" dirty="0">
                <a:solidFill>
                  <a:srgbClr val="4DAADF"/>
                </a:solidFill>
                <a:latin typeface="Calibri" pitchFamily="34" charset="0"/>
                <a:ea typeface="Calibri" pitchFamily="34" charset="-122"/>
                <a:cs typeface="Calibri" pitchFamily="34" charset="-120"/>
              </a:rPr>
              <a:t>Fomento de la Innovación y Participación del Mercado</a:t>
            </a:r>
            <a:endParaRPr lang="en-US" sz="800" dirty="0"/>
          </a:p>
          <a:p>
            <a:pPr marL="0" indent="0">
              <a:buNone/>
            </a:pPr>
            <a:r>
              <a:rPr lang="en-US" sz="800" b="1" dirty="0">
                <a:solidFill>
                  <a:srgbClr val="4DAADF"/>
                </a:solidFill>
                <a:latin typeface="Calibri" pitchFamily="34" charset="0"/>
                <a:ea typeface="Calibri" pitchFamily="34" charset="-122"/>
                <a:cs typeface="Calibri" pitchFamily="34" charset="-120"/>
              </a:rPr>
              <a:t>(10%)</a:t>
            </a:r>
            <a:endParaRPr lang="en-US" sz="800" dirty="0"/>
          </a:p>
        </p:txBody>
      </p:sp>
      <p:sp>
        <p:nvSpPr>
          <p:cNvPr id="25" name="Shape 23"/>
          <p:cNvSpPr/>
          <p:nvPr/>
        </p:nvSpPr>
        <p:spPr>
          <a:xfrm>
            <a:off x="2286000" y="2450592"/>
            <a:ext cx="2523744" cy="1188720"/>
          </a:xfrm>
          <a:prstGeom prst="rect">
            <a:avLst/>
          </a:prstGeom>
          <a:solidFill>
            <a:srgbClr val="FFFFFF"/>
          </a:solidFill>
          <a:ln w="6350">
            <a:solidFill>
              <a:srgbClr val="E2E8F0"/>
            </a:solidFill>
            <a:prstDash val="solid"/>
          </a:ln>
        </p:spPr>
      </p:sp>
      <p:sp>
        <p:nvSpPr>
          <p:cNvPr id="26" name="Text 24"/>
          <p:cNvSpPr/>
          <p:nvPr/>
        </p:nvSpPr>
        <p:spPr>
          <a:xfrm>
            <a:off x="2359152" y="2496312"/>
            <a:ext cx="2377440" cy="1097280"/>
          </a:xfrm>
          <a:prstGeom prst="rect">
            <a:avLst/>
          </a:prstGeom>
          <a:noFill/>
          <a:ln/>
        </p:spPr>
        <p:txBody>
          <a:bodyPr wrap="square" lIns="0" tIns="0" rIns="0" bIns="0" rtlCol="0" anchor="ctr"/>
          <a:lstStyle/>
          <a:p>
            <a:pPr marL="0" indent="0">
              <a:buNone/>
            </a:pPr>
            <a:r>
              <a:rPr lang="en-US" sz="850" dirty="0">
                <a:solidFill>
                  <a:srgbClr val="333333"/>
                </a:solidFill>
                <a:latin typeface="Calibri" pitchFamily="34" charset="0"/>
                <a:ea typeface="Calibri" pitchFamily="34" charset="-122"/>
                <a:cs typeface="Calibri" pitchFamily="34" charset="-120"/>
              </a:rPr>
              <a:t>6. % de RFI de Innovación</a:t>
            </a:r>
            <a:endParaRPr lang="en-US" sz="850" dirty="0"/>
          </a:p>
          <a:p>
            <a:pPr marL="0" indent="0">
              <a:buNone/>
            </a:pPr>
            <a:endParaRPr lang="en-US" sz="850" dirty="0"/>
          </a:p>
          <a:p>
            <a:pPr marL="0" indent="0">
              <a:buNone/>
            </a:pPr>
            <a:r>
              <a:rPr lang="en-US" sz="850" dirty="0">
                <a:solidFill>
                  <a:srgbClr val="333333"/>
                </a:solidFill>
                <a:latin typeface="Calibri" pitchFamily="34" charset="0"/>
                <a:ea typeface="Calibri" pitchFamily="34" charset="-122"/>
                <a:cs typeface="Calibri" pitchFamily="34" charset="-120"/>
              </a:rPr>
              <a:t>Ponderación: 10%</a:t>
            </a:r>
            <a:endParaRPr lang="en-US" sz="850" dirty="0"/>
          </a:p>
        </p:txBody>
      </p:sp>
      <p:sp>
        <p:nvSpPr>
          <p:cNvPr id="27" name="Shape 25"/>
          <p:cNvSpPr/>
          <p:nvPr/>
        </p:nvSpPr>
        <p:spPr>
          <a:xfrm>
            <a:off x="4846320" y="2450592"/>
            <a:ext cx="2066544" cy="1188720"/>
          </a:xfrm>
          <a:prstGeom prst="rect">
            <a:avLst/>
          </a:prstGeom>
          <a:solidFill>
            <a:srgbClr val="FFFFFF"/>
          </a:solidFill>
          <a:ln w="6350">
            <a:solidFill>
              <a:srgbClr val="E2E8F0"/>
            </a:solidFill>
            <a:prstDash val="solid"/>
          </a:ln>
        </p:spPr>
      </p:sp>
      <p:sp>
        <p:nvSpPr>
          <p:cNvPr id="28" name="Text 26"/>
          <p:cNvSpPr/>
          <p:nvPr/>
        </p:nvSpPr>
        <p:spPr>
          <a:xfrm>
            <a:off x="4919472" y="2496312"/>
            <a:ext cx="1920240" cy="1097280"/>
          </a:xfrm>
          <a:prstGeom prst="rect">
            <a:avLst/>
          </a:prstGeom>
          <a:noFill/>
          <a:ln/>
        </p:spPr>
        <p:txBody>
          <a:bodyPr wrap="square" lIns="0" tIns="0" rIns="0" bIns="0" rtlCol="0" anchor="ctr"/>
          <a:lstStyle/>
          <a:p>
            <a:pPr marL="0" indent="0">
              <a:buNone/>
            </a:pPr>
            <a:r>
              <a:rPr lang="en-US" sz="800" i="1" dirty="0">
                <a:solidFill>
                  <a:srgbClr val="1E3A5F"/>
                </a:solidFill>
                <a:latin typeface="Calibri" pitchFamily="34" charset="0"/>
                <a:ea typeface="Calibri" pitchFamily="34" charset="-122"/>
                <a:cs typeface="Calibri" pitchFamily="34" charset="-120"/>
              </a:rPr>
              <a:t>N° de RFI de innovación / N° Total de RFI generados</a:t>
            </a:r>
            <a:endParaRPr lang="en-US" sz="800" dirty="0"/>
          </a:p>
        </p:txBody>
      </p:sp>
      <p:sp>
        <p:nvSpPr>
          <p:cNvPr id="29" name="Shape 27"/>
          <p:cNvSpPr/>
          <p:nvPr/>
        </p:nvSpPr>
        <p:spPr>
          <a:xfrm>
            <a:off x="6949440" y="2450592"/>
            <a:ext cx="1938528" cy="1188720"/>
          </a:xfrm>
          <a:prstGeom prst="rect">
            <a:avLst/>
          </a:prstGeom>
          <a:solidFill>
            <a:srgbClr val="FFFFFF"/>
          </a:solidFill>
          <a:ln w="6350">
            <a:solidFill>
              <a:srgbClr val="E2E8F0"/>
            </a:solidFill>
            <a:prstDash val="solid"/>
          </a:ln>
        </p:spPr>
      </p:sp>
      <p:sp>
        <p:nvSpPr>
          <p:cNvPr id="30" name="Text 28"/>
          <p:cNvSpPr/>
          <p:nvPr/>
        </p:nvSpPr>
        <p:spPr>
          <a:xfrm>
            <a:off x="7022592" y="2496312"/>
            <a:ext cx="1828800" cy="1097280"/>
          </a:xfrm>
          <a:prstGeom prst="rect">
            <a:avLst/>
          </a:prstGeom>
          <a:noFill/>
          <a:ln/>
        </p:spPr>
        <p:txBody>
          <a:bodyPr wrap="square" lIns="0" tIns="0" rIns="0" bIns="0" rtlCol="0" anchor="ctr"/>
          <a:lstStyle/>
          <a:p>
            <a:pPr marL="0" indent="0">
              <a:buNone/>
            </a:pPr>
            <a:r>
              <a:rPr lang="en-US" sz="800" dirty="0">
                <a:solidFill>
                  <a:srgbClr val="333333"/>
                </a:solidFill>
                <a:latin typeface="Calibri" pitchFamily="34" charset="0"/>
                <a:ea typeface="Calibri" pitchFamily="34" charset="-122"/>
                <a:cs typeface="Calibri" pitchFamily="34" charset="-120"/>
              </a:rPr>
              <a:t>Mide el uso de consultas al mercado con criterios de innovación (RFI = Request for Information).</a:t>
            </a:r>
            <a:endParaRPr lang="en-US" sz="800" dirty="0"/>
          </a:p>
        </p:txBody>
      </p:sp>
      <p:sp>
        <p:nvSpPr>
          <p:cNvPr id="31" name="Shape 29"/>
          <p:cNvSpPr/>
          <p:nvPr/>
        </p:nvSpPr>
        <p:spPr>
          <a:xfrm>
            <a:off x="256032" y="3840480"/>
            <a:ext cx="8631936" cy="1051560"/>
          </a:xfrm>
          <a:prstGeom prst="rect">
            <a:avLst/>
          </a:prstGeom>
          <a:solidFill>
            <a:srgbClr val="EBF2FF"/>
          </a:solidFill>
          <a:ln w="6350">
            <a:solidFill>
              <a:srgbClr val="004B8D"/>
            </a:solidFill>
            <a:prstDash val="solid"/>
          </a:ln>
        </p:spPr>
      </p:sp>
      <p:sp>
        <p:nvSpPr>
          <p:cNvPr id="32" name="Text 30"/>
          <p:cNvSpPr/>
          <p:nvPr/>
        </p:nvSpPr>
        <p:spPr>
          <a:xfrm>
            <a:off x="411480" y="3877056"/>
            <a:ext cx="8229600" cy="256032"/>
          </a:xfrm>
          <a:prstGeom prst="rect">
            <a:avLst/>
          </a:prstGeom>
          <a:noFill/>
          <a:ln/>
        </p:spPr>
        <p:txBody>
          <a:bodyPr wrap="square" lIns="0" tIns="0" rIns="0" bIns="0" rtlCol="0" anchor="ctr"/>
          <a:lstStyle/>
          <a:p>
            <a:pPr marL="0" indent="0">
              <a:buNone/>
            </a:pPr>
            <a:r>
              <a:rPr lang="en-US" sz="1000" b="1" dirty="0">
                <a:solidFill>
                  <a:srgbClr val="00234E"/>
                </a:solidFill>
                <a:latin typeface="Calibri" pitchFamily="34" charset="0"/>
                <a:ea typeface="Calibri" pitchFamily="34" charset="-122"/>
                <a:cs typeface="Calibri" pitchFamily="34" charset="-120"/>
              </a:rPr>
              <a:t>Resumen de Ponderaciones por Dimensión</a:t>
            </a:r>
            <a:endParaRPr lang="en-US" sz="1000" dirty="0"/>
          </a:p>
        </p:txBody>
      </p:sp>
      <p:sp>
        <p:nvSpPr>
          <p:cNvPr id="33" name="Text 31"/>
          <p:cNvSpPr/>
          <p:nvPr/>
        </p:nvSpPr>
        <p:spPr>
          <a:xfrm>
            <a:off x="411480" y="4178808"/>
            <a:ext cx="4114800" cy="256032"/>
          </a:xfrm>
          <a:prstGeom prst="rect">
            <a:avLst/>
          </a:prstGeom>
          <a:noFill/>
          <a:ln/>
        </p:spPr>
        <p:txBody>
          <a:bodyPr wrap="square" lIns="0" tIns="0" rIns="0" bIns="0" rtlCol="0" anchor="ctr"/>
          <a:lstStyle/>
          <a:p>
            <a:pPr marL="0" indent="0">
              <a:buNone/>
            </a:pPr>
            <a:r>
              <a:rPr lang="en-US" sz="900" b="1" dirty="0">
                <a:solidFill>
                  <a:srgbClr val="00234E"/>
                </a:solidFill>
                <a:latin typeface="Calibri" pitchFamily="34" charset="0"/>
                <a:ea typeface="Calibri" pitchFamily="34" charset="-122"/>
                <a:cs typeface="Calibri" pitchFamily="34" charset="-120"/>
              </a:rPr>
              <a:t>50% — </a:t>
            </a:r>
            <a:r>
              <a:rPr lang="en-US" sz="900" dirty="0">
                <a:solidFill>
                  <a:srgbClr val="333333"/>
                </a:solidFill>
                <a:latin typeface="Calibri" pitchFamily="34" charset="0"/>
                <a:ea typeface="Calibri" pitchFamily="34" charset="-122"/>
                <a:cs typeface="Calibri" pitchFamily="34" charset="-120"/>
              </a:rPr>
              <a:t>Planificación y Coherencia del PAC</a:t>
            </a:r>
            <a:endParaRPr lang="en-US" sz="900" dirty="0"/>
          </a:p>
        </p:txBody>
      </p:sp>
      <p:sp>
        <p:nvSpPr>
          <p:cNvPr id="34" name="Text 32"/>
          <p:cNvSpPr/>
          <p:nvPr/>
        </p:nvSpPr>
        <p:spPr>
          <a:xfrm>
            <a:off x="4709160" y="4178808"/>
            <a:ext cx="4114800" cy="256032"/>
          </a:xfrm>
          <a:prstGeom prst="rect">
            <a:avLst/>
          </a:prstGeom>
          <a:noFill/>
          <a:ln/>
        </p:spPr>
        <p:txBody>
          <a:bodyPr wrap="square" lIns="0" tIns="0" rIns="0" bIns="0" rtlCol="0" anchor="ctr"/>
          <a:lstStyle/>
          <a:p>
            <a:pPr marL="0" indent="0">
              <a:buNone/>
            </a:pPr>
            <a:r>
              <a:rPr lang="en-US" sz="900" b="1" dirty="0">
                <a:solidFill>
                  <a:srgbClr val="00234E"/>
                </a:solidFill>
                <a:latin typeface="Calibri" pitchFamily="34" charset="0"/>
                <a:ea typeface="Calibri" pitchFamily="34" charset="-122"/>
                <a:cs typeface="Calibri" pitchFamily="34" charset="-120"/>
              </a:rPr>
              <a:t>20% — </a:t>
            </a:r>
            <a:r>
              <a:rPr lang="en-US" sz="900" dirty="0">
                <a:solidFill>
                  <a:srgbClr val="333333"/>
                </a:solidFill>
                <a:latin typeface="Calibri" pitchFamily="34" charset="0"/>
                <a:ea typeface="Calibri" pitchFamily="34" charset="-122"/>
                <a:cs typeface="Calibri" pitchFamily="34" charset="-120"/>
              </a:rPr>
              <a:t>Satisfacción y Cumplimiento del Objetivo Público</a:t>
            </a:r>
            <a:endParaRPr lang="en-US" sz="900" dirty="0"/>
          </a:p>
        </p:txBody>
      </p:sp>
      <p:sp>
        <p:nvSpPr>
          <p:cNvPr id="35" name="Text 33"/>
          <p:cNvSpPr/>
          <p:nvPr/>
        </p:nvSpPr>
        <p:spPr>
          <a:xfrm>
            <a:off x="411480" y="4489704"/>
            <a:ext cx="4114800" cy="256032"/>
          </a:xfrm>
          <a:prstGeom prst="rect">
            <a:avLst/>
          </a:prstGeom>
          <a:noFill/>
          <a:ln/>
        </p:spPr>
        <p:txBody>
          <a:bodyPr wrap="square" lIns="0" tIns="0" rIns="0" bIns="0" rtlCol="0" anchor="ctr"/>
          <a:lstStyle/>
          <a:p>
            <a:pPr marL="0" indent="0">
              <a:buNone/>
            </a:pPr>
            <a:r>
              <a:rPr lang="en-US" sz="900" b="1" dirty="0">
                <a:solidFill>
                  <a:srgbClr val="00234E"/>
                </a:solidFill>
                <a:latin typeface="Calibri" pitchFamily="34" charset="0"/>
                <a:ea typeface="Calibri" pitchFamily="34" charset="-122"/>
                <a:cs typeface="Calibri" pitchFamily="34" charset="-120"/>
              </a:rPr>
              <a:t>20% — </a:t>
            </a:r>
            <a:r>
              <a:rPr lang="en-US" sz="900" dirty="0">
                <a:solidFill>
                  <a:srgbClr val="333333"/>
                </a:solidFill>
                <a:latin typeface="Calibri" pitchFamily="34" charset="0"/>
                <a:ea typeface="Calibri" pitchFamily="34" charset="-122"/>
                <a:cs typeface="Calibri" pitchFamily="34" charset="-120"/>
              </a:rPr>
              <a:t>Eficiencia y Resultados Contractuales</a:t>
            </a:r>
            <a:endParaRPr lang="en-US" sz="900" dirty="0"/>
          </a:p>
        </p:txBody>
      </p:sp>
      <p:sp>
        <p:nvSpPr>
          <p:cNvPr id="36" name="Text 34"/>
          <p:cNvSpPr/>
          <p:nvPr/>
        </p:nvSpPr>
        <p:spPr>
          <a:xfrm>
            <a:off x="4709160" y="4489704"/>
            <a:ext cx="4114800" cy="256032"/>
          </a:xfrm>
          <a:prstGeom prst="rect">
            <a:avLst/>
          </a:prstGeom>
          <a:noFill/>
          <a:ln/>
        </p:spPr>
        <p:txBody>
          <a:bodyPr wrap="square" lIns="0" tIns="0" rIns="0" bIns="0" rtlCol="0" anchor="ctr"/>
          <a:lstStyle/>
          <a:p>
            <a:pPr marL="0" indent="0">
              <a:buNone/>
            </a:pPr>
            <a:r>
              <a:rPr lang="en-US" sz="900" b="1" dirty="0">
                <a:solidFill>
                  <a:srgbClr val="00234E"/>
                </a:solidFill>
                <a:latin typeface="Calibri" pitchFamily="34" charset="0"/>
                <a:ea typeface="Calibri" pitchFamily="34" charset="-122"/>
                <a:cs typeface="Calibri" pitchFamily="34" charset="-120"/>
              </a:rPr>
              <a:t>10% — </a:t>
            </a:r>
            <a:r>
              <a:rPr lang="en-US" sz="900" dirty="0">
                <a:solidFill>
                  <a:srgbClr val="333333"/>
                </a:solidFill>
                <a:latin typeface="Calibri" pitchFamily="34" charset="0"/>
                <a:ea typeface="Calibri" pitchFamily="34" charset="-122"/>
                <a:cs typeface="Calibri" pitchFamily="34" charset="-120"/>
              </a:rPr>
              <a:t>Fomento de la Innovación y Participación del Mercado</a:t>
            </a:r>
            <a:endParaRPr lang="en-US" sz="900" dirty="0"/>
          </a:p>
        </p:txBody>
      </p:sp>
      <p:sp>
        <p:nvSpPr>
          <p:cNvPr id="37" name="Shape 35"/>
          <p:cNvSpPr/>
          <p:nvPr/>
        </p:nvSpPr>
        <p:spPr>
          <a:xfrm>
            <a:off x="0" y="5070348"/>
            <a:ext cx="9144000" cy="73152"/>
          </a:xfrm>
          <a:prstGeom prst="rect">
            <a:avLst/>
          </a:prstGeom>
          <a:solidFill>
            <a:srgbClr val="00234E"/>
          </a:solidFill>
          <a:ln w="12700">
            <a:solidFill>
              <a:srgbClr val="00234E"/>
            </a:solidFill>
            <a:prstDash val="solid"/>
          </a:ln>
        </p:spPr>
      </p:sp>
      <p:sp>
        <p:nvSpPr>
          <p:cNvPr id="38" name="Text 36"/>
          <p:cNvSpPr/>
          <p:nvPr/>
        </p:nvSpPr>
        <p:spPr>
          <a:xfrm>
            <a:off x="274320" y="4919472"/>
            <a:ext cx="8595360" cy="164592"/>
          </a:xfrm>
          <a:prstGeom prst="rect">
            <a:avLst/>
          </a:prstGeom>
          <a:noFill/>
          <a:ln/>
        </p:spPr>
        <p:txBody>
          <a:bodyPr wrap="square" lIns="0" tIns="0" rIns="0" bIns="0" rtlCol="0" anchor="ctr"/>
          <a:lstStyle/>
          <a:p>
            <a:pPr marL="0" indent="0" algn="r">
              <a:buNone/>
            </a:pPr>
            <a:r>
              <a:rPr lang="en-US" sz="800" dirty="0">
                <a:solidFill>
                  <a:srgbClr val="AAAAAA"/>
                </a:solidFill>
                <a:latin typeface="Calibri" pitchFamily="34" charset="0"/>
                <a:ea typeface="Calibri" pitchFamily="34" charset="-122"/>
                <a:cs typeface="Calibri" pitchFamily="34" charset="-120"/>
              </a:rPr>
              <a:t>Subdepartamento de Abastecimiento — Servicio de Salud Osorno</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5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234E"/>
          </a:solidFill>
          <a:ln w="12700">
            <a:solidFill>
              <a:srgbClr val="00234E"/>
            </a:solidFill>
            <a:prstDash val="solid"/>
          </a:ln>
        </p:spPr>
      </p:sp>
      <p:sp>
        <p:nvSpPr>
          <p:cNvPr id="3" name="Text 1"/>
          <p:cNvSpPr/>
          <p:nvPr/>
        </p:nvSpPr>
        <p:spPr>
          <a:xfrm>
            <a:off x="457200" y="137160"/>
            <a:ext cx="8229600" cy="457200"/>
          </a:xfrm>
          <a:prstGeom prst="rect">
            <a:avLst/>
          </a:prstGeom>
          <a:noFill/>
          <a:ln/>
        </p:spPr>
        <p:txBody>
          <a:bodyPr wrap="square" lIns="0" tIns="0" rIns="0" bIns="0" rtlCol="0" anchor="ctr"/>
          <a:lstStyle/>
          <a:p>
            <a:pPr marL="0" indent="0" algn="l">
              <a:buNone/>
            </a:pPr>
            <a:r>
              <a:rPr lang="en-US" sz="2200" b="1" dirty="0">
                <a:solidFill>
                  <a:srgbClr val="00234E"/>
                </a:solidFill>
                <a:latin typeface="Calibri" pitchFamily="34" charset="0"/>
                <a:ea typeface="Calibri" pitchFamily="34" charset="-122"/>
                <a:cs typeface="Calibri" pitchFamily="34" charset="-120"/>
              </a:rPr>
              <a:t>Resultados Esperados de la Evaluación PAC</a:t>
            </a:r>
            <a:endParaRPr lang="en-US" sz="2200" dirty="0"/>
          </a:p>
        </p:txBody>
      </p:sp>
      <p:sp>
        <p:nvSpPr>
          <p:cNvPr id="4" name="Text 2"/>
          <p:cNvSpPr/>
          <p:nvPr/>
        </p:nvSpPr>
        <p:spPr>
          <a:xfrm>
            <a:off x="457200" y="576072"/>
            <a:ext cx="8229600" cy="228600"/>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Res. Exenta N°188/2026 — Sección 8 | ¿Qué busca lograr esta metodología?</a:t>
            </a:r>
            <a:endParaRPr lang="en-US" sz="1000" dirty="0"/>
          </a:p>
        </p:txBody>
      </p:sp>
      <p:sp>
        <p:nvSpPr>
          <p:cNvPr id="5" name="Shape 3"/>
          <p:cNvSpPr/>
          <p:nvPr/>
        </p:nvSpPr>
        <p:spPr>
          <a:xfrm>
            <a:off x="256032" y="960120"/>
            <a:ext cx="8631936" cy="73152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6" name="Shape 4"/>
          <p:cNvSpPr/>
          <p:nvPr/>
        </p:nvSpPr>
        <p:spPr>
          <a:xfrm>
            <a:off x="256032" y="960120"/>
            <a:ext cx="502920" cy="731520"/>
          </a:xfrm>
          <a:prstGeom prst="rect">
            <a:avLst/>
          </a:prstGeom>
          <a:solidFill>
            <a:srgbClr val="00234E"/>
          </a:solidFill>
          <a:ln w="12700">
            <a:solidFill>
              <a:srgbClr val="00234E"/>
            </a:solidFill>
            <a:prstDash val="solid"/>
          </a:ln>
        </p:spPr>
      </p:sp>
      <p:sp>
        <p:nvSpPr>
          <p:cNvPr id="7" name="Text 5"/>
          <p:cNvSpPr/>
          <p:nvPr/>
        </p:nvSpPr>
        <p:spPr>
          <a:xfrm>
            <a:off x="256032" y="1143000"/>
            <a:ext cx="50292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01</a:t>
            </a:r>
            <a:endParaRPr lang="en-US" sz="1600" dirty="0"/>
          </a:p>
        </p:txBody>
      </p:sp>
      <p:sp>
        <p:nvSpPr>
          <p:cNvPr id="8" name="Text 6"/>
          <p:cNvSpPr/>
          <p:nvPr/>
        </p:nvSpPr>
        <p:spPr>
          <a:xfrm>
            <a:off x="841248" y="1014984"/>
            <a:ext cx="7955280" cy="274320"/>
          </a:xfrm>
          <a:prstGeom prst="rect">
            <a:avLst/>
          </a:prstGeom>
          <a:noFill/>
          <a:ln/>
        </p:spPr>
        <p:txBody>
          <a:bodyPr wrap="square" lIns="0" tIns="0" rIns="0" bIns="0" rtlCol="0" anchor="ctr"/>
          <a:lstStyle/>
          <a:p>
            <a:pPr marL="0" indent="0">
              <a:buNone/>
            </a:pPr>
            <a:r>
              <a:rPr lang="en-US" sz="1100" b="1" dirty="0">
                <a:solidFill>
                  <a:srgbClr val="00234E"/>
                </a:solidFill>
                <a:latin typeface="Calibri" pitchFamily="34" charset="0"/>
                <a:ea typeface="Calibri" pitchFamily="34" charset="-122"/>
                <a:cs typeface="Calibri" pitchFamily="34" charset="-120"/>
              </a:rPr>
              <a:t>Medición estandarizada del grado de cumplimiento del PAC</a:t>
            </a:r>
            <a:endParaRPr lang="en-US" sz="1100" dirty="0"/>
          </a:p>
        </p:txBody>
      </p:sp>
      <p:sp>
        <p:nvSpPr>
          <p:cNvPr id="9" name="Text 7"/>
          <p:cNvSpPr/>
          <p:nvPr/>
        </p:nvSpPr>
        <p:spPr>
          <a:xfrm>
            <a:off x="841248" y="1325880"/>
            <a:ext cx="7863840" cy="329184"/>
          </a:xfrm>
          <a:prstGeom prst="rect">
            <a:avLst/>
          </a:prstGeom>
          <a:noFill/>
          <a:ln/>
        </p:spPr>
        <p:txBody>
          <a:bodyPr wrap="square" lIns="0" tIns="0" rIns="0" bIns="0" rtlCol="0" anchor="ctr"/>
          <a:lstStyle/>
          <a:p>
            <a:pPr marL="0" indent="0">
              <a:buNone/>
            </a:pPr>
            <a:r>
              <a:rPr lang="en-US" sz="900" dirty="0">
                <a:solidFill>
                  <a:srgbClr val="333333"/>
                </a:solidFill>
                <a:latin typeface="Calibri" pitchFamily="34" charset="0"/>
                <a:ea typeface="Calibri" pitchFamily="34" charset="-122"/>
                <a:cs typeface="Calibri" pitchFamily="34" charset="-120"/>
              </a:rPr>
              <a:t>Permite comparar el desempeño de todos los organismos públicos bajo los mismos criterios, evitando interpretaciones distintas entre instituciones.</a:t>
            </a:r>
            <a:endParaRPr lang="en-US" sz="900" dirty="0"/>
          </a:p>
        </p:txBody>
      </p:sp>
      <p:sp>
        <p:nvSpPr>
          <p:cNvPr id="10" name="Shape 8"/>
          <p:cNvSpPr/>
          <p:nvPr/>
        </p:nvSpPr>
        <p:spPr>
          <a:xfrm>
            <a:off x="256032" y="1764792"/>
            <a:ext cx="8631936" cy="73152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11" name="Shape 9"/>
          <p:cNvSpPr/>
          <p:nvPr/>
        </p:nvSpPr>
        <p:spPr>
          <a:xfrm>
            <a:off x="256032" y="1764792"/>
            <a:ext cx="502920" cy="731520"/>
          </a:xfrm>
          <a:prstGeom prst="rect">
            <a:avLst/>
          </a:prstGeom>
          <a:solidFill>
            <a:srgbClr val="004B8D"/>
          </a:solidFill>
          <a:ln w="12700">
            <a:solidFill>
              <a:srgbClr val="004B8D"/>
            </a:solidFill>
            <a:prstDash val="solid"/>
          </a:ln>
        </p:spPr>
      </p:sp>
      <p:sp>
        <p:nvSpPr>
          <p:cNvPr id="12" name="Text 10"/>
          <p:cNvSpPr/>
          <p:nvPr/>
        </p:nvSpPr>
        <p:spPr>
          <a:xfrm>
            <a:off x="256032" y="1947672"/>
            <a:ext cx="50292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02</a:t>
            </a:r>
            <a:endParaRPr lang="en-US" sz="1600" dirty="0"/>
          </a:p>
        </p:txBody>
      </p:sp>
      <p:sp>
        <p:nvSpPr>
          <p:cNvPr id="13" name="Text 11"/>
          <p:cNvSpPr/>
          <p:nvPr/>
        </p:nvSpPr>
        <p:spPr>
          <a:xfrm>
            <a:off x="841248" y="1819656"/>
            <a:ext cx="7955280" cy="274320"/>
          </a:xfrm>
          <a:prstGeom prst="rect">
            <a:avLst/>
          </a:prstGeom>
          <a:noFill/>
          <a:ln/>
        </p:spPr>
        <p:txBody>
          <a:bodyPr wrap="square" lIns="0" tIns="0" rIns="0" bIns="0" rtlCol="0" anchor="ctr"/>
          <a:lstStyle/>
          <a:p>
            <a:pPr marL="0" indent="0">
              <a:buNone/>
            </a:pPr>
            <a:r>
              <a:rPr lang="en-US" sz="1100" b="1" dirty="0">
                <a:solidFill>
                  <a:srgbClr val="004B8D"/>
                </a:solidFill>
                <a:latin typeface="Calibri" pitchFamily="34" charset="0"/>
                <a:ea typeface="Calibri" pitchFamily="34" charset="-122"/>
                <a:cs typeface="Calibri" pitchFamily="34" charset="-120"/>
              </a:rPr>
              <a:t>Identificación de brechas en planificación y ejecución de compras</a:t>
            </a:r>
            <a:endParaRPr lang="en-US" sz="1100" dirty="0"/>
          </a:p>
        </p:txBody>
      </p:sp>
      <p:sp>
        <p:nvSpPr>
          <p:cNvPr id="14" name="Text 12"/>
          <p:cNvSpPr/>
          <p:nvPr/>
        </p:nvSpPr>
        <p:spPr>
          <a:xfrm>
            <a:off x="841248" y="2130552"/>
            <a:ext cx="7863840" cy="329184"/>
          </a:xfrm>
          <a:prstGeom prst="rect">
            <a:avLst/>
          </a:prstGeom>
          <a:noFill/>
          <a:ln/>
        </p:spPr>
        <p:txBody>
          <a:bodyPr wrap="square" lIns="0" tIns="0" rIns="0" bIns="0" rtlCol="0" anchor="ctr"/>
          <a:lstStyle/>
          <a:p>
            <a:pPr marL="0" indent="0">
              <a:buNone/>
            </a:pPr>
            <a:r>
              <a:rPr lang="en-US" sz="900" dirty="0">
                <a:solidFill>
                  <a:srgbClr val="333333"/>
                </a:solidFill>
                <a:latin typeface="Calibri" pitchFamily="34" charset="0"/>
                <a:ea typeface="Calibri" pitchFamily="34" charset="-122"/>
                <a:cs typeface="Calibri" pitchFamily="34" charset="-120"/>
              </a:rPr>
              <a:t>Señala dónde existen desajustes entre lo que se planificó y lo que efectivamente se ejecutó, entregando información concreta para la toma de decisiones.</a:t>
            </a:r>
            <a:endParaRPr lang="en-US" sz="900" dirty="0"/>
          </a:p>
        </p:txBody>
      </p:sp>
      <p:sp>
        <p:nvSpPr>
          <p:cNvPr id="15" name="Shape 13"/>
          <p:cNvSpPr/>
          <p:nvPr/>
        </p:nvSpPr>
        <p:spPr>
          <a:xfrm>
            <a:off x="256032" y="2569464"/>
            <a:ext cx="8631936" cy="73152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16" name="Shape 14"/>
          <p:cNvSpPr/>
          <p:nvPr/>
        </p:nvSpPr>
        <p:spPr>
          <a:xfrm>
            <a:off x="256032" y="2569464"/>
            <a:ext cx="502920" cy="731520"/>
          </a:xfrm>
          <a:prstGeom prst="rect">
            <a:avLst/>
          </a:prstGeom>
          <a:solidFill>
            <a:srgbClr val="005A9E"/>
          </a:solidFill>
          <a:ln w="12700">
            <a:solidFill>
              <a:srgbClr val="005A9E"/>
            </a:solidFill>
            <a:prstDash val="solid"/>
          </a:ln>
        </p:spPr>
      </p:sp>
      <p:sp>
        <p:nvSpPr>
          <p:cNvPr id="17" name="Text 15"/>
          <p:cNvSpPr/>
          <p:nvPr/>
        </p:nvSpPr>
        <p:spPr>
          <a:xfrm>
            <a:off x="256032" y="2752344"/>
            <a:ext cx="50292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03</a:t>
            </a:r>
            <a:endParaRPr lang="en-US" sz="1600" dirty="0"/>
          </a:p>
        </p:txBody>
      </p:sp>
      <p:sp>
        <p:nvSpPr>
          <p:cNvPr id="18" name="Text 16"/>
          <p:cNvSpPr/>
          <p:nvPr/>
        </p:nvSpPr>
        <p:spPr>
          <a:xfrm>
            <a:off x="841248" y="2624328"/>
            <a:ext cx="7955280" cy="274320"/>
          </a:xfrm>
          <a:prstGeom prst="rect">
            <a:avLst/>
          </a:prstGeom>
          <a:noFill/>
          <a:ln/>
        </p:spPr>
        <p:txBody>
          <a:bodyPr wrap="square" lIns="0" tIns="0" rIns="0" bIns="0" rtlCol="0" anchor="ctr"/>
          <a:lstStyle/>
          <a:p>
            <a:pPr marL="0" indent="0">
              <a:buNone/>
            </a:pPr>
            <a:r>
              <a:rPr lang="en-US" sz="1100" b="1" dirty="0">
                <a:solidFill>
                  <a:srgbClr val="005A9E"/>
                </a:solidFill>
                <a:latin typeface="Calibri" pitchFamily="34" charset="0"/>
                <a:ea typeface="Calibri" pitchFamily="34" charset="-122"/>
                <a:cs typeface="Calibri" pitchFamily="34" charset="-120"/>
              </a:rPr>
              <a:t>Generación de aprendizajes institucionales para el PAC</a:t>
            </a:r>
            <a:endParaRPr lang="en-US" sz="1100" dirty="0"/>
          </a:p>
        </p:txBody>
      </p:sp>
      <p:sp>
        <p:nvSpPr>
          <p:cNvPr id="19" name="Text 17"/>
          <p:cNvSpPr/>
          <p:nvPr/>
        </p:nvSpPr>
        <p:spPr>
          <a:xfrm>
            <a:off x="841248" y="2935224"/>
            <a:ext cx="7863840" cy="329184"/>
          </a:xfrm>
          <a:prstGeom prst="rect">
            <a:avLst/>
          </a:prstGeom>
          <a:noFill/>
          <a:ln/>
        </p:spPr>
        <p:txBody>
          <a:bodyPr wrap="square" lIns="0" tIns="0" rIns="0" bIns="0" rtlCol="0" anchor="ctr"/>
          <a:lstStyle/>
          <a:p>
            <a:pPr marL="0" indent="0">
              <a:buNone/>
            </a:pPr>
            <a:r>
              <a:rPr lang="en-US" sz="900" dirty="0">
                <a:solidFill>
                  <a:srgbClr val="333333"/>
                </a:solidFill>
                <a:latin typeface="Calibri" pitchFamily="34" charset="0"/>
                <a:ea typeface="Calibri" pitchFamily="34" charset="-122"/>
                <a:cs typeface="Calibri" pitchFamily="34" charset="-120"/>
              </a:rPr>
              <a:t>Los resultados permiten a cada institución identificar sus áreas débiles y construir planes de mejora específicos para el ciclo de compras del año siguiente.</a:t>
            </a:r>
            <a:endParaRPr lang="en-US" sz="900" dirty="0"/>
          </a:p>
        </p:txBody>
      </p:sp>
      <p:sp>
        <p:nvSpPr>
          <p:cNvPr id="20" name="Shape 18"/>
          <p:cNvSpPr/>
          <p:nvPr/>
        </p:nvSpPr>
        <p:spPr>
          <a:xfrm>
            <a:off x="256032" y="3374136"/>
            <a:ext cx="8631936" cy="73152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21" name="Shape 19"/>
          <p:cNvSpPr/>
          <p:nvPr/>
        </p:nvSpPr>
        <p:spPr>
          <a:xfrm>
            <a:off x="256032" y="3374136"/>
            <a:ext cx="502920" cy="731520"/>
          </a:xfrm>
          <a:prstGeom prst="rect">
            <a:avLst/>
          </a:prstGeom>
          <a:solidFill>
            <a:srgbClr val="4DAADF"/>
          </a:solidFill>
          <a:ln w="12700">
            <a:solidFill>
              <a:srgbClr val="4DAADF"/>
            </a:solidFill>
            <a:prstDash val="solid"/>
          </a:ln>
        </p:spPr>
      </p:sp>
      <p:sp>
        <p:nvSpPr>
          <p:cNvPr id="22" name="Text 20"/>
          <p:cNvSpPr/>
          <p:nvPr/>
        </p:nvSpPr>
        <p:spPr>
          <a:xfrm>
            <a:off x="256032" y="3557016"/>
            <a:ext cx="50292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04</a:t>
            </a:r>
            <a:endParaRPr lang="en-US" sz="1600" dirty="0"/>
          </a:p>
        </p:txBody>
      </p:sp>
      <p:sp>
        <p:nvSpPr>
          <p:cNvPr id="23" name="Text 21"/>
          <p:cNvSpPr/>
          <p:nvPr/>
        </p:nvSpPr>
        <p:spPr>
          <a:xfrm>
            <a:off x="841248" y="3429000"/>
            <a:ext cx="7955280" cy="274320"/>
          </a:xfrm>
          <a:prstGeom prst="rect">
            <a:avLst/>
          </a:prstGeom>
          <a:noFill/>
          <a:ln/>
        </p:spPr>
        <p:txBody>
          <a:bodyPr wrap="square" lIns="0" tIns="0" rIns="0" bIns="0" rtlCol="0" anchor="ctr"/>
          <a:lstStyle/>
          <a:p>
            <a:pPr marL="0" indent="0">
              <a:buNone/>
            </a:pPr>
            <a:r>
              <a:rPr lang="en-US" sz="1100" b="1" dirty="0">
                <a:solidFill>
                  <a:srgbClr val="4DAADF"/>
                </a:solidFill>
                <a:latin typeface="Calibri" pitchFamily="34" charset="0"/>
                <a:ea typeface="Calibri" pitchFamily="34" charset="-122"/>
                <a:cs typeface="Calibri" pitchFamily="34" charset="-120"/>
              </a:rPr>
              <a:t>Resultados comparables entre organismos públicos</a:t>
            </a:r>
            <a:endParaRPr lang="en-US" sz="1100" dirty="0"/>
          </a:p>
        </p:txBody>
      </p:sp>
      <p:sp>
        <p:nvSpPr>
          <p:cNvPr id="24" name="Text 22"/>
          <p:cNvSpPr/>
          <p:nvPr/>
        </p:nvSpPr>
        <p:spPr>
          <a:xfrm>
            <a:off x="841248" y="3739896"/>
            <a:ext cx="7863840" cy="329184"/>
          </a:xfrm>
          <a:prstGeom prst="rect">
            <a:avLst/>
          </a:prstGeom>
          <a:noFill/>
          <a:ln/>
        </p:spPr>
        <p:txBody>
          <a:bodyPr wrap="square" lIns="0" tIns="0" rIns="0" bIns="0" rtlCol="0" anchor="ctr"/>
          <a:lstStyle/>
          <a:p>
            <a:pPr marL="0" indent="0">
              <a:buNone/>
            </a:pPr>
            <a:r>
              <a:rPr lang="en-US" sz="900" dirty="0">
                <a:solidFill>
                  <a:srgbClr val="333333"/>
                </a:solidFill>
                <a:latin typeface="Calibri" pitchFamily="34" charset="0"/>
                <a:ea typeface="Calibri" pitchFamily="34" charset="-122"/>
                <a:cs typeface="Calibri" pitchFamily="34" charset="-120"/>
              </a:rPr>
              <a:t>Al utilizar una metodología uniforme, es posible conocer cómo se posiciona el SSO respecto a sus pares a nivel nacional, tanto en el sector salud como en general.</a:t>
            </a:r>
            <a:endParaRPr lang="en-US" sz="900" dirty="0"/>
          </a:p>
        </p:txBody>
      </p:sp>
      <p:sp>
        <p:nvSpPr>
          <p:cNvPr id="25" name="Shape 23"/>
          <p:cNvSpPr/>
          <p:nvPr/>
        </p:nvSpPr>
        <p:spPr>
          <a:xfrm>
            <a:off x="256032" y="4178808"/>
            <a:ext cx="8631936" cy="73152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26" name="Shape 24"/>
          <p:cNvSpPr/>
          <p:nvPr/>
        </p:nvSpPr>
        <p:spPr>
          <a:xfrm>
            <a:off x="256032" y="4178808"/>
            <a:ext cx="502920" cy="731520"/>
          </a:xfrm>
          <a:prstGeom prst="rect">
            <a:avLst/>
          </a:prstGeom>
          <a:solidFill>
            <a:srgbClr val="388E3C"/>
          </a:solidFill>
          <a:ln w="12700">
            <a:solidFill>
              <a:srgbClr val="388E3C"/>
            </a:solidFill>
            <a:prstDash val="solid"/>
          </a:ln>
        </p:spPr>
      </p:sp>
      <p:sp>
        <p:nvSpPr>
          <p:cNvPr id="27" name="Text 25"/>
          <p:cNvSpPr/>
          <p:nvPr/>
        </p:nvSpPr>
        <p:spPr>
          <a:xfrm>
            <a:off x="256032" y="4361688"/>
            <a:ext cx="50292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05</a:t>
            </a:r>
            <a:endParaRPr lang="en-US" sz="1600" dirty="0"/>
          </a:p>
        </p:txBody>
      </p:sp>
      <p:sp>
        <p:nvSpPr>
          <p:cNvPr id="28" name="Text 26"/>
          <p:cNvSpPr/>
          <p:nvPr/>
        </p:nvSpPr>
        <p:spPr>
          <a:xfrm>
            <a:off x="841248" y="4233672"/>
            <a:ext cx="7955280" cy="274320"/>
          </a:xfrm>
          <a:prstGeom prst="rect">
            <a:avLst/>
          </a:prstGeom>
          <a:noFill/>
          <a:ln/>
        </p:spPr>
        <p:txBody>
          <a:bodyPr wrap="square" lIns="0" tIns="0" rIns="0" bIns="0" rtlCol="0" anchor="ctr"/>
          <a:lstStyle/>
          <a:p>
            <a:pPr marL="0" indent="0">
              <a:buNone/>
            </a:pPr>
            <a:r>
              <a:rPr lang="en-US" sz="1100" b="1" dirty="0">
                <a:solidFill>
                  <a:srgbClr val="388E3C"/>
                </a:solidFill>
                <a:latin typeface="Calibri" pitchFamily="34" charset="0"/>
                <a:ea typeface="Calibri" pitchFamily="34" charset="-122"/>
                <a:cs typeface="Calibri" pitchFamily="34" charset="-120"/>
              </a:rPr>
              <a:t>Base empírica para políticas de eficiencia y transparencia</a:t>
            </a:r>
            <a:endParaRPr lang="en-US" sz="1100" dirty="0"/>
          </a:p>
        </p:txBody>
      </p:sp>
      <p:sp>
        <p:nvSpPr>
          <p:cNvPr id="29" name="Text 27"/>
          <p:cNvSpPr/>
          <p:nvPr/>
        </p:nvSpPr>
        <p:spPr>
          <a:xfrm>
            <a:off x="841248" y="4544568"/>
            <a:ext cx="7863840" cy="329184"/>
          </a:xfrm>
          <a:prstGeom prst="rect">
            <a:avLst/>
          </a:prstGeom>
          <a:noFill/>
          <a:ln/>
        </p:spPr>
        <p:txBody>
          <a:bodyPr wrap="square" lIns="0" tIns="0" rIns="0" bIns="0" rtlCol="0" anchor="ctr"/>
          <a:lstStyle/>
          <a:p>
            <a:pPr marL="0" indent="0">
              <a:buNone/>
            </a:pPr>
            <a:r>
              <a:rPr lang="en-US" sz="900" dirty="0">
                <a:solidFill>
                  <a:srgbClr val="333333"/>
                </a:solidFill>
                <a:latin typeface="Calibri" pitchFamily="34" charset="0"/>
                <a:ea typeface="Calibri" pitchFamily="34" charset="-122"/>
                <a:cs typeface="Calibri" pitchFamily="34" charset="-120"/>
              </a:rPr>
              <a:t>Los datos consolidados a nivel nacional sirven como insumo para que el Ministerio de Hacienda y ChileCompra desarrollen políticas públicas orientadas a mejorar el sistema de compras.</a:t>
            </a:r>
            <a:endParaRPr lang="en-US" sz="900" dirty="0"/>
          </a:p>
        </p:txBody>
      </p:sp>
      <p:sp>
        <p:nvSpPr>
          <p:cNvPr id="30" name="Shape 28"/>
          <p:cNvSpPr/>
          <p:nvPr/>
        </p:nvSpPr>
        <p:spPr>
          <a:xfrm>
            <a:off x="0" y="5070348"/>
            <a:ext cx="9144000" cy="73152"/>
          </a:xfrm>
          <a:prstGeom prst="rect">
            <a:avLst/>
          </a:prstGeom>
          <a:solidFill>
            <a:srgbClr val="00234E"/>
          </a:solidFill>
          <a:ln w="12700">
            <a:solidFill>
              <a:srgbClr val="00234E"/>
            </a:solidFill>
            <a:prstDash val="solid"/>
          </a:ln>
        </p:spPr>
      </p:sp>
      <p:sp>
        <p:nvSpPr>
          <p:cNvPr id="31" name="Text 29"/>
          <p:cNvSpPr/>
          <p:nvPr/>
        </p:nvSpPr>
        <p:spPr>
          <a:xfrm>
            <a:off x="274320" y="4919472"/>
            <a:ext cx="8595360" cy="164592"/>
          </a:xfrm>
          <a:prstGeom prst="rect">
            <a:avLst/>
          </a:prstGeom>
          <a:noFill/>
          <a:ln/>
        </p:spPr>
        <p:txBody>
          <a:bodyPr wrap="square" lIns="0" tIns="0" rIns="0" bIns="0" rtlCol="0" anchor="ctr"/>
          <a:lstStyle/>
          <a:p>
            <a:pPr marL="0" indent="0" algn="r">
              <a:buNone/>
            </a:pPr>
            <a:r>
              <a:rPr lang="en-US" sz="800" dirty="0">
                <a:solidFill>
                  <a:srgbClr val="AAAAAA"/>
                </a:solidFill>
                <a:latin typeface="Calibri" pitchFamily="34" charset="0"/>
                <a:ea typeface="Calibri" pitchFamily="34" charset="-122"/>
                <a:cs typeface="Calibri" pitchFamily="34" charset="-120"/>
              </a:rPr>
              <a:t>Subdepartamento de Abastecimiento — Servicio de Salud Osorno</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234E"/>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4DAADF"/>
          </a:solidFill>
          <a:ln w="12700">
            <a:solidFill>
              <a:srgbClr val="4DAADF"/>
            </a:solidFill>
            <a:prstDash val="solid"/>
          </a:ln>
        </p:spPr>
      </p:sp>
      <p:sp>
        <p:nvSpPr>
          <p:cNvPr id="3" name="Shape 1"/>
          <p:cNvSpPr/>
          <p:nvPr/>
        </p:nvSpPr>
        <p:spPr>
          <a:xfrm>
            <a:off x="0" y="73152"/>
            <a:ext cx="228600" cy="5070348"/>
          </a:xfrm>
          <a:prstGeom prst="rect">
            <a:avLst/>
          </a:prstGeom>
          <a:solidFill>
            <a:srgbClr val="004B8D"/>
          </a:solidFill>
          <a:ln w="12700">
            <a:solidFill>
              <a:srgbClr val="004B8D"/>
            </a:solidFill>
            <a:prstDash val="solid"/>
          </a:ln>
        </p:spPr>
      </p:sp>
      <p:sp>
        <p:nvSpPr>
          <p:cNvPr id="4" name="Text 2"/>
          <p:cNvSpPr/>
          <p:nvPr/>
        </p:nvSpPr>
        <p:spPr>
          <a:xfrm>
            <a:off x="502920" y="731520"/>
            <a:ext cx="1828800" cy="1097280"/>
          </a:xfrm>
          <a:prstGeom prst="rect">
            <a:avLst/>
          </a:prstGeom>
          <a:noFill/>
          <a:ln/>
        </p:spPr>
        <p:txBody>
          <a:bodyPr wrap="square" lIns="0" tIns="0" rIns="0" bIns="0" rtlCol="0" anchor="ctr"/>
          <a:lstStyle/>
          <a:p>
            <a:pPr marL="0" indent="0">
              <a:buNone/>
            </a:pPr>
            <a:r>
              <a:rPr lang="en-US" sz="8000" b="1" dirty="0">
                <a:solidFill>
                  <a:srgbClr val="1A3A6B"/>
                </a:solidFill>
                <a:latin typeface="Calibri" pitchFamily="34" charset="0"/>
                <a:ea typeface="Calibri" pitchFamily="34" charset="-122"/>
                <a:cs typeface="Calibri" pitchFamily="34" charset="-120"/>
              </a:rPr>
              <a:t>02</a:t>
            </a:r>
            <a:endParaRPr lang="en-US" sz="8000" dirty="0"/>
          </a:p>
        </p:txBody>
      </p:sp>
      <p:sp>
        <p:nvSpPr>
          <p:cNvPr id="5" name="Text 3"/>
          <p:cNvSpPr/>
          <p:nvPr/>
        </p:nvSpPr>
        <p:spPr>
          <a:xfrm>
            <a:off x="502920" y="1828800"/>
            <a:ext cx="8229600" cy="1280160"/>
          </a:xfrm>
          <a:prstGeom prst="rect">
            <a:avLst/>
          </a:prstGeom>
          <a:noFill/>
          <a:ln/>
        </p:spPr>
        <p:txBody>
          <a:bodyPr wrap="square" lIns="0" tIns="0" rIns="0" bIns="0"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COMISIÓN</a:t>
            </a:r>
            <a:endParaRPr lang="en-US" sz="3400" dirty="0"/>
          </a:p>
          <a:p>
            <a:pPr marL="0" indent="0">
              <a:buNone/>
            </a:pPr>
            <a:r>
              <a:rPr lang="en-US" sz="3400" b="1" dirty="0">
                <a:solidFill>
                  <a:srgbClr val="FFFFFF"/>
                </a:solidFill>
                <a:latin typeface="Calibri" pitchFamily="34" charset="0"/>
                <a:ea typeface="Calibri" pitchFamily="34" charset="-122"/>
                <a:cs typeface="Calibri" pitchFamily="34" charset="-120"/>
              </a:rPr>
              <a:t>EVALUACIÓN PAC</a:t>
            </a:r>
            <a:endParaRPr lang="en-US" sz="3400" dirty="0"/>
          </a:p>
        </p:txBody>
      </p:sp>
      <p:sp>
        <p:nvSpPr>
          <p:cNvPr id="6" name="Text 4"/>
          <p:cNvSpPr/>
          <p:nvPr/>
        </p:nvSpPr>
        <p:spPr>
          <a:xfrm>
            <a:off x="502920" y="3200400"/>
            <a:ext cx="8229600" cy="731520"/>
          </a:xfrm>
          <a:prstGeom prst="rect">
            <a:avLst/>
          </a:prstGeom>
          <a:noFill/>
          <a:ln/>
        </p:spPr>
        <p:txBody>
          <a:bodyPr wrap="square" lIns="0" tIns="0" rIns="0" bIns="0" rtlCol="0" anchor="ctr"/>
          <a:lstStyle/>
          <a:p>
            <a:pPr marL="0" indent="0">
              <a:buNone/>
            </a:pPr>
            <a:r>
              <a:rPr lang="en-US" sz="1300" i="1" dirty="0">
                <a:solidFill>
                  <a:srgbClr val="4DAADF"/>
                </a:solidFill>
                <a:latin typeface="Calibri" pitchFamily="34" charset="0"/>
                <a:ea typeface="Calibri" pitchFamily="34" charset="-122"/>
                <a:cs typeface="Calibri" pitchFamily="34" charset="-120"/>
              </a:rPr>
              <a:t>Res. Exenta N°2194 (Feb. 2023) y Oficio CP N°25231 — Instrucciones y Orientaciones para la Planificación, Elaboración, Ejecución y Control del PAC</a:t>
            </a:r>
            <a:endParaRPr lang="en-US" sz="1300" dirty="0"/>
          </a:p>
        </p:txBody>
      </p:sp>
      <p:sp>
        <p:nvSpPr>
          <p:cNvPr id="7" name="Shape 5"/>
          <p:cNvSpPr/>
          <p:nvPr/>
        </p:nvSpPr>
        <p:spPr>
          <a:xfrm>
            <a:off x="0" y="5070348"/>
            <a:ext cx="9144000" cy="73152"/>
          </a:xfrm>
          <a:prstGeom prst="rect">
            <a:avLst/>
          </a:prstGeom>
          <a:solidFill>
            <a:srgbClr val="4DAADF"/>
          </a:solidFill>
          <a:ln w="12700">
            <a:solidFill>
              <a:srgbClr val="4DAADF"/>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5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234E"/>
          </a:solidFill>
          <a:ln w="12700">
            <a:solidFill>
              <a:srgbClr val="00234E"/>
            </a:solidFill>
            <a:prstDash val="solid"/>
          </a:ln>
        </p:spPr>
      </p:sp>
      <p:sp>
        <p:nvSpPr>
          <p:cNvPr id="3" name="Text 1"/>
          <p:cNvSpPr/>
          <p:nvPr/>
        </p:nvSpPr>
        <p:spPr>
          <a:xfrm>
            <a:off x="457200" y="128016"/>
            <a:ext cx="8229600" cy="438912"/>
          </a:xfrm>
          <a:prstGeom prst="rect">
            <a:avLst/>
          </a:prstGeom>
          <a:noFill/>
          <a:ln/>
        </p:spPr>
        <p:txBody>
          <a:bodyPr wrap="square" lIns="0" tIns="0" rIns="0" bIns="0" rtlCol="0" anchor="ctr"/>
          <a:lstStyle/>
          <a:p>
            <a:pPr marL="0" indent="0" algn="l">
              <a:buNone/>
            </a:pPr>
            <a:r>
              <a:rPr lang="en-US" sz="2000" b="1" dirty="0">
                <a:solidFill>
                  <a:srgbClr val="00234E"/>
                </a:solidFill>
                <a:latin typeface="Calibri" pitchFamily="34" charset="0"/>
                <a:ea typeface="Calibri" pitchFamily="34" charset="-122"/>
                <a:cs typeface="Calibri" pitchFamily="34" charset="-120"/>
              </a:rPr>
              <a:t>Comité PAC: lo que tenemos y lo que se nos pide</a:t>
            </a:r>
            <a:endParaRPr lang="en-US" sz="2000" dirty="0"/>
          </a:p>
        </p:txBody>
      </p:sp>
      <p:sp>
        <p:nvSpPr>
          <p:cNvPr id="4" name="Shape 2"/>
          <p:cNvSpPr/>
          <p:nvPr/>
        </p:nvSpPr>
        <p:spPr>
          <a:xfrm>
            <a:off x="256032" y="658368"/>
            <a:ext cx="3931920" cy="4315968"/>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5" name="Shape 3"/>
          <p:cNvSpPr/>
          <p:nvPr/>
        </p:nvSpPr>
        <p:spPr>
          <a:xfrm>
            <a:off x="256032" y="658368"/>
            <a:ext cx="3931920" cy="384048"/>
          </a:xfrm>
          <a:prstGeom prst="rect">
            <a:avLst/>
          </a:prstGeom>
          <a:solidFill>
            <a:srgbClr val="00234E"/>
          </a:solidFill>
          <a:ln w="12700">
            <a:solidFill>
              <a:srgbClr val="00234E"/>
            </a:solidFill>
            <a:prstDash val="solid"/>
          </a:ln>
        </p:spPr>
      </p:sp>
      <p:sp>
        <p:nvSpPr>
          <p:cNvPr id="6" name="Text 4"/>
          <p:cNvSpPr/>
          <p:nvPr/>
        </p:nvSpPr>
        <p:spPr>
          <a:xfrm>
            <a:off x="365760" y="676656"/>
            <a:ext cx="3749040" cy="347472"/>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Res. Exenta N°2194 (09 Feb. 2023)</a:t>
            </a:r>
            <a:endParaRPr lang="en-US" sz="1000" dirty="0"/>
          </a:p>
          <a:p>
            <a:pPr marL="0" indent="0">
              <a:buNone/>
            </a:pPr>
            <a:r>
              <a:rPr lang="en-US" sz="1000" b="1" dirty="0">
                <a:solidFill>
                  <a:srgbClr val="FFFFFF"/>
                </a:solidFill>
                <a:latin typeface="Calibri" pitchFamily="34" charset="0"/>
                <a:ea typeface="Calibri" pitchFamily="34" charset="-122"/>
                <a:cs typeface="Calibri" pitchFamily="34" charset="-120"/>
              </a:rPr>
              <a:t>Comité PAC SSO — VIGENTE</a:t>
            </a:r>
            <a:endParaRPr lang="en-US" sz="1000" dirty="0"/>
          </a:p>
        </p:txBody>
      </p:sp>
      <p:sp>
        <p:nvSpPr>
          <p:cNvPr id="7" name="Text 5"/>
          <p:cNvSpPr/>
          <p:nvPr/>
        </p:nvSpPr>
        <p:spPr>
          <a:xfrm>
            <a:off x="384048" y="1078992"/>
            <a:ext cx="3657600" cy="219456"/>
          </a:xfrm>
          <a:prstGeom prst="rect">
            <a:avLst/>
          </a:prstGeom>
          <a:noFill/>
          <a:ln/>
        </p:spPr>
        <p:txBody>
          <a:bodyPr wrap="square" lIns="0" tIns="0" rIns="0" bIns="0" rtlCol="0" anchor="ctr"/>
          <a:lstStyle/>
          <a:p>
            <a:pPr marL="0" indent="0">
              <a:buNone/>
            </a:pPr>
            <a:r>
              <a:rPr lang="en-US" sz="900" b="1" dirty="0">
                <a:solidFill>
                  <a:srgbClr val="00234E"/>
                </a:solidFill>
                <a:latin typeface="Calibri" pitchFamily="34" charset="0"/>
                <a:ea typeface="Calibri" pitchFamily="34" charset="-122"/>
                <a:cs typeface="Calibri" pitchFamily="34" charset="-120"/>
              </a:rPr>
              <a:t>Integrado por:</a:t>
            </a:r>
            <a:endParaRPr lang="en-US" sz="900" dirty="0"/>
          </a:p>
        </p:txBody>
      </p:sp>
      <p:sp>
        <p:nvSpPr>
          <p:cNvPr id="8" name="Shape 6"/>
          <p:cNvSpPr/>
          <p:nvPr/>
        </p:nvSpPr>
        <p:spPr>
          <a:xfrm>
            <a:off x="384048" y="1371600"/>
            <a:ext cx="109728" cy="109728"/>
          </a:xfrm>
          <a:prstGeom prst="ellipse">
            <a:avLst/>
          </a:prstGeom>
          <a:solidFill>
            <a:srgbClr val="00234E"/>
          </a:solidFill>
          <a:ln w="12700">
            <a:solidFill>
              <a:srgbClr val="00234E"/>
            </a:solidFill>
            <a:prstDash val="solid"/>
          </a:ln>
        </p:spPr>
      </p:sp>
      <p:sp>
        <p:nvSpPr>
          <p:cNvPr id="9" name="Text 7"/>
          <p:cNvSpPr/>
          <p:nvPr/>
        </p:nvSpPr>
        <p:spPr>
          <a:xfrm>
            <a:off x="548640" y="1344168"/>
            <a:ext cx="3520440" cy="237744"/>
          </a:xfrm>
          <a:prstGeom prst="rect">
            <a:avLst/>
          </a:prstGeom>
          <a:noFill/>
          <a:ln/>
        </p:spPr>
        <p:txBody>
          <a:bodyPr wrap="square" lIns="0" tIns="0" rIns="0" bIns="0" rtlCol="0" anchor="ctr"/>
          <a:lstStyle/>
          <a:p>
            <a:pPr marL="0" indent="0">
              <a:buNone/>
            </a:pPr>
            <a:r>
              <a:rPr lang="en-US" sz="850" dirty="0">
                <a:solidFill>
                  <a:srgbClr val="333333"/>
                </a:solidFill>
                <a:latin typeface="Calibri" pitchFamily="34" charset="0"/>
                <a:ea typeface="Calibri" pitchFamily="34" charset="-122"/>
                <a:cs typeface="Calibri" pitchFamily="34" charset="-120"/>
              </a:rPr>
              <a:t>Subdirector Administrativo S.S.O. o quien lo subrogue</a:t>
            </a:r>
            <a:endParaRPr lang="en-US" sz="850" dirty="0"/>
          </a:p>
        </p:txBody>
      </p:sp>
      <p:sp>
        <p:nvSpPr>
          <p:cNvPr id="10" name="Shape 8"/>
          <p:cNvSpPr/>
          <p:nvPr/>
        </p:nvSpPr>
        <p:spPr>
          <a:xfrm>
            <a:off x="384048" y="1645920"/>
            <a:ext cx="109728" cy="109728"/>
          </a:xfrm>
          <a:prstGeom prst="ellipse">
            <a:avLst/>
          </a:prstGeom>
          <a:solidFill>
            <a:srgbClr val="00234E"/>
          </a:solidFill>
          <a:ln w="12700">
            <a:solidFill>
              <a:srgbClr val="00234E"/>
            </a:solidFill>
            <a:prstDash val="solid"/>
          </a:ln>
        </p:spPr>
      </p:sp>
      <p:sp>
        <p:nvSpPr>
          <p:cNvPr id="11" name="Text 9"/>
          <p:cNvSpPr/>
          <p:nvPr/>
        </p:nvSpPr>
        <p:spPr>
          <a:xfrm>
            <a:off x="548640" y="1618488"/>
            <a:ext cx="3520440" cy="237744"/>
          </a:xfrm>
          <a:prstGeom prst="rect">
            <a:avLst/>
          </a:prstGeom>
          <a:noFill/>
          <a:ln/>
        </p:spPr>
        <p:txBody>
          <a:bodyPr wrap="square" lIns="0" tIns="0" rIns="0" bIns="0" rtlCol="0" anchor="ctr"/>
          <a:lstStyle/>
          <a:p>
            <a:pPr marL="0" indent="0">
              <a:buNone/>
            </a:pPr>
            <a:r>
              <a:rPr lang="en-US" sz="850" dirty="0">
                <a:solidFill>
                  <a:srgbClr val="333333"/>
                </a:solidFill>
                <a:latin typeface="Calibri" pitchFamily="34" charset="0"/>
                <a:ea typeface="Calibri" pitchFamily="34" charset="-122"/>
                <a:cs typeface="Calibri" pitchFamily="34" charset="-120"/>
              </a:rPr>
              <a:t>Subdirectora de Gestión Asistencial S.S.O. o quien lo subrogue</a:t>
            </a:r>
            <a:endParaRPr lang="en-US" sz="850" dirty="0"/>
          </a:p>
        </p:txBody>
      </p:sp>
      <p:sp>
        <p:nvSpPr>
          <p:cNvPr id="12" name="Shape 10"/>
          <p:cNvSpPr/>
          <p:nvPr/>
        </p:nvSpPr>
        <p:spPr>
          <a:xfrm>
            <a:off x="384048" y="1920240"/>
            <a:ext cx="109728" cy="109728"/>
          </a:xfrm>
          <a:prstGeom prst="ellipse">
            <a:avLst/>
          </a:prstGeom>
          <a:solidFill>
            <a:srgbClr val="00234E"/>
          </a:solidFill>
          <a:ln w="12700">
            <a:solidFill>
              <a:srgbClr val="00234E"/>
            </a:solidFill>
            <a:prstDash val="solid"/>
          </a:ln>
        </p:spPr>
      </p:sp>
      <p:sp>
        <p:nvSpPr>
          <p:cNvPr id="13" name="Text 11"/>
          <p:cNvSpPr/>
          <p:nvPr/>
        </p:nvSpPr>
        <p:spPr>
          <a:xfrm>
            <a:off x="548640" y="1892808"/>
            <a:ext cx="3520440" cy="237744"/>
          </a:xfrm>
          <a:prstGeom prst="rect">
            <a:avLst/>
          </a:prstGeom>
          <a:noFill/>
          <a:ln/>
        </p:spPr>
        <p:txBody>
          <a:bodyPr wrap="square" lIns="0" tIns="0" rIns="0" bIns="0" rtlCol="0" anchor="ctr"/>
          <a:lstStyle/>
          <a:p>
            <a:pPr marL="0" indent="0">
              <a:buNone/>
            </a:pPr>
            <a:r>
              <a:rPr lang="en-US" sz="850" dirty="0">
                <a:solidFill>
                  <a:srgbClr val="333333"/>
                </a:solidFill>
                <a:latin typeface="Calibri" pitchFamily="34" charset="0"/>
                <a:ea typeface="Calibri" pitchFamily="34" charset="-122"/>
                <a:cs typeface="Calibri" pitchFamily="34" charset="-120"/>
              </a:rPr>
              <a:t>Subdirector de Gestión y Desarrollo de las Personas S.S.O. o quien lo subrogue</a:t>
            </a:r>
            <a:endParaRPr lang="en-US" sz="850" dirty="0"/>
          </a:p>
        </p:txBody>
      </p:sp>
      <p:sp>
        <p:nvSpPr>
          <p:cNvPr id="14" name="Shape 12"/>
          <p:cNvSpPr/>
          <p:nvPr/>
        </p:nvSpPr>
        <p:spPr>
          <a:xfrm>
            <a:off x="384048" y="2194560"/>
            <a:ext cx="109728" cy="109728"/>
          </a:xfrm>
          <a:prstGeom prst="ellipse">
            <a:avLst/>
          </a:prstGeom>
          <a:solidFill>
            <a:srgbClr val="00234E"/>
          </a:solidFill>
          <a:ln w="12700">
            <a:solidFill>
              <a:srgbClr val="00234E"/>
            </a:solidFill>
            <a:prstDash val="solid"/>
          </a:ln>
        </p:spPr>
      </p:sp>
      <p:sp>
        <p:nvSpPr>
          <p:cNvPr id="15" name="Text 13"/>
          <p:cNvSpPr/>
          <p:nvPr/>
        </p:nvSpPr>
        <p:spPr>
          <a:xfrm>
            <a:off x="548640" y="2167128"/>
            <a:ext cx="3520440" cy="237744"/>
          </a:xfrm>
          <a:prstGeom prst="rect">
            <a:avLst/>
          </a:prstGeom>
          <a:noFill/>
          <a:ln/>
        </p:spPr>
        <p:txBody>
          <a:bodyPr wrap="square" lIns="0" tIns="0" rIns="0" bIns="0" rtlCol="0" anchor="ctr"/>
          <a:lstStyle/>
          <a:p>
            <a:pPr marL="0" indent="0">
              <a:buNone/>
            </a:pPr>
            <a:r>
              <a:rPr lang="en-US" sz="850" dirty="0">
                <a:solidFill>
                  <a:srgbClr val="333333"/>
                </a:solidFill>
                <a:latin typeface="Calibri" pitchFamily="34" charset="0"/>
                <a:ea typeface="Calibri" pitchFamily="34" charset="-122"/>
                <a:cs typeface="Calibri" pitchFamily="34" charset="-120"/>
              </a:rPr>
              <a:t>Jefatura del Depto. de Finanzas S.S.O. o quien lo subrogue</a:t>
            </a:r>
            <a:endParaRPr lang="en-US" sz="850" dirty="0"/>
          </a:p>
        </p:txBody>
      </p:sp>
      <p:sp>
        <p:nvSpPr>
          <p:cNvPr id="16" name="Shape 14"/>
          <p:cNvSpPr/>
          <p:nvPr/>
        </p:nvSpPr>
        <p:spPr>
          <a:xfrm>
            <a:off x="384048" y="2468880"/>
            <a:ext cx="109728" cy="109728"/>
          </a:xfrm>
          <a:prstGeom prst="ellipse">
            <a:avLst/>
          </a:prstGeom>
          <a:solidFill>
            <a:srgbClr val="00234E"/>
          </a:solidFill>
          <a:ln w="12700">
            <a:solidFill>
              <a:srgbClr val="00234E"/>
            </a:solidFill>
            <a:prstDash val="solid"/>
          </a:ln>
        </p:spPr>
      </p:sp>
      <p:sp>
        <p:nvSpPr>
          <p:cNvPr id="17" name="Text 15"/>
          <p:cNvSpPr/>
          <p:nvPr/>
        </p:nvSpPr>
        <p:spPr>
          <a:xfrm>
            <a:off x="548640" y="2441448"/>
            <a:ext cx="3520440" cy="237744"/>
          </a:xfrm>
          <a:prstGeom prst="rect">
            <a:avLst/>
          </a:prstGeom>
          <a:noFill/>
          <a:ln/>
        </p:spPr>
        <p:txBody>
          <a:bodyPr wrap="square" lIns="0" tIns="0" rIns="0" bIns="0" rtlCol="0" anchor="ctr"/>
          <a:lstStyle/>
          <a:p>
            <a:pPr marL="0" indent="0">
              <a:buNone/>
            </a:pPr>
            <a:r>
              <a:rPr lang="en-US" sz="850" dirty="0">
                <a:solidFill>
                  <a:srgbClr val="333333"/>
                </a:solidFill>
                <a:latin typeface="Calibri" pitchFamily="34" charset="0"/>
                <a:ea typeface="Calibri" pitchFamily="34" charset="-122"/>
                <a:cs typeface="Calibri" pitchFamily="34" charset="-120"/>
              </a:rPr>
              <a:t>Jefatura del Abastecimiento y Operaciones o quien lo subrogue</a:t>
            </a:r>
            <a:endParaRPr lang="en-US" sz="850" dirty="0"/>
          </a:p>
        </p:txBody>
      </p:sp>
      <p:sp>
        <p:nvSpPr>
          <p:cNvPr id="18" name="Text 16"/>
          <p:cNvSpPr/>
          <p:nvPr/>
        </p:nvSpPr>
        <p:spPr>
          <a:xfrm>
            <a:off x="384048" y="2724912"/>
            <a:ext cx="3657600" cy="219456"/>
          </a:xfrm>
          <a:prstGeom prst="rect">
            <a:avLst/>
          </a:prstGeom>
          <a:noFill/>
          <a:ln/>
        </p:spPr>
        <p:txBody>
          <a:bodyPr wrap="square" lIns="0" tIns="0" rIns="0" bIns="0" rtlCol="0" anchor="ctr"/>
          <a:lstStyle/>
          <a:p>
            <a:pPr marL="0" indent="0">
              <a:buNone/>
            </a:pPr>
            <a:r>
              <a:rPr lang="en-US" sz="900" b="1" dirty="0">
                <a:solidFill>
                  <a:srgbClr val="00234E"/>
                </a:solidFill>
                <a:latin typeface="Calibri" pitchFamily="34" charset="0"/>
                <a:ea typeface="Calibri" pitchFamily="34" charset="-122"/>
                <a:cs typeface="Calibri" pitchFamily="34" charset="-120"/>
              </a:rPr>
              <a:t>Objetivos y tareas:</a:t>
            </a:r>
            <a:endParaRPr lang="en-US" sz="900" dirty="0"/>
          </a:p>
        </p:txBody>
      </p:sp>
      <p:sp>
        <p:nvSpPr>
          <p:cNvPr id="19" name="Shape 17"/>
          <p:cNvSpPr/>
          <p:nvPr/>
        </p:nvSpPr>
        <p:spPr>
          <a:xfrm>
            <a:off x="384048" y="2907792"/>
            <a:ext cx="109728" cy="109728"/>
          </a:xfrm>
          <a:prstGeom prst="rect">
            <a:avLst/>
          </a:prstGeom>
          <a:solidFill>
            <a:srgbClr val="00234E"/>
          </a:solidFill>
          <a:ln w="12700">
            <a:solidFill>
              <a:srgbClr val="00234E"/>
            </a:solidFill>
            <a:prstDash val="solid"/>
          </a:ln>
        </p:spPr>
      </p:sp>
      <p:sp>
        <p:nvSpPr>
          <p:cNvPr id="20" name="Text 18"/>
          <p:cNvSpPr/>
          <p:nvPr/>
        </p:nvSpPr>
        <p:spPr>
          <a:xfrm>
            <a:off x="566928" y="2880360"/>
            <a:ext cx="3511296" cy="320040"/>
          </a:xfrm>
          <a:prstGeom prst="rect">
            <a:avLst/>
          </a:prstGeom>
          <a:noFill/>
          <a:ln/>
        </p:spPr>
        <p:txBody>
          <a:bodyPr wrap="square" lIns="0" tIns="0" rIns="0" bIns="0" rtlCol="0" anchor="ctr"/>
          <a:lstStyle/>
          <a:p>
            <a:pPr marL="0" indent="0">
              <a:buNone/>
            </a:pPr>
            <a:r>
              <a:rPr lang="en-US" sz="750" dirty="0">
                <a:solidFill>
                  <a:srgbClr val="333333"/>
                </a:solidFill>
                <a:latin typeface="Calibri" pitchFamily="34" charset="0"/>
                <a:ea typeface="Calibri" pitchFamily="34" charset="-122"/>
                <a:cs typeface="Calibri" pitchFamily="34" charset="-120"/>
              </a:rPr>
              <a:t>Evaluación, supervisión y control de compras programadas evitando acumulación en tercer y cuarto trimestre</a:t>
            </a:r>
            <a:endParaRPr lang="en-US" sz="750" dirty="0"/>
          </a:p>
        </p:txBody>
      </p:sp>
      <p:sp>
        <p:nvSpPr>
          <p:cNvPr id="21" name="Shape 19"/>
          <p:cNvSpPr/>
          <p:nvPr/>
        </p:nvSpPr>
        <p:spPr>
          <a:xfrm>
            <a:off x="384048" y="3182112"/>
            <a:ext cx="109728" cy="109728"/>
          </a:xfrm>
          <a:prstGeom prst="rect">
            <a:avLst/>
          </a:prstGeom>
          <a:solidFill>
            <a:srgbClr val="00234E"/>
          </a:solidFill>
          <a:ln w="12700">
            <a:solidFill>
              <a:srgbClr val="00234E"/>
            </a:solidFill>
            <a:prstDash val="solid"/>
          </a:ln>
        </p:spPr>
      </p:sp>
      <p:sp>
        <p:nvSpPr>
          <p:cNvPr id="22" name="Text 20"/>
          <p:cNvSpPr/>
          <p:nvPr/>
        </p:nvSpPr>
        <p:spPr>
          <a:xfrm>
            <a:off x="566928" y="3154680"/>
            <a:ext cx="3511296" cy="320040"/>
          </a:xfrm>
          <a:prstGeom prst="rect">
            <a:avLst/>
          </a:prstGeom>
          <a:noFill/>
          <a:ln/>
        </p:spPr>
        <p:txBody>
          <a:bodyPr wrap="square" lIns="0" tIns="0" rIns="0" bIns="0" rtlCol="0" anchor="ctr"/>
          <a:lstStyle/>
          <a:p>
            <a:pPr marL="0" indent="0">
              <a:buNone/>
            </a:pPr>
            <a:r>
              <a:rPr lang="en-US" sz="750" dirty="0">
                <a:solidFill>
                  <a:srgbClr val="333333"/>
                </a:solidFill>
                <a:latin typeface="Calibri" pitchFamily="34" charset="0"/>
                <a:ea typeface="Calibri" pitchFamily="34" charset="-122"/>
                <a:cs typeface="Calibri" pitchFamily="34" charset="-120"/>
              </a:rPr>
              <a:t>Evaluación trimestral de la ejecución PAC (cortes: Marzo, Junio, Septiembre, Diciembre)</a:t>
            </a:r>
            <a:endParaRPr lang="en-US" sz="750" dirty="0"/>
          </a:p>
        </p:txBody>
      </p:sp>
      <p:sp>
        <p:nvSpPr>
          <p:cNvPr id="23" name="Shape 21"/>
          <p:cNvSpPr/>
          <p:nvPr/>
        </p:nvSpPr>
        <p:spPr>
          <a:xfrm>
            <a:off x="384048" y="3456432"/>
            <a:ext cx="109728" cy="109728"/>
          </a:xfrm>
          <a:prstGeom prst="rect">
            <a:avLst/>
          </a:prstGeom>
          <a:solidFill>
            <a:srgbClr val="00234E"/>
          </a:solidFill>
          <a:ln w="12700">
            <a:solidFill>
              <a:srgbClr val="00234E"/>
            </a:solidFill>
            <a:prstDash val="solid"/>
          </a:ln>
        </p:spPr>
      </p:sp>
      <p:sp>
        <p:nvSpPr>
          <p:cNvPr id="24" name="Text 22"/>
          <p:cNvSpPr/>
          <p:nvPr/>
        </p:nvSpPr>
        <p:spPr>
          <a:xfrm>
            <a:off x="566928" y="3429000"/>
            <a:ext cx="3511296" cy="320040"/>
          </a:xfrm>
          <a:prstGeom prst="rect">
            <a:avLst/>
          </a:prstGeom>
          <a:noFill/>
          <a:ln/>
        </p:spPr>
        <p:txBody>
          <a:bodyPr wrap="square" lIns="0" tIns="0" rIns="0" bIns="0" rtlCol="0" anchor="ctr"/>
          <a:lstStyle/>
          <a:p>
            <a:pPr marL="0" indent="0">
              <a:buNone/>
            </a:pPr>
            <a:r>
              <a:rPr lang="en-US" sz="750" dirty="0">
                <a:solidFill>
                  <a:srgbClr val="333333"/>
                </a:solidFill>
                <a:latin typeface="Calibri" pitchFamily="34" charset="0"/>
                <a:ea typeface="Calibri" pitchFamily="34" charset="-122"/>
                <a:cs typeface="Calibri" pitchFamily="34" charset="-120"/>
              </a:rPr>
              <a:t>Revisar trimestralmente el estado de ejecución del PAC</a:t>
            </a:r>
            <a:endParaRPr lang="en-US" sz="750" dirty="0"/>
          </a:p>
        </p:txBody>
      </p:sp>
      <p:sp>
        <p:nvSpPr>
          <p:cNvPr id="25" name="Shape 23"/>
          <p:cNvSpPr/>
          <p:nvPr/>
        </p:nvSpPr>
        <p:spPr>
          <a:xfrm>
            <a:off x="384048" y="3730752"/>
            <a:ext cx="109728" cy="109728"/>
          </a:xfrm>
          <a:prstGeom prst="rect">
            <a:avLst/>
          </a:prstGeom>
          <a:solidFill>
            <a:srgbClr val="00234E"/>
          </a:solidFill>
          <a:ln w="12700">
            <a:solidFill>
              <a:srgbClr val="00234E"/>
            </a:solidFill>
            <a:prstDash val="solid"/>
          </a:ln>
        </p:spPr>
      </p:sp>
      <p:sp>
        <p:nvSpPr>
          <p:cNvPr id="26" name="Text 24"/>
          <p:cNvSpPr/>
          <p:nvPr/>
        </p:nvSpPr>
        <p:spPr>
          <a:xfrm>
            <a:off x="566928" y="3703320"/>
            <a:ext cx="3511296" cy="320040"/>
          </a:xfrm>
          <a:prstGeom prst="rect">
            <a:avLst/>
          </a:prstGeom>
          <a:noFill/>
          <a:ln/>
        </p:spPr>
        <p:txBody>
          <a:bodyPr wrap="square" lIns="0" tIns="0" rIns="0" bIns="0" rtlCol="0" anchor="ctr"/>
          <a:lstStyle/>
          <a:p>
            <a:pPr marL="0" indent="0">
              <a:buNone/>
            </a:pPr>
            <a:r>
              <a:rPr lang="en-US" sz="750" dirty="0">
                <a:solidFill>
                  <a:srgbClr val="333333"/>
                </a:solidFill>
                <a:latin typeface="Calibri" pitchFamily="34" charset="0"/>
                <a:ea typeface="Calibri" pitchFamily="34" charset="-122"/>
                <a:cs typeface="Calibri" pitchFamily="34" charset="-120"/>
              </a:rPr>
              <a:t>Convocar a requirentes para explicar baja o nula ejecución</a:t>
            </a:r>
            <a:endParaRPr lang="en-US" sz="750" dirty="0"/>
          </a:p>
        </p:txBody>
      </p:sp>
      <p:sp>
        <p:nvSpPr>
          <p:cNvPr id="27" name="Shape 25"/>
          <p:cNvSpPr/>
          <p:nvPr/>
        </p:nvSpPr>
        <p:spPr>
          <a:xfrm>
            <a:off x="384048" y="4005072"/>
            <a:ext cx="109728" cy="109728"/>
          </a:xfrm>
          <a:prstGeom prst="rect">
            <a:avLst/>
          </a:prstGeom>
          <a:solidFill>
            <a:srgbClr val="00234E"/>
          </a:solidFill>
          <a:ln w="12700">
            <a:solidFill>
              <a:srgbClr val="00234E"/>
            </a:solidFill>
            <a:prstDash val="solid"/>
          </a:ln>
        </p:spPr>
      </p:sp>
      <p:sp>
        <p:nvSpPr>
          <p:cNvPr id="28" name="Text 26"/>
          <p:cNvSpPr/>
          <p:nvPr/>
        </p:nvSpPr>
        <p:spPr>
          <a:xfrm>
            <a:off x="566928" y="3977640"/>
            <a:ext cx="3511296" cy="320040"/>
          </a:xfrm>
          <a:prstGeom prst="rect">
            <a:avLst/>
          </a:prstGeom>
          <a:noFill/>
          <a:ln/>
        </p:spPr>
        <p:txBody>
          <a:bodyPr wrap="square" lIns="0" tIns="0" rIns="0" bIns="0" rtlCol="0" anchor="ctr"/>
          <a:lstStyle/>
          <a:p>
            <a:pPr marL="0" indent="0">
              <a:buNone/>
            </a:pPr>
            <a:r>
              <a:rPr lang="en-US" sz="750" dirty="0">
                <a:solidFill>
                  <a:srgbClr val="333333"/>
                </a:solidFill>
                <a:latin typeface="Calibri" pitchFamily="34" charset="0"/>
                <a:ea typeface="Calibri" pitchFamily="34" charset="-122"/>
                <a:cs typeface="Calibri" pitchFamily="34" charset="-120"/>
              </a:rPr>
              <a:t>Proponer al Director redestinación de recursos no ejecutados</a:t>
            </a:r>
            <a:endParaRPr lang="en-US" sz="750" dirty="0"/>
          </a:p>
        </p:txBody>
      </p:sp>
      <p:sp>
        <p:nvSpPr>
          <p:cNvPr id="29" name="Shape 27"/>
          <p:cNvSpPr/>
          <p:nvPr/>
        </p:nvSpPr>
        <p:spPr>
          <a:xfrm>
            <a:off x="384048" y="4279392"/>
            <a:ext cx="109728" cy="109728"/>
          </a:xfrm>
          <a:prstGeom prst="rect">
            <a:avLst/>
          </a:prstGeom>
          <a:solidFill>
            <a:srgbClr val="00234E"/>
          </a:solidFill>
          <a:ln w="12700">
            <a:solidFill>
              <a:srgbClr val="00234E"/>
            </a:solidFill>
            <a:prstDash val="solid"/>
          </a:ln>
        </p:spPr>
      </p:sp>
      <p:sp>
        <p:nvSpPr>
          <p:cNvPr id="30" name="Text 28"/>
          <p:cNvSpPr/>
          <p:nvPr/>
        </p:nvSpPr>
        <p:spPr>
          <a:xfrm>
            <a:off x="566928" y="4251960"/>
            <a:ext cx="3511296" cy="320040"/>
          </a:xfrm>
          <a:prstGeom prst="rect">
            <a:avLst/>
          </a:prstGeom>
          <a:noFill/>
          <a:ln/>
        </p:spPr>
        <p:txBody>
          <a:bodyPr wrap="square" lIns="0" tIns="0" rIns="0" bIns="0" rtlCol="0" anchor="ctr"/>
          <a:lstStyle/>
          <a:p>
            <a:pPr marL="0" indent="0">
              <a:buNone/>
            </a:pPr>
            <a:r>
              <a:rPr lang="en-US" sz="750" dirty="0">
                <a:solidFill>
                  <a:srgbClr val="333333"/>
                </a:solidFill>
                <a:latin typeface="Calibri" pitchFamily="34" charset="0"/>
                <a:ea typeface="Calibri" pitchFamily="34" charset="-122"/>
                <a:cs typeface="Calibri" pitchFamily="34" charset="-120"/>
              </a:rPr>
              <a:t>Autorizar reprogramaciones justificadas (máx. siguiente trimestre)</a:t>
            </a:r>
            <a:endParaRPr lang="en-US" sz="750" dirty="0"/>
          </a:p>
        </p:txBody>
      </p:sp>
      <p:sp>
        <p:nvSpPr>
          <p:cNvPr id="31" name="Shape 29"/>
          <p:cNvSpPr/>
          <p:nvPr/>
        </p:nvSpPr>
        <p:spPr>
          <a:xfrm>
            <a:off x="384048" y="4553712"/>
            <a:ext cx="109728" cy="109728"/>
          </a:xfrm>
          <a:prstGeom prst="rect">
            <a:avLst/>
          </a:prstGeom>
          <a:solidFill>
            <a:srgbClr val="00234E"/>
          </a:solidFill>
          <a:ln w="12700">
            <a:solidFill>
              <a:srgbClr val="00234E"/>
            </a:solidFill>
            <a:prstDash val="solid"/>
          </a:ln>
        </p:spPr>
      </p:sp>
      <p:sp>
        <p:nvSpPr>
          <p:cNvPr id="32" name="Text 30"/>
          <p:cNvSpPr/>
          <p:nvPr/>
        </p:nvSpPr>
        <p:spPr>
          <a:xfrm>
            <a:off x="566928" y="4526280"/>
            <a:ext cx="3511296" cy="320040"/>
          </a:xfrm>
          <a:prstGeom prst="rect">
            <a:avLst/>
          </a:prstGeom>
          <a:noFill/>
          <a:ln/>
        </p:spPr>
        <p:txBody>
          <a:bodyPr wrap="square" lIns="0" tIns="0" rIns="0" bIns="0" rtlCol="0" anchor="ctr"/>
          <a:lstStyle/>
          <a:p>
            <a:pPr marL="0" indent="0">
              <a:buNone/>
            </a:pPr>
            <a:r>
              <a:rPr lang="en-US" sz="750" dirty="0">
                <a:solidFill>
                  <a:srgbClr val="333333"/>
                </a:solidFill>
                <a:latin typeface="Calibri" pitchFamily="34" charset="0"/>
                <a:ea typeface="Calibri" pitchFamily="34" charset="-122"/>
                <a:cs typeface="Calibri" pitchFamily="34" charset="-120"/>
              </a:rPr>
              <a:t>Participar en revisión y aprobación de proyectos PAC futuros</a:t>
            </a:r>
            <a:endParaRPr lang="en-US" sz="750" dirty="0"/>
          </a:p>
        </p:txBody>
      </p:sp>
      <p:sp>
        <p:nvSpPr>
          <p:cNvPr id="34" name="Shape 32"/>
          <p:cNvSpPr/>
          <p:nvPr/>
        </p:nvSpPr>
        <p:spPr>
          <a:xfrm>
            <a:off x="4370832" y="658368"/>
            <a:ext cx="4517136" cy="384048"/>
          </a:xfrm>
          <a:prstGeom prst="rect">
            <a:avLst/>
          </a:prstGeom>
          <a:solidFill>
            <a:srgbClr val="005A9E"/>
          </a:solidFill>
          <a:ln w="12700">
            <a:solidFill>
              <a:srgbClr val="005A9E"/>
            </a:solidFill>
            <a:prstDash val="solid"/>
          </a:ln>
        </p:spPr>
      </p:sp>
      <p:sp>
        <p:nvSpPr>
          <p:cNvPr id="35" name="Text 33"/>
          <p:cNvSpPr/>
          <p:nvPr/>
        </p:nvSpPr>
        <p:spPr>
          <a:xfrm>
            <a:off x="4480560" y="676656"/>
            <a:ext cx="4297680" cy="347472"/>
          </a:xfrm>
          <a:prstGeom prst="rect">
            <a:avLst/>
          </a:prstGeom>
          <a:noFill/>
          <a:ln/>
        </p:spPr>
        <p:txBody>
          <a:bodyPr wrap="square" lIns="0" tIns="0" rIns="0" bIns="0"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Oficio CP N°25231 (21 Nov. 2025)</a:t>
            </a:r>
            <a:endParaRPr lang="en-US" sz="850" dirty="0"/>
          </a:p>
          <a:p>
            <a:pPr marL="0" indent="0">
              <a:buNone/>
            </a:pPr>
            <a:r>
              <a:rPr lang="en-US" sz="850" b="1" dirty="0">
                <a:solidFill>
                  <a:srgbClr val="FFFFFF"/>
                </a:solidFill>
                <a:latin typeface="Calibri" pitchFamily="34" charset="0"/>
                <a:ea typeface="Calibri" pitchFamily="34" charset="-122"/>
                <a:cs typeface="Calibri" pitchFamily="34" charset="-120"/>
              </a:rPr>
              <a:t>Instrucciones y Orientaciones para la Planificación, Elaboración,</a:t>
            </a:r>
            <a:endParaRPr lang="en-US" sz="850" dirty="0"/>
          </a:p>
          <a:p>
            <a:pPr marL="0" indent="0">
              <a:buNone/>
            </a:pPr>
            <a:r>
              <a:rPr lang="en-US" sz="850" b="1" dirty="0">
                <a:solidFill>
                  <a:srgbClr val="FFFFFF"/>
                </a:solidFill>
                <a:latin typeface="Calibri" pitchFamily="34" charset="0"/>
                <a:ea typeface="Calibri" pitchFamily="34" charset="-122"/>
                <a:cs typeface="Calibri" pitchFamily="34" charset="-120"/>
              </a:rPr>
              <a:t>Ejecución y Control del PAC</a:t>
            </a:r>
            <a:endParaRPr lang="en-US" sz="850" dirty="0"/>
          </a:p>
        </p:txBody>
      </p:sp>
      <p:sp>
        <p:nvSpPr>
          <p:cNvPr id="36" name="Shape 34"/>
          <p:cNvSpPr/>
          <p:nvPr/>
        </p:nvSpPr>
        <p:spPr>
          <a:xfrm>
            <a:off x="4462272" y="1133856"/>
            <a:ext cx="146304" cy="146304"/>
          </a:xfrm>
          <a:prstGeom prst="rect">
            <a:avLst/>
          </a:prstGeom>
          <a:solidFill>
            <a:srgbClr val="00234E"/>
          </a:solidFill>
          <a:ln w="12700">
            <a:solidFill>
              <a:srgbClr val="00234E"/>
            </a:solidFill>
            <a:prstDash val="solid"/>
          </a:ln>
        </p:spPr>
      </p:sp>
      <p:sp>
        <p:nvSpPr>
          <p:cNvPr id="37" name="Text 35"/>
          <p:cNvSpPr/>
          <p:nvPr/>
        </p:nvSpPr>
        <p:spPr>
          <a:xfrm>
            <a:off x="4663440" y="1115568"/>
            <a:ext cx="4114800" cy="329184"/>
          </a:xfrm>
          <a:prstGeom prst="rect">
            <a:avLst/>
          </a:prstGeom>
          <a:noFill/>
          <a:ln/>
        </p:spPr>
        <p:txBody>
          <a:bodyPr wrap="square" lIns="0" tIns="0" rIns="0" bIns="0" rtlCol="0" anchor="ctr"/>
          <a:lstStyle/>
          <a:p>
            <a:pPr marL="0" indent="0">
              <a:buNone/>
            </a:pPr>
            <a:r>
              <a:rPr lang="en-US" sz="850" dirty="0">
                <a:solidFill>
                  <a:srgbClr val="333333"/>
                </a:solidFill>
                <a:latin typeface="Calibri" pitchFamily="34" charset="0"/>
                <a:ea typeface="Calibri" pitchFamily="34" charset="-122"/>
                <a:cs typeface="Calibri" pitchFamily="34" charset="-120"/>
              </a:rPr>
              <a:t>Conformar Comité con representantes de áreas clínicas, administrativas Y financieras</a:t>
            </a:r>
            <a:endParaRPr lang="en-US" sz="850" dirty="0"/>
          </a:p>
        </p:txBody>
      </p:sp>
      <p:sp>
        <p:nvSpPr>
          <p:cNvPr id="38" name="Shape 36"/>
          <p:cNvSpPr/>
          <p:nvPr/>
        </p:nvSpPr>
        <p:spPr>
          <a:xfrm>
            <a:off x="4462272" y="1481328"/>
            <a:ext cx="146304" cy="146304"/>
          </a:xfrm>
          <a:prstGeom prst="rect">
            <a:avLst/>
          </a:prstGeom>
          <a:solidFill>
            <a:srgbClr val="00234E"/>
          </a:solidFill>
          <a:ln w="12700">
            <a:solidFill>
              <a:srgbClr val="00234E"/>
            </a:solidFill>
            <a:prstDash val="solid"/>
          </a:ln>
        </p:spPr>
      </p:sp>
      <p:sp>
        <p:nvSpPr>
          <p:cNvPr id="39" name="Text 37"/>
          <p:cNvSpPr/>
          <p:nvPr/>
        </p:nvSpPr>
        <p:spPr>
          <a:xfrm>
            <a:off x="4663440" y="1463040"/>
            <a:ext cx="4114800" cy="329184"/>
          </a:xfrm>
          <a:prstGeom prst="rect">
            <a:avLst/>
          </a:prstGeom>
          <a:noFill/>
          <a:ln/>
        </p:spPr>
        <p:txBody>
          <a:bodyPr wrap="square" lIns="0" tIns="0" rIns="0" bIns="0" rtlCol="0" anchor="ctr"/>
          <a:lstStyle/>
          <a:p>
            <a:pPr marL="0" indent="0">
              <a:buNone/>
            </a:pPr>
            <a:r>
              <a:rPr lang="en-US" sz="850" dirty="0">
                <a:solidFill>
                  <a:srgbClr val="333333"/>
                </a:solidFill>
                <a:latin typeface="Calibri" pitchFamily="34" charset="0"/>
                <a:ea typeface="Calibri" pitchFamily="34" charset="-122"/>
                <a:cs typeface="Calibri" pitchFamily="34" charset="-120"/>
              </a:rPr>
              <a:t>Incorporar cronograma de ejecución con hitos trimestrales para detectar desviaciones tempranas</a:t>
            </a:r>
            <a:endParaRPr lang="en-US" sz="850" dirty="0"/>
          </a:p>
        </p:txBody>
      </p:sp>
      <p:sp>
        <p:nvSpPr>
          <p:cNvPr id="40" name="Shape 38"/>
          <p:cNvSpPr/>
          <p:nvPr/>
        </p:nvSpPr>
        <p:spPr>
          <a:xfrm>
            <a:off x="4462272" y="1828800"/>
            <a:ext cx="146304" cy="146304"/>
          </a:xfrm>
          <a:prstGeom prst="rect">
            <a:avLst/>
          </a:prstGeom>
          <a:solidFill>
            <a:srgbClr val="D97706"/>
          </a:solidFill>
          <a:ln w="12700">
            <a:solidFill>
              <a:srgbClr val="D97706"/>
            </a:solidFill>
            <a:prstDash val="solid"/>
          </a:ln>
        </p:spPr>
      </p:sp>
      <p:sp>
        <p:nvSpPr>
          <p:cNvPr id="41" name="Text 39"/>
          <p:cNvSpPr/>
          <p:nvPr/>
        </p:nvSpPr>
        <p:spPr>
          <a:xfrm>
            <a:off x="4663440" y="1810512"/>
            <a:ext cx="4114800" cy="329184"/>
          </a:xfrm>
          <a:prstGeom prst="rect">
            <a:avLst/>
          </a:prstGeom>
          <a:noFill/>
          <a:ln/>
        </p:spPr>
        <p:txBody>
          <a:bodyPr wrap="square" lIns="0" tIns="0" rIns="0" bIns="0" rtlCol="0" anchor="ctr"/>
          <a:lstStyle/>
          <a:p>
            <a:pPr marL="0" indent="0">
              <a:buNone/>
            </a:pPr>
            <a:r>
              <a:rPr lang="en-US" sz="850" dirty="0">
                <a:solidFill>
                  <a:srgbClr val="333333"/>
                </a:solidFill>
                <a:latin typeface="Calibri" pitchFamily="34" charset="0"/>
                <a:ea typeface="Calibri" pitchFamily="34" charset="-122"/>
                <a:cs typeface="Calibri" pitchFamily="34" charset="-120"/>
              </a:rPr>
              <a:t>Alinear el PAC con plan estratégico institucional, metas sanitarias y compromisos de gestión</a:t>
            </a:r>
            <a:endParaRPr lang="en-US" sz="850" dirty="0"/>
          </a:p>
        </p:txBody>
      </p:sp>
      <p:sp>
        <p:nvSpPr>
          <p:cNvPr id="44" name="Shape 42"/>
          <p:cNvSpPr/>
          <p:nvPr/>
        </p:nvSpPr>
        <p:spPr>
          <a:xfrm>
            <a:off x="4480560" y="2212848"/>
            <a:ext cx="146304" cy="146304"/>
          </a:xfrm>
          <a:prstGeom prst="rect">
            <a:avLst/>
          </a:prstGeom>
          <a:solidFill>
            <a:srgbClr val="D97706"/>
          </a:solidFill>
          <a:ln w="12700">
            <a:solidFill>
              <a:srgbClr val="D97706"/>
            </a:solidFill>
            <a:prstDash val="solid"/>
          </a:ln>
        </p:spPr>
      </p:sp>
      <p:sp>
        <p:nvSpPr>
          <p:cNvPr id="45" name="Text 43"/>
          <p:cNvSpPr/>
          <p:nvPr/>
        </p:nvSpPr>
        <p:spPr>
          <a:xfrm>
            <a:off x="4663440" y="2167128"/>
            <a:ext cx="4114800" cy="329184"/>
          </a:xfrm>
          <a:prstGeom prst="rect">
            <a:avLst/>
          </a:prstGeom>
          <a:noFill/>
          <a:ln/>
        </p:spPr>
        <p:txBody>
          <a:bodyPr wrap="square" lIns="0" tIns="0" rIns="0" bIns="0" rtlCol="0" anchor="ctr"/>
          <a:lstStyle/>
          <a:p>
            <a:pPr marL="0" indent="0">
              <a:buNone/>
            </a:pPr>
            <a:r>
              <a:rPr lang="en-US" sz="850" dirty="0">
                <a:solidFill>
                  <a:srgbClr val="333333"/>
                </a:solidFill>
                <a:latin typeface="Calibri" pitchFamily="34" charset="0"/>
                <a:ea typeface="Calibri" pitchFamily="34" charset="-122"/>
                <a:cs typeface="Calibri" pitchFamily="34" charset="-120"/>
              </a:rPr>
              <a:t>Revisar las </a:t>
            </a:r>
            <a:r>
              <a:rPr lang="en-US" sz="850" dirty="0" err="1">
                <a:solidFill>
                  <a:srgbClr val="333333"/>
                </a:solidFill>
                <a:latin typeface="Calibri" pitchFamily="34" charset="0"/>
                <a:ea typeface="Calibri" pitchFamily="34" charset="-122"/>
                <a:cs typeface="Calibri" pitchFamily="34" charset="-120"/>
              </a:rPr>
              <a:t>desviaciones</a:t>
            </a:r>
            <a:r>
              <a:rPr lang="en-US" sz="850" dirty="0">
                <a:solidFill>
                  <a:srgbClr val="333333"/>
                </a:solidFill>
                <a:latin typeface="Calibri" pitchFamily="34" charset="0"/>
                <a:ea typeface="Calibri" pitchFamily="34" charset="-122"/>
                <a:cs typeface="Calibri" pitchFamily="34" charset="-120"/>
              </a:rPr>
              <a:t>  presentadas de acuerdo a la </a:t>
            </a:r>
            <a:r>
              <a:rPr lang="en-US" sz="850" dirty="0" err="1">
                <a:solidFill>
                  <a:srgbClr val="333333"/>
                </a:solidFill>
                <a:latin typeface="Calibri" pitchFamily="34" charset="0"/>
                <a:ea typeface="Calibri" pitchFamily="34" charset="-122"/>
                <a:cs typeface="Calibri" pitchFamily="34" charset="-120"/>
              </a:rPr>
              <a:t>planificación</a:t>
            </a:r>
            <a:r>
              <a:rPr lang="en-US" sz="850" dirty="0">
                <a:solidFill>
                  <a:srgbClr val="333333"/>
                </a:solidFill>
                <a:latin typeface="Calibri" pitchFamily="34" charset="0"/>
                <a:ea typeface="Calibri" pitchFamily="34" charset="-122"/>
                <a:cs typeface="Calibri" pitchFamily="34" charset="-120"/>
              </a:rPr>
              <a:t>  a fin de </a:t>
            </a:r>
            <a:r>
              <a:rPr lang="en-US" sz="850" dirty="0" err="1">
                <a:solidFill>
                  <a:srgbClr val="333333"/>
                </a:solidFill>
                <a:latin typeface="Calibri" pitchFamily="34" charset="0"/>
                <a:ea typeface="Calibri" pitchFamily="34" charset="-122"/>
                <a:cs typeface="Calibri" pitchFamily="34" charset="-120"/>
              </a:rPr>
              <a:t>tomar</a:t>
            </a:r>
            <a:r>
              <a:rPr lang="en-US" sz="850" dirty="0">
                <a:solidFill>
                  <a:srgbClr val="333333"/>
                </a:solidFill>
                <a:latin typeface="Calibri" pitchFamily="34" charset="0"/>
                <a:ea typeface="Calibri" pitchFamily="34" charset="-122"/>
                <a:cs typeface="Calibri" pitchFamily="34" charset="-120"/>
              </a:rPr>
              <a:t> </a:t>
            </a:r>
            <a:r>
              <a:rPr lang="en-US" sz="850" dirty="0" err="1">
                <a:solidFill>
                  <a:srgbClr val="333333"/>
                </a:solidFill>
                <a:latin typeface="Calibri" pitchFamily="34" charset="0"/>
                <a:ea typeface="Calibri" pitchFamily="34" charset="-122"/>
                <a:cs typeface="Calibri" pitchFamily="34" charset="-120"/>
              </a:rPr>
              <a:t>medidas</a:t>
            </a:r>
            <a:r>
              <a:rPr lang="en-US" sz="850" dirty="0">
                <a:solidFill>
                  <a:srgbClr val="333333"/>
                </a:solidFill>
                <a:latin typeface="Calibri" pitchFamily="34" charset="0"/>
                <a:ea typeface="Calibri" pitchFamily="34" charset="-122"/>
                <a:cs typeface="Calibri" pitchFamily="34" charset="-120"/>
              </a:rPr>
              <a:t> </a:t>
            </a:r>
            <a:r>
              <a:rPr lang="en-US" sz="850" dirty="0" err="1">
                <a:solidFill>
                  <a:srgbClr val="333333"/>
                </a:solidFill>
                <a:latin typeface="Calibri" pitchFamily="34" charset="0"/>
                <a:ea typeface="Calibri" pitchFamily="34" charset="-122"/>
                <a:cs typeface="Calibri" pitchFamily="34" charset="-120"/>
              </a:rPr>
              <a:t>correctivas</a:t>
            </a:r>
            <a:r>
              <a:rPr lang="en-US" sz="850" dirty="0">
                <a:solidFill>
                  <a:srgbClr val="333333"/>
                </a:solidFill>
                <a:latin typeface="Calibri" pitchFamily="34" charset="0"/>
                <a:ea typeface="Calibri" pitchFamily="34" charset="-122"/>
                <a:cs typeface="Calibri" pitchFamily="34" charset="-120"/>
              </a:rPr>
              <a:t> de forma </a:t>
            </a:r>
            <a:r>
              <a:rPr lang="en-US" sz="850" dirty="0" err="1">
                <a:solidFill>
                  <a:srgbClr val="333333"/>
                </a:solidFill>
                <a:latin typeface="Calibri" pitchFamily="34" charset="0"/>
                <a:ea typeface="Calibri" pitchFamily="34" charset="-122"/>
                <a:cs typeface="Calibri" pitchFamily="34" charset="-120"/>
              </a:rPr>
              <a:t>oportuna</a:t>
            </a:r>
            <a:r>
              <a:rPr lang="en-US" sz="850" dirty="0">
                <a:solidFill>
                  <a:srgbClr val="333333"/>
                </a:solidFill>
                <a:latin typeface="Calibri" pitchFamily="34" charset="0"/>
                <a:ea typeface="Calibri" pitchFamily="34" charset="-122"/>
                <a:cs typeface="Calibri" pitchFamily="34" charset="-120"/>
              </a:rPr>
              <a:t>. </a:t>
            </a:r>
            <a:endParaRPr lang="en-US" sz="850" dirty="0"/>
          </a:p>
        </p:txBody>
      </p:sp>
      <p:sp>
        <p:nvSpPr>
          <p:cNvPr id="48" name="Shape 46"/>
          <p:cNvSpPr/>
          <p:nvPr/>
        </p:nvSpPr>
        <p:spPr>
          <a:xfrm>
            <a:off x="4475335" y="2624655"/>
            <a:ext cx="146304" cy="146304"/>
          </a:xfrm>
          <a:prstGeom prst="rect">
            <a:avLst/>
          </a:prstGeom>
          <a:solidFill>
            <a:srgbClr val="00234E"/>
          </a:solidFill>
          <a:ln w="12700">
            <a:solidFill>
              <a:srgbClr val="00234E"/>
            </a:solidFill>
            <a:prstDash val="solid"/>
          </a:ln>
        </p:spPr>
      </p:sp>
      <p:sp>
        <p:nvSpPr>
          <p:cNvPr id="49" name="Text 47"/>
          <p:cNvSpPr/>
          <p:nvPr/>
        </p:nvSpPr>
        <p:spPr>
          <a:xfrm>
            <a:off x="4663440" y="2599509"/>
            <a:ext cx="4114800" cy="329184"/>
          </a:xfrm>
          <a:prstGeom prst="rect">
            <a:avLst/>
          </a:prstGeom>
          <a:noFill/>
          <a:ln/>
        </p:spPr>
        <p:txBody>
          <a:bodyPr wrap="square" lIns="0" tIns="0" rIns="0" bIns="0" rtlCol="0" anchor="ctr"/>
          <a:lstStyle/>
          <a:p>
            <a:pPr marL="0" indent="0">
              <a:buNone/>
            </a:pPr>
            <a:r>
              <a:rPr lang="en-US" sz="850" dirty="0">
                <a:solidFill>
                  <a:srgbClr val="333333"/>
                </a:solidFill>
                <a:latin typeface="Calibri" pitchFamily="34" charset="0"/>
                <a:ea typeface="Calibri" pitchFamily="34" charset="-122"/>
                <a:cs typeface="Calibri" pitchFamily="34" charset="-120"/>
              </a:rPr>
              <a:t>Actualizar PAC trimestralmente en Mercado Público; toda modificación requiere acto administrativo fundado</a:t>
            </a:r>
            <a:endParaRPr lang="en-US" sz="850" dirty="0"/>
          </a:p>
        </p:txBody>
      </p:sp>
      <p:sp>
        <p:nvSpPr>
          <p:cNvPr id="54" name="Shape 52"/>
          <p:cNvSpPr/>
          <p:nvPr/>
        </p:nvSpPr>
        <p:spPr>
          <a:xfrm>
            <a:off x="256032" y="4892040"/>
            <a:ext cx="146304" cy="128016"/>
          </a:xfrm>
          <a:prstGeom prst="rect">
            <a:avLst/>
          </a:prstGeom>
          <a:solidFill>
            <a:srgbClr val="D97706"/>
          </a:solidFill>
          <a:ln w="12700">
            <a:solidFill>
              <a:srgbClr val="D97706"/>
            </a:solidFill>
            <a:prstDash val="solid"/>
          </a:ln>
        </p:spPr>
      </p:sp>
      <p:sp>
        <p:nvSpPr>
          <p:cNvPr id="55" name="Text 53"/>
          <p:cNvSpPr/>
          <p:nvPr/>
        </p:nvSpPr>
        <p:spPr>
          <a:xfrm>
            <a:off x="438912" y="4873752"/>
            <a:ext cx="3657600" cy="164592"/>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Nuevo requisito no contemplado en Res. N°2194</a:t>
            </a:r>
            <a:endParaRPr lang="en-US" sz="850" dirty="0"/>
          </a:p>
        </p:txBody>
      </p:sp>
      <p:sp>
        <p:nvSpPr>
          <p:cNvPr id="56" name="Shape 54"/>
          <p:cNvSpPr/>
          <p:nvPr/>
        </p:nvSpPr>
        <p:spPr>
          <a:xfrm>
            <a:off x="0" y="5070348"/>
            <a:ext cx="9144000" cy="73152"/>
          </a:xfrm>
          <a:prstGeom prst="rect">
            <a:avLst/>
          </a:prstGeom>
          <a:solidFill>
            <a:srgbClr val="00234E"/>
          </a:solidFill>
          <a:ln w="12700">
            <a:solidFill>
              <a:srgbClr val="00234E"/>
            </a:solidFill>
            <a:prstDash val="solid"/>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5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234E"/>
          </a:solidFill>
          <a:ln w="12700">
            <a:solidFill>
              <a:srgbClr val="00234E"/>
            </a:solidFill>
            <a:prstDash val="solid"/>
          </a:ln>
        </p:spPr>
      </p:sp>
      <p:sp>
        <p:nvSpPr>
          <p:cNvPr id="3" name="Text 1"/>
          <p:cNvSpPr/>
          <p:nvPr/>
        </p:nvSpPr>
        <p:spPr>
          <a:xfrm>
            <a:off x="457200" y="128016"/>
            <a:ext cx="8229600" cy="438912"/>
          </a:xfrm>
          <a:prstGeom prst="rect">
            <a:avLst/>
          </a:prstGeom>
          <a:noFill/>
          <a:ln/>
        </p:spPr>
        <p:txBody>
          <a:bodyPr wrap="square" lIns="0" tIns="0" rIns="0" bIns="0" rtlCol="0" anchor="ctr"/>
          <a:lstStyle/>
          <a:p>
            <a:pPr marL="0" indent="0" algn="l">
              <a:buNone/>
            </a:pPr>
            <a:r>
              <a:rPr lang="en-US" sz="2000" b="1" dirty="0">
                <a:solidFill>
                  <a:srgbClr val="00234E"/>
                </a:solidFill>
                <a:latin typeface="Calibri" pitchFamily="34" charset="0"/>
                <a:ea typeface="Calibri" pitchFamily="34" charset="-122"/>
                <a:cs typeface="Calibri" pitchFamily="34" charset="-120"/>
              </a:rPr>
              <a:t>Comité PAC: Estado Actual y Propuestas de Mejora</a:t>
            </a:r>
            <a:endParaRPr lang="en-US" sz="2000" dirty="0"/>
          </a:p>
        </p:txBody>
      </p:sp>
      <p:sp>
        <p:nvSpPr>
          <p:cNvPr id="4" name="Shape 2"/>
          <p:cNvSpPr/>
          <p:nvPr/>
        </p:nvSpPr>
        <p:spPr>
          <a:xfrm>
            <a:off x="256032" y="658368"/>
            <a:ext cx="8631936" cy="548640"/>
          </a:xfrm>
          <a:prstGeom prst="rect">
            <a:avLst/>
          </a:prstGeom>
          <a:solidFill>
            <a:srgbClr val="FEF3C7"/>
          </a:solidFill>
          <a:ln w="12700">
            <a:solidFill>
              <a:srgbClr val="D97706"/>
            </a:solidFill>
            <a:prstDash val="solid"/>
          </a:ln>
        </p:spPr>
      </p:sp>
      <p:sp>
        <p:nvSpPr>
          <p:cNvPr id="5" name="Text 3"/>
          <p:cNvSpPr/>
          <p:nvPr/>
        </p:nvSpPr>
        <p:spPr>
          <a:xfrm>
            <a:off x="411480" y="694944"/>
            <a:ext cx="8321040" cy="457200"/>
          </a:xfrm>
          <a:prstGeom prst="rect">
            <a:avLst/>
          </a:prstGeom>
          <a:noFill/>
          <a:ln/>
        </p:spPr>
        <p:txBody>
          <a:bodyPr wrap="square" lIns="0" tIns="0" rIns="0" bIns="0" rtlCol="0" anchor="ctr"/>
          <a:lstStyle/>
          <a:p>
            <a:pPr marL="0" indent="0">
              <a:buNone/>
            </a:pPr>
            <a:r>
              <a:rPr lang="en-US" sz="950" b="1" i="1" dirty="0">
                <a:solidFill>
                  <a:srgbClr val="92400E"/>
                </a:solidFill>
                <a:latin typeface="Calibri" pitchFamily="34" charset="0"/>
                <a:ea typeface="Calibri" pitchFamily="34" charset="-122"/>
                <a:cs typeface="Calibri" pitchFamily="34" charset="-120"/>
              </a:rPr>
              <a:t>Reflexión: </a:t>
            </a:r>
            <a:r>
              <a:rPr lang="en-US" sz="950" i="1" dirty="0">
                <a:solidFill>
                  <a:srgbClr val="92400E"/>
                </a:solidFill>
                <a:latin typeface="Calibri" pitchFamily="34" charset="0"/>
                <a:ea typeface="Calibri" pitchFamily="34" charset="-122"/>
                <a:cs typeface="Calibri" pitchFamily="34" charset="-120"/>
              </a:rPr>
              <a:t>¿En qué medida el Comité PAC ha podido sesionar con regularidad? ¿Cómo se ha involucrado la perspectiva clínica y financiera en la planificación de compras? La siguiente tabla muestra lo que ya realizamos y lo que podríamos mejorar.</a:t>
            </a:r>
            <a:endParaRPr lang="en-US" sz="950" dirty="0"/>
          </a:p>
        </p:txBody>
      </p:sp>
      <p:graphicFrame>
        <p:nvGraphicFramePr>
          <p:cNvPr id="12" name="Table 0"/>
          <p:cNvGraphicFramePr>
            <a:graphicFrameLocks noGrp="1"/>
          </p:cNvGraphicFramePr>
          <p:nvPr>
            <p:extLst>
              <p:ext uri="{D42A27DB-BD31-4B8C-83A1-F6EECF244321}">
                <p14:modId xmlns:p14="http://schemas.microsoft.com/office/powerpoint/2010/main" val="2913241482"/>
              </p:ext>
            </p:extLst>
          </p:nvPr>
        </p:nvGraphicFramePr>
        <p:xfrm>
          <a:off x="256032" y="1261872"/>
          <a:ext cx="8631936" cy="3703320"/>
        </p:xfrm>
        <a:graphic>
          <a:graphicData uri="http://schemas.openxmlformats.org/drawingml/2006/table">
            <a:tbl>
              <a:tblPr/>
              <a:tblGrid>
                <a:gridCol w="146304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gridCol w="2231136">
                  <a:extLst>
                    <a:ext uri="{9D8B030D-6E8A-4147-A177-3AD203B41FA5}">
                      <a16:colId xmlns:a16="http://schemas.microsoft.com/office/drawing/2014/main" val="20003"/>
                    </a:ext>
                  </a:extLst>
                </a:gridCol>
              </a:tblGrid>
              <a:tr h="617220">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Aspecto</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0234E"/>
                    </a:solidFill>
                  </a:tcPr>
                </a:tc>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Lo que ya hacemos</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6A34A"/>
                    </a:solidFill>
                  </a:tcPr>
                </a:tc>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Propuesta de mejora</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05A9E"/>
                    </a:solidFill>
                  </a:tcPr>
                </a:tc>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Para qué</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04B8D"/>
                    </a:solidFill>
                  </a:tcPr>
                </a:tc>
                <a:extLst>
                  <a:ext uri="{0D108BD9-81ED-4DB2-BD59-A6C34878D82A}">
                    <a16:rowId xmlns:a16="http://schemas.microsoft.com/office/drawing/2014/main" val="10000"/>
                  </a:ext>
                </a:extLst>
              </a:tr>
              <a:tr h="617220">
                <a:tc>
                  <a:txBody>
                    <a:bodyPr/>
                    <a:lstStyle/>
                    <a:p>
                      <a:pPr marL="0" indent="0">
                        <a:buNone/>
                      </a:pPr>
                      <a:r>
                        <a:rPr lang="en-US" sz="850" dirty="0">
                          <a:solidFill>
                            <a:srgbClr val="000000"/>
                          </a:solidFill>
                          <a:latin typeface="Calibri" pitchFamily="34" charset="0"/>
                          <a:ea typeface="Calibri" pitchFamily="34" charset="-122"/>
                          <a:cs typeface="Calibri" pitchFamily="34" charset="-120"/>
                        </a:rPr>
                        <a:t>Sesiones del Comité PAC</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850" dirty="0">
                          <a:solidFill>
                            <a:srgbClr val="000000"/>
                          </a:solidFill>
                          <a:latin typeface="Calibri" pitchFamily="34" charset="0"/>
                          <a:ea typeface="Calibri" pitchFamily="34" charset="-122"/>
                          <a:cs typeface="Calibri" pitchFamily="34" charset="-120"/>
                        </a:rPr>
                        <a:t>Se realizan evaluaciones trimestrales de ejecución con acta y registro</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850" dirty="0">
                          <a:solidFill>
                            <a:srgbClr val="000000"/>
                          </a:solidFill>
                          <a:latin typeface="Calibri" pitchFamily="34" charset="0"/>
                          <a:ea typeface="Calibri" pitchFamily="34" charset="-122"/>
                          <a:cs typeface="Calibri" pitchFamily="34" charset="-120"/>
                        </a:rPr>
                        <a:t>Formalizar resolución que actualice integrantes del Comité y establezca calendario anual de sesiones</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850" dirty="0">
                          <a:solidFill>
                            <a:srgbClr val="000000"/>
                          </a:solidFill>
                          <a:latin typeface="Calibri" pitchFamily="34" charset="0"/>
                          <a:ea typeface="Calibri" pitchFamily="34" charset="-122"/>
                          <a:cs typeface="Calibri" pitchFamily="34" charset="-120"/>
                        </a:rPr>
                        <a:t>Dar cumplimiento al Oficio N°25231 y generar trazabilidad formal del proceso</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617220">
                <a:tc>
                  <a:txBody>
                    <a:bodyPr/>
                    <a:lstStyle/>
                    <a:p>
                      <a:pPr marL="0" indent="0">
                        <a:buNone/>
                      </a:pPr>
                      <a:r>
                        <a:rPr lang="en-US" sz="850" dirty="0">
                          <a:solidFill>
                            <a:srgbClr val="000000"/>
                          </a:solidFill>
                          <a:latin typeface="Calibri" pitchFamily="34" charset="0"/>
                          <a:ea typeface="Calibri" pitchFamily="34" charset="-122"/>
                          <a:cs typeface="Calibri" pitchFamily="34" charset="-120"/>
                        </a:rPr>
                        <a:t>Revisión de ejecución</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850" dirty="0">
                          <a:solidFill>
                            <a:srgbClr val="000000"/>
                          </a:solidFill>
                          <a:latin typeface="Calibri" pitchFamily="34" charset="0"/>
                          <a:ea typeface="Calibri" pitchFamily="34" charset="-122"/>
                          <a:cs typeface="Calibri" pitchFamily="34" charset="-120"/>
                        </a:rPr>
                        <a:t>Se revisa avance de ejecución por unidad de compra vs. PAC programado en cada corte trimestral</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850" dirty="0">
                          <a:solidFill>
                            <a:srgbClr val="000000"/>
                          </a:solidFill>
                          <a:latin typeface="Calibri" pitchFamily="34" charset="0"/>
                          <a:ea typeface="Calibri" pitchFamily="34" charset="-122"/>
                          <a:cs typeface="Calibri" pitchFamily="34" charset="-120"/>
                        </a:rPr>
                        <a:t>Incorporar informe estandarizado de ejecución que los directivos puedan revisar entre sesiones</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850" dirty="0">
                          <a:solidFill>
                            <a:srgbClr val="000000"/>
                          </a:solidFill>
                          <a:latin typeface="Calibri" pitchFamily="34" charset="0"/>
                          <a:ea typeface="Calibri" pitchFamily="34" charset="-122"/>
                          <a:cs typeface="Calibri" pitchFamily="34" charset="-120"/>
                        </a:rPr>
                        <a:t>Visibilizar brechas a tiempo y tomar decisiones de reprogramación oportunamente</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617220">
                <a:tc>
                  <a:txBody>
                    <a:bodyPr/>
                    <a:lstStyle/>
                    <a:p>
                      <a:pPr marL="0" indent="0">
                        <a:buNone/>
                      </a:pPr>
                      <a:r>
                        <a:rPr lang="en-US" sz="850" b="1" dirty="0">
                          <a:solidFill>
                            <a:srgbClr val="000000"/>
                          </a:solidFill>
                          <a:latin typeface="Calibri" pitchFamily="34" charset="0"/>
                          <a:ea typeface="Calibri" pitchFamily="34" charset="-122"/>
                          <a:cs typeface="Calibri" pitchFamily="34" charset="-120"/>
                        </a:rPr>
                        <a:t>Planificación de necesidades</a:t>
                      </a:r>
                      <a:endParaRPr lang="en-US" sz="850" b="1"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850" dirty="0">
                          <a:solidFill>
                            <a:srgbClr val="000000"/>
                          </a:solidFill>
                          <a:latin typeface="Calibri" pitchFamily="34" charset="0"/>
                          <a:ea typeface="Calibri" pitchFamily="34" charset="-122"/>
                          <a:cs typeface="Calibri" pitchFamily="34" charset="-120"/>
                        </a:rPr>
                        <a:t>Se levantan necesidades antes del 31 de octubre para el PAC del año siguiente</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850" b="1" dirty="0">
                          <a:solidFill>
                            <a:srgbClr val="000000"/>
                          </a:solidFill>
                          <a:latin typeface="Calibri" pitchFamily="34" charset="0"/>
                          <a:ea typeface="Calibri" pitchFamily="34" charset="-122"/>
                          <a:cs typeface="Calibri" pitchFamily="34" charset="-120"/>
                        </a:rPr>
                        <a:t>Crear Comite de Planification de Compras  </a:t>
                      </a:r>
                      <a:endParaRPr lang="en-US" sz="850" b="1"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850" dirty="0">
                          <a:solidFill>
                            <a:srgbClr val="000000"/>
                          </a:solidFill>
                          <a:latin typeface="Calibri" pitchFamily="34" charset="0"/>
                          <a:ea typeface="Calibri" pitchFamily="34" charset="-122"/>
                          <a:cs typeface="Calibri" pitchFamily="34" charset="-120"/>
                        </a:rPr>
                        <a:t>Asegurar que el PAC refleje la demanda asistencial real y no solo las necesidades administrativas</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617220">
                <a:tc>
                  <a:txBody>
                    <a:bodyPr/>
                    <a:lstStyle/>
                    <a:p>
                      <a:pPr marL="0" indent="0">
                        <a:buNone/>
                      </a:pPr>
                      <a:r>
                        <a:rPr lang="en-US" sz="850" dirty="0">
                          <a:solidFill>
                            <a:srgbClr val="000000"/>
                          </a:solidFill>
                          <a:latin typeface="Calibri" pitchFamily="34" charset="0"/>
                          <a:ea typeface="Calibri" pitchFamily="34" charset="-122"/>
                          <a:cs typeface="Calibri" pitchFamily="34" charset="-120"/>
                        </a:rPr>
                        <a:t>Participación clínica y financiera</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850" dirty="0">
                          <a:solidFill>
                            <a:srgbClr val="000000"/>
                          </a:solidFill>
                          <a:latin typeface="Calibri" pitchFamily="34" charset="0"/>
                          <a:ea typeface="Calibri" pitchFamily="34" charset="-122"/>
                          <a:cs typeface="Calibri" pitchFamily="34" charset="-120"/>
                        </a:rPr>
                        <a:t>Participa la Jefatura de Finanzas. Se trabaja coordinadamente con las unidades requirentes</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850" dirty="0">
                          <a:solidFill>
                            <a:srgbClr val="000000"/>
                          </a:solidFill>
                          <a:latin typeface="Calibri" pitchFamily="34" charset="0"/>
                          <a:ea typeface="Calibri" pitchFamily="34" charset="-122"/>
                          <a:cs typeface="Calibri" pitchFamily="34" charset="-120"/>
                        </a:rPr>
                        <a:t>Explorar la incorporación de al menos un referente clínico como contraparte técnica en el Comité (con rol acotado y flexible)</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850" dirty="0">
                          <a:solidFill>
                            <a:srgbClr val="000000"/>
                          </a:solidFill>
                          <a:latin typeface="Calibri" pitchFamily="34" charset="0"/>
                          <a:ea typeface="Calibri" pitchFamily="34" charset="-122"/>
                          <a:cs typeface="Calibri" pitchFamily="34" charset="-120"/>
                        </a:rPr>
                        <a:t>Dar cumplimiento al Oficio N°25231 y fortalecer la alineación con las necesidades sanitarias del Servicio</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r h="617220">
                <a:tc>
                  <a:txBody>
                    <a:bodyPr/>
                    <a:lstStyle/>
                    <a:p>
                      <a:pPr marL="0" indent="0">
                        <a:buNone/>
                      </a:pPr>
                      <a:r>
                        <a:rPr lang="en-US" sz="850" b="1" dirty="0">
                          <a:solidFill>
                            <a:srgbClr val="000000"/>
                          </a:solidFill>
                          <a:latin typeface="Calibri" pitchFamily="34" charset="0"/>
                          <a:ea typeface="Calibri" pitchFamily="34" charset="-122"/>
                          <a:cs typeface="Calibri" pitchFamily="34" charset="-120"/>
                        </a:rPr>
                        <a:t>Alineación estratégica</a:t>
                      </a:r>
                      <a:endParaRPr lang="en-US" sz="850" b="1"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850" dirty="0">
                          <a:solidFill>
                            <a:srgbClr val="000000"/>
                          </a:solidFill>
                          <a:latin typeface="Calibri" pitchFamily="34" charset="0"/>
                          <a:ea typeface="Calibri" pitchFamily="34" charset="-122"/>
                          <a:cs typeface="Calibri" pitchFamily="34" charset="-120"/>
                        </a:rPr>
                        <a:t>El PAC se elabora en base a presupuesto disponible y solicitudes de las unidades</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850" b="1" dirty="0">
                          <a:solidFill>
                            <a:srgbClr val="000000"/>
                          </a:solidFill>
                          <a:latin typeface="Calibri" pitchFamily="34" charset="0"/>
                          <a:ea typeface="Calibri" pitchFamily="34" charset="-122"/>
                          <a:cs typeface="Calibri" pitchFamily="34" charset="-120"/>
                        </a:rPr>
                        <a:t>Vincular formalmente el PAC con el Plan Estratégico SSO y los compromisos de gestión institucionales</a:t>
                      </a:r>
                      <a:endParaRPr lang="en-US" sz="850" b="1"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850" dirty="0">
                          <a:solidFill>
                            <a:srgbClr val="000000"/>
                          </a:solidFill>
                          <a:latin typeface="Calibri" pitchFamily="34" charset="0"/>
                          <a:ea typeface="Calibri" pitchFamily="34" charset="-122"/>
                          <a:cs typeface="Calibri" pitchFamily="34" charset="-120"/>
                        </a:rPr>
                        <a:t>Que la planificación de compras sea un reflejo de los objetivos sanitarios y no solo un ejercicio presupuestario</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7" name="Shape 4"/>
          <p:cNvSpPr/>
          <p:nvPr/>
        </p:nvSpPr>
        <p:spPr>
          <a:xfrm>
            <a:off x="0" y="5070348"/>
            <a:ext cx="9144000" cy="73152"/>
          </a:xfrm>
          <a:prstGeom prst="rect">
            <a:avLst/>
          </a:prstGeom>
          <a:solidFill>
            <a:srgbClr val="00234E"/>
          </a:solidFill>
          <a:ln w="12700">
            <a:solidFill>
              <a:srgbClr val="00234E"/>
            </a:solidFill>
            <a:prstDash val="solid"/>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234E"/>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4DAADF"/>
          </a:solidFill>
          <a:ln w="12700">
            <a:solidFill>
              <a:srgbClr val="4DAADF"/>
            </a:solidFill>
            <a:prstDash val="solid"/>
          </a:ln>
        </p:spPr>
      </p:sp>
      <p:sp>
        <p:nvSpPr>
          <p:cNvPr id="3" name="Shape 1"/>
          <p:cNvSpPr/>
          <p:nvPr/>
        </p:nvSpPr>
        <p:spPr>
          <a:xfrm>
            <a:off x="0" y="73152"/>
            <a:ext cx="228600" cy="5070348"/>
          </a:xfrm>
          <a:prstGeom prst="rect">
            <a:avLst/>
          </a:prstGeom>
          <a:solidFill>
            <a:srgbClr val="004B8D"/>
          </a:solidFill>
          <a:ln w="12700">
            <a:solidFill>
              <a:srgbClr val="004B8D"/>
            </a:solidFill>
            <a:prstDash val="solid"/>
          </a:ln>
        </p:spPr>
      </p:sp>
      <p:sp>
        <p:nvSpPr>
          <p:cNvPr id="4" name="Text 2"/>
          <p:cNvSpPr/>
          <p:nvPr/>
        </p:nvSpPr>
        <p:spPr>
          <a:xfrm>
            <a:off x="502920" y="731520"/>
            <a:ext cx="1828800" cy="1097280"/>
          </a:xfrm>
          <a:prstGeom prst="rect">
            <a:avLst/>
          </a:prstGeom>
          <a:noFill/>
          <a:ln/>
        </p:spPr>
        <p:txBody>
          <a:bodyPr wrap="square" lIns="0" tIns="0" rIns="0" bIns="0" rtlCol="0" anchor="ctr"/>
          <a:lstStyle/>
          <a:p>
            <a:pPr marL="0" indent="0">
              <a:buNone/>
            </a:pPr>
            <a:r>
              <a:rPr lang="en-US" sz="8000" b="1" dirty="0">
                <a:solidFill>
                  <a:srgbClr val="1A3A6B"/>
                </a:solidFill>
                <a:latin typeface="Calibri" pitchFamily="34" charset="0"/>
                <a:ea typeface="Calibri" pitchFamily="34" charset="-122"/>
                <a:cs typeface="Calibri" pitchFamily="34" charset="-120"/>
              </a:rPr>
              <a:t>03</a:t>
            </a:r>
            <a:endParaRPr lang="en-US" sz="8000" dirty="0"/>
          </a:p>
        </p:txBody>
      </p:sp>
      <p:sp>
        <p:nvSpPr>
          <p:cNvPr id="5" name="Text 3"/>
          <p:cNvSpPr/>
          <p:nvPr/>
        </p:nvSpPr>
        <p:spPr>
          <a:xfrm>
            <a:off x="502920" y="1828800"/>
            <a:ext cx="8229600" cy="1280160"/>
          </a:xfrm>
          <a:prstGeom prst="rect">
            <a:avLst/>
          </a:prstGeom>
          <a:noFill/>
          <a:ln/>
        </p:spPr>
        <p:txBody>
          <a:bodyPr wrap="square" lIns="0" tIns="0" rIns="0" bIns="0"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RESULTADOS</a:t>
            </a:r>
            <a:endParaRPr lang="en-US" sz="3400" dirty="0"/>
          </a:p>
          <a:p>
            <a:pPr marL="0" indent="0">
              <a:buNone/>
            </a:pPr>
            <a:r>
              <a:rPr lang="en-US" sz="3400" b="1" dirty="0">
                <a:solidFill>
                  <a:srgbClr val="FFFFFF"/>
                </a:solidFill>
                <a:latin typeface="Calibri" pitchFamily="34" charset="0"/>
                <a:ea typeface="Calibri" pitchFamily="34" charset="-122"/>
                <a:cs typeface="Calibri" pitchFamily="34" charset="-120"/>
              </a:rPr>
              <a:t>EVALUACIÓN PAC 2025</a:t>
            </a:r>
            <a:endParaRPr lang="en-US" sz="3400" dirty="0"/>
          </a:p>
        </p:txBody>
      </p:sp>
      <p:sp>
        <p:nvSpPr>
          <p:cNvPr id="6" name="Text 4"/>
          <p:cNvSpPr/>
          <p:nvPr/>
        </p:nvSpPr>
        <p:spPr>
          <a:xfrm>
            <a:off x="502920" y="3200400"/>
            <a:ext cx="8229600" cy="457200"/>
          </a:xfrm>
          <a:prstGeom prst="rect">
            <a:avLst/>
          </a:prstGeom>
          <a:noFill/>
          <a:ln/>
        </p:spPr>
        <p:txBody>
          <a:bodyPr wrap="square" lIns="0" tIns="0" rIns="0" bIns="0" rtlCol="0" anchor="ctr"/>
          <a:lstStyle/>
          <a:p>
            <a:pPr marL="0" indent="0">
              <a:buNone/>
            </a:pPr>
            <a:r>
              <a:rPr lang="en-US" sz="1500" i="1" dirty="0">
                <a:solidFill>
                  <a:srgbClr val="4DAADF"/>
                </a:solidFill>
                <a:latin typeface="Calibri" pitchFamily="34" charset="0"/>
                <a:ea typeface="Calibri" pitchFamily="34" charset="-122"/>
                <a:cs typeface="Calibri" pitchFamily="34" charset="-120"/>
              </a:rPr>
              <a:t>Primera medición nacional — Línea base — Informe generado el 23/03/2026</a:t>
            </a:r>
            <a:endParaRPr lang="en-US" sz="1500" dirty="0"/>
          </a:p>
        </p:txBody>
      </p:sp>
      <p:sp>
        <p:nvSpPr>
          <p:cNvPr id="7" name="Shape 5"/>
          <p:cNvSpPr/>
          <p:nvPr/>
        </p:nvSpPr>
        <p:spPr>
          <a:xfrm>
            <a:off x="0" y="5070348"/>
            <a:ext cx="9144000" cy="73152"/>
          </a:xfrm>
          <a:prstGeom prst="rect">
            <a:avLst/>
          </a:prstGeom>
          <a:solidFill>
            <a:srgbClr val="4DAADF"/>
          </a:solidFill>
          <a:ln w="12700">
            <a:solidFill>
              <a:srgbClr val="4DAADF"/>
            </a:solidFill>
            <a:prstDash val="solid"/>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0F5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234E"/>
          </a:solidFill>
          <a:ln w="12700">
            <a:solidFill>
              <a:srgbClr val="00234E"/>
            </a:solidFill>
            <a:prstDash val="solid"/>
          </a:ln>
        </p:spPr>
      </p:sp>
      <p:sp>
        <p:nvSpPr>
          <p:cNvPr id="3" name="Text 1"/>
          <p:cNvSpPr/>
          <p:nvPr/>
        </p:nvSpPr>
        <p:spPr>
          <a:xfrm>
            <a:off x="457200" y="137160"/>
            <a:ext cx="8229600" cy="438912"/>
          </a:xfrm>
          <a:prstGeom prst="rect">
            <a:avLst/>
          </a:prstGeom>
          <a:noFill/>
          <a:ln/>
        </p:spPr>
        <p:txBody>
          <a:bodyPr wrap="square" lIns="0" tIns="0" rIns="0" bIns="0" rtlCol="0" anchor="ctr"/>
          <a:lstStyle/>
          <a:p>
            <a:pPr marL="0" indent="0" algn="l">
              <a:buNone/>
            </a:pPr>
            <a:r>
              <a:rPr lang="en-US" sz="2200" b="1" dirty="0">
                <a:solidFill>
                  <a:srgbClr val="00234E"/>
                </a:solidFill>
                <a:latin typeface="Calibri" pitchFamily="34" charset="0"/>
                <a:ea typeface="Calibri" pitchFamily="34" charset="-122"/>
                <a:cs typeface="Calibri" pitchFamily="34" charset="-120"/>
              </a:rPr>
              <a:t>Resumen de Indicadores — PAC 2025</a:t>
            </a:r>
            <a:endParaRPr lang="en-US" sz="2200" dirty="0"/>
          </a:p>
        </p:txBody>
      </p:sp>
      <p:sp>
        <p:nvSpPr>
          <p:cNvPr id="4" name="Text 2"/>
          <p:cNvSpPr/>
          <p:nvPr/>
        </p:nvSpPr>
        <p:spPr>
          <a:xfrm>
            <a:off x="457200" y="548640"/>
            <a:ext cx="8229600" cy="201168"/>
          </a:xfrm>
          <a:prstGeom prst="rect">
            <a:avLst/>
          </a:prstGeom>
          <a:noFill/>
          <a:ln/>
        </p:spPr>
        <p:txBody>
          <a:bodyPr wrap="square" lIns="0" tIns="0" rIns="0" bIns="0" rtlCol="0" anchor="ctr"/>
          <a:lstStyle/>
          <a:p>
            <a:pPr marL="0" indent="0">
              <a:buNone/>
            </a:pPr>
            <a:r>
              <a:rPr lang="en-US" sz="950" i="1" dirty="0">
                <a:solidFill>
                  <a:srgbClr val="64748B"/>
                </a:solidFill>
                <a:latin typeface="Calibri" pitchFamily="34" charset="0"/>
                <a:ea typeface="Calibri" pitchFamily="34" charset="-122"/>
                <a:cs typeface="Calibri" pitchFamily="34" charset="-120"/>
              </a:rPr>
              <a:t>Comparativa SSO vs. Media y Mediana Nacional | Fuente: Mercado Público — ChileCompra | Informe 23/03/2026</a:t>
            </a:r>
            <a:endParaRPr lang="en-US" sz="950" dirty="0"/>
          </a:p>
        </p:txBody>
      </p:sp>
      <p:sp>
        <p:nvSpPr>
          <p:cNvPr id="5" name="Shape 3"/>
          <p:cNvSpPr/>
          <p:nvPr/>
        </p:nvSpPr>
        <p:spPr>
          <a:xfrm>
            <a:off x="256032" y="822960"/>
            <a:ext cx="8631936" cy="621792"/>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6" name="Shape 4"/>
          <p:cNvSpPr/>
          <p:nvPr/>
        </p:nvSpPr>
        <p:spPr>
          <a:xfrm>
            <a:off x="256032" y="822960"/>
            <a:ext cx="91440" cy="621792"/>
          </a:xfrm>
          <a:prstGeom prst="rect">
            <a:avLst/>
          </a:prstGeom>
          <a:solidFill>
            <a:srgbClr val="16A34A"/>
          </a:solidFill>
          <a:ln w="12700">
            <a:solidFill>
              <a:srgbClr val="16A34A"/>
            </a:solidFill>
            <a:prstDash val="solid"/>
          </a:ln>
        </p:spPr>
      </p:sp>
      <p:sp>
        <p:nvSpPr>
          <p:cNvPr id="7" name="Shape 5"/>
          <p:cNvSpPr/>
          <p:nvPr/>
        </p:nvSpPr>
        <p:spPr>
          <a:xfrm>
            <a:off x="365760" y="978408"/>
            <a:ext cx="310896" cy="310896"/>
          </a:xfrm>
          <a:prstGeom prst="rect">
            <a:avLst/>
          </a:prstGeom>
          <a:solidFill>
            <a:srgbClr val="F0FDF4"/>
          </a:solidFill>
          <a:ln w="10160">
            <a:solidFill>
              <a:srgbClr val="16A34A"/>
            </a:solidFill>
            <a:prstDash val="solid"/>
          </a:ln>
        </p:spPr>
      </p:sp>
      <p:sp>
        <p:nvSpPr>
          <p:cNvPr id="8" name="Text 6"/>
          <p:cNvSpPr/>
          <p:nvPr/>
        </p:nvSpPr>
        <p:spPr>
          <a:xfrm>
            <a:off x="365760" y="960120"/>
            <a:ext cx="310896" cy="347472"/>
          </a:xfrm>
          <a:prstGeom prst="rect">
            <a:avLst/>
          </a:prstGeom>
          <a:noFill/>
          <a:ln/>
        </p:spPr>
        <p:txBody>
          <a:bodyPr wrap="square" lIns="0" tIns="0" rIns="0" bIns="0" rtlCol="0" anchor="ctr"/>
          <a:lstStyle/>
          <a:p>
            <a:pPr marL="0" indent="0" algn="ctr">
              <a:buNone/>
            </a:pPr>
            <a:r>
              <a:rPr lang="en-US" sz="1500" b="1" dirty="0">
                <a:solidFill>
                  <a:srgbClr val="16A34A"/>
                </a:solidFill>
                <a:latin typeface="Calibri" pitchFamily="34" charset="0"/>
                <a:ea typeface="Calibri" pitchFamily="34" charset="-122"/>
                <a:cs typeface="Calibri" pitchFamily="34" charset="-120"/>
              </a:rPr>
              <a:t>↑</a:t>
            </a:r>
            <a:endParaRPr lang="en-US" sz="1500" dirty="0"/>
          </a:p>
        </p:txBody>
      </p:sp>
      <p:sp>
        <p:nvSpPr>
          <p:cNvPr id="9" name="Text 7"/>
          <p:cNvSpPr/>
          <p:nvPr/>
        </p:nvSpPr>
        <p:spPr>
          <a:xfrm>
            <a:off x="749808" y="859536"/>
            <a:ext cx="2194560" cy="237744"/>
          </a:xfrm>
          <a:prstGeom prst="rect">
            <a:avLst/>
          </a:prstGeom>
          <a:noFill/>
          <a:ln/>
        </p:spPr>
        <p:txBody>
          <a:bodyPr wrap="square" lIns="0" tIns="0" rIns="0" bIns="0" rtlCol="0" anchor="ctr"/>
          <a:lstStyle/>
          <a:p>
            <a:pPr marL="0" indent="0">
              <a:buNone/>
            </a:pPr>
            <a:r>
              <a:rPr lang="en-US" sz="1000" b="1" dirty="0">
                <a:solidFill>
                  <a:srgbClr val="00234E"/>
                </a:solidFill>
                <a:latin typeface="Calibri" pitchFamily="34" charset="0"/>
                <a:ea typeface="Calibri" pitchFamily="34" charset="-122"/>
                <a:cs typeface="Calibri" pitchFamily="34" charset="-120"/>
              </a:rPr>
              <a:t>Compras dentro del PAC</a:t>
            </a:r>
            <a:endParaRPr lang="en-US" sz="1000" dirty="0"/>
          </a:p>
        </p:txBody>
      </p:sp>
      <p:sp>
        <p:nvSpPr>
          <p:cNvPr id="10" name="Text 8"/>
          <p:cNvSpPr/>
          <p:nvPr/>
        </p:nvSpPr>
        <p:spPr>
          <a:xfrm>
            <a:off x="749808" y="1133856"/>
            <a:ext cx="1188720" cy="256032"/>
          </a:xfrm>
          <a:prstGeom prst="rect">
            <a:avLst/>
          </a:prstGeom>
          <a:noFill/>
          <a:ln/>
        </p:spPr>
        <p:txBody>
          <a:bodyPr wrap="square" lIns="0" tIns="0" rIns="0" bIns="0" rtlCol="0" anchor="ctr"/>
          <a:lstStyle/>
          <a:p>
            <a:pPr marL="0" indent="0">
              <a:buNone/>
            </a:pPr>
            <a:r>
              <a:rPr lang="en-US" sz="1400" b="1" dirty="0">
                <a:solidFill>
                  <a:srgbClr val="16A34A"/>
                </a:solidFill>
                <a:latin typeface="Calibri" pitchFamily="34" charset="0"/>
                <a:ea typeface="Calibri" pitchFamily="34" charset="-122"/>
                <a:cs typeface="Calibri" pitchFamily="34" charset="-120"/>
              </a:rPr>
              <a:t>78.00%</a:t>
            </a:r>
            <a:endParaRPr lang="en-US" sz="1400" dirty="0"/>
          </a:p>
        </p:txBody>
      </p:sp>
      <p:sp>
        <p:nvSpPr>
          <p:cNvPr id="11" name="Text 9"/>
          <p:cNvSpPr/>
          <p:nvPr/>
        </p:nvSpPr>
        <p:spPr>
          <a:xfrm>
            <a:off x="1920240" y="1188720"/>
            <a:ext cx="1920240" cy="201168"/>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Media: 56.58%  |  Mediana: 62.03%</a:t>
            </a:r>
            <a:endParaRPr lang="en-US" sz="850" dirty="0"/>
          </a:p>
        </p:txBody>
      </p:sp>
      <p:sp>
        <p:nvSpPr>
          <p:cNvPr id="12" name="Text 10"/>
          <p:cNvSpPr/>
          <p:nvPr/>
        </p:nvSpPr>
        <p:spPr>
          <a:xfrm>
            <a:off x="3931920" y="877824"/>
            <a:ext cx="4846320" cy="512064"/>
          </a:xfrm>
          <a:prstGeom prst="rect">
            <a:avLst/>
          </a:prstGeom>
          <a:noFill/>
          <a:ln/>
        </p:spPr>
        <p:txBody>
          <a:bodyPr wrap="square" lIns="0" tIns="0" rIns="0" bIns="0" rtlCol="0" anchor="ctr"/>
          <a:lstStyle/>
          <a:p>
            <a:pPr marL="0" indent="0">
              <a:buNone/>
            </a:pPr>
            <a:r>
              <a:rPr lang="en-US" sz="850" dirty="0">
                <a:solidFill>
                  <a:srgbClr val="333333"/>
                </a:solidFill>
                <a:latin typeface="Calibri" pitchFamily="34" charset="0"/>
                <a:ea typeface="Calibri" pitchFamily="34" charset="-122"/>
                <a:cs typeface="Calibri" pitchFamily="34" charset="-120"/>
              </a:rPr>
              <a:t>SSO supera ampliamente la media nacional (+21 pp) y la mediana (+16 pp). El 22% restante representa oportunidad de mejora hacia 2026.</a:t>
            </a:r>
            <a:endParaRPr lang="en-US" sz="850" dirty="0"/>
          </a:p>
        </p:txBody>
      </p:sp>
      <p:sp>
        <p:nvSpPr>
          <p:cNvPr id="13" name="Shape 11"/>
          <p:cNvSpPr/>
          <p:nvPr/>
        </p:nvSpPr>
        <p:spPr>
          <a:xfrm>
            <a:off x="256032" y="1499616"/>
            <a:ext cx="8631936" cy="621792"/>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14" name="Shape 12"/>
          <p:cNvSpPr/>
          <p:nvPr/>
        </p:nvSpPr>
        <p:spPr>
          <a:xfrm>
            <a:off x="256032" y="1499616"/>
            <a:ext cx="91440" cy="621792"/>
          </a:xfrm>
          <a:prstGeom prst="rect">
            <a:avLst/>
          </a:prstGeom>
          <a:solidFill>
            <a:srgbClr val="D97706"/>
          </a:solidFill>
          <a:ln w="12700">
            <a:solidFill>
              <a:srgbClr val="D97706"/>
            </a:solidFill>
            <a:prstDash val="solid"/>
          </a:ln>
        </p:spPr>
      </p:sp>
      <p:sp>
        <p:nvSpPr>
          <p:cNvPr id="15" name="Shape 13"/>
          <p:cNvSpPr/>
          <p:nvPr/>
        </p:nvSpPr>
        <p:spPr>
          <a:xfrm>
            <a:off x="365760" y="1655064"/>
            <a:ext cx="310896" cy="310896"/>
          </a:xfrm>
          <a:prstGeom prst="rect">
            <a:avLst/>
          </a:prstGeom>
          <a:solidFill>
            <a:srgbClr val="FFFBEB"/>
          </a:solidFill>
          <a:ln w="10160">
            <a:solidFill>
              <a:srgbClr val="D97706"/>
            </a:solidFill>
            <a:prstDash val="solid"/>
          </a:ln>
        </p:spPr>
      </p:sp>
      <p:sp>
        <p:nvSpPr>
          <p:cNvPr id="16" name="Text 14"/>
          <p:cNvSpPr/>
          <p:nvPr/>
        </p:nvSpPr>
        <p:spPr>
          <a:xfrm>
            <a:off x="365760" y="1636776"/>
            <a:ext cx="310896" cy="347472"/>
          </a:xfrm>
          <a:prstGeom prst="rect">
            <a:avLst/>
          </a:prstGeom>
          <a:noFill/>
          <a:ln/>
        </p:spPr>
        <p:txBody>
          <a:bodyPr wrap="square" lIns="0" tIns="0" rIns="0" bIns="0" rtlCol="0" anchor="ctr"/>
          <a:lstStyle/>
          <a:p>
            <a:pPr marL="0" indent="0" algn="ctr">
              <a:buNone/>
            </a:pPr>
            <a:r>
              <a:rPr lang="en-US" sz="1500" b="1" dirty="0">
                <a:solidFill>
                  <a:srgbClr val="D97706"/>
                </a:solidFill>
                <a:latin typeface="Calibri" pitchFamily="34" charset="0"/>
                <a:ea typeface="Calibri" pitchFamily="34" charset="-122"/>
                <a:cs typeface="Calibri" pitchFamily="34" charset="-120"/>
              </a:rPr>
              <a:t>→</a:t>
            </a:r>
            <a:endParaRPr lang="en-US" sz="1500" dirty="0"/>
          </a:p>
        </p:txBody>
      </p:sp>
      <p:sp>
        <p:nvSpPr>
          <p:cNvPr id="17" name="Text 15"/>
          <p:cNvSpPr/>
          <p:nvPr/>
        </p:nvSpPr>
        <p:spPr>
          <a:xfrm>
            <a:off x="749808" y="1536192"/>
            <a:ext cx="2194560" cy="237744"/>
          </a:xfrm>
          <a:prstGeom prst="rect">
            <a:avLst/>
          </a:prstGeom>
          <a:noFill/>
          <a:ln/>
        </p:spPr>
        <p:txBody>
          <a:bodyPr wrap="square" lIns="0" tIns="0" rIns="0" bIns="0" rtlCol="0" anchor="ctr"/>
          <a:lstStyle/>
          <a:p>
            <a:pPr marL="0" indent="0">
              <a:buNone/>
            </a:pPr>
            <a:r>
              <a:rPr lang="en-US" sz="1000" b="1" dirty="0">
                <a:solidFill>
                  <a:srgbClr val="00234E"/>
                </a:solidFill>
                <a:latin typeface="Calibri" pitchFamily="34" charset="0"/>
                <a:ea typeface="Calibri" pitchFamily="34" charset="-122"/>
                <a:cs typeface="Calibri" pitchFamily="34" charset="-120"/>
              </a:rPr>
              <a:t>Procesos Competitivos</a:t>
            </a:r>
            <a:endParaRPr lang="en-US" sz="1000" dirty="0"/>
          </a:p>
        </p:txBody>
      </p:sp>
      <p:sp>
        <p:nvSpPr>
          <p:cNvPr id="18" name="Text 16"/>
          <p:cNvSpPr/>
          <p:nvPr/>
        </p:nvSpPr>
        <p:spPr>
          <a:xfrm>
            <a:off x="749808" y="1810512"/>
            <a:ext cx="1188720" cy="256032"/>
          </a:xfrm>
          <a:prstGeom prst="rect">
            <a:avLst/>
          </a:prstGeom>
          <a:noFill/>
          <a:ln/>
        </p:spPr>
        <p:txBody>
          <a:bodyPr wrap="square" lIns="0" tIns="0" rIns="0" bIns="0" rtlCol="0" anchor="ctr"/>
          <a:lstStyle/>
          <a:p>
            <a:pPr marL="0" indent="0">
              <a:buNone/>
            </a:pPr>
            <a:r>
              <a:rPr lang="en-US" sz="1400" b="1" dirty="0">
                <a:solidFill>
                  <a:srgbClr val="D97706"/>
                </a:solidFill>
                <a:latin typeface="Calibri" pitchFamily="34" charset="0"/>
                <a:ea typeface="Calibri" pitchFamily="34" charset="-122"/>
                <a:cs typeface="Calibri" pitchFamily="34" charset="-120"/>
              </a:rPr>
              <a:t>91.56%</a:t>
            </a:r>
            <a:endParaRPr lang="en-US" sz="1400" dirty="0"/>
          </a:p>
        </p:txBody>
      </p:sp>
      <p:sp>
        <p:nvSpPr>
          <p:cNvPr id="19" name="Text 17"/>
          <p:cNvSpPr/>
          <p:nvPr/>
        </p:nvSpPr>
        <p:spPr>
          <a:xfrm>
            <a:off x="1920240" y="1865376"/>
            <a:ext cx="1920240" cy="201168"/>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Media: 86.60%  |  Mediana: 91.81%</a:t>
            </a:r>
            <a:endParaRPr lang="en-US" sz="850" dirty="0"/>
          </a:p>
        </p:txBody>
      </p:sp>
      <p:sp>
        <p:nvSpPr>
          <p:cNvPr id="20" name="Text 18"/>
          <p:cNvSpPr/>
          <p:nvPr/>
        </p:nvSpPr>
        <p:spPr>
          <a:xfrm>
            <a:off x="3931920" y="1554480"/>
            <a:ext cx="4846320" cy="512064"/>
          </a:xfrm>
          <a:prstGeom prst="rect">
            <a:avLst/>
          </a:prstGeom>
          <a:noFill/>
          <a:ln/>
        </p:spPr>
        <p:txBody>
          <a:bodyPr wrap="square" lIns="0" tIns="0" rIns="0" bIns="0" rtlCol="0" anchor="ctr"/>
          <a:lstStyle/>
          <a:p>
            <a:pPr marL="0" indent="0">
              <a:buNone/>
            </a:pPr>
            <a:r>
              <a:rPr lang="en-US" sz="850" dirty="0">
                <a:solidFill>
                  <a:srgbClr val="333333"/>
                </a:solidFill>
                <a:latin typeface="Calibri" pitchFamily="34" charset="0"/>
                <a:ea typeface="Calibri" pitchFamily="34" charset="-122"/>
                <a:cs typeface="Calibri" pitchFamily="34" charset="-120"/>
              </a:rPr>
              <a:t>SSO está sobre la media nacional pero levemente bajo la mediana (0.25 pp). Resultado sólido con margen de mejora.</a:t>
            </a:r>
            <a:endParaRPr lang="en-US" sz="850" dirty="0"/>
          </a:p>
        </p:txBody>
      </p:sp>
      <p:sp>
        <p:nvSpPr>
          <p:cNvPr id="21" name="Shape 19"/>
          <p:cNvSpPr/>
          <p:nvPr/>
        </p:nvSpPr>
        <p:spPr>
          <a:xfrm>
            <a:off x="256032" y="2176272"/>
            <a:ext cx="8631936" cy="621792"/>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22" name="Shape 20"/>
          <p:cNvSpPr/>
          <p:nvPr/>
        </p:nvSpPr>
        <p:spPr>
          <a:xfrm>
            <a:off x="256032" y="2176272"/>
            <a:ext cx="91440" cy="621792"/>
          </a:xfrm>
          <a:prstGeom prst="rect">
            <a:avLst/>
          </a:prstGeom>
          <a:solidFill>
            <a:srgbClr val="D97706"/>
          </a:solidFill>
          <a:ln w="12700">
            <a:solidFill>
              <a:srgbClr val="D97706"/>
            </a:solidFill>
            <a:prstDash val="solid"/>
          </a:ln>
        </p:spPr>
      </p:sp>
      <p:sp>
        <p:nvSpPr>
          <p:cNvPr id="23" name="Shape 21"/>
          <p:cNvSpPr/>
          <p:nvPr/>
        </p:nvSpPr>
        <p:spPr>
          <a:xfrm>
            <a:off x="365760" y="2331720"/>
            <a:ext cx="310896" cy="310896"/>
          </a:xfrm>
          <a:prstGeom prst="rect">
            <a:avLst/>
          </a:prstGeom>
          <a:solidFill>
            <a:srgbClr val="FFFBEB"/>
          </a:solidFill>
          <a:ln w="10160">
            <a:solidFill>
              <a:srgbClr val="D97706"/>
            </a:solidFill>
            <a:prstDash val="solid"/>
          </a:ln>
        </p:spPr>
      </p:sp>
      <p:sp>
        <p:nvSpPr>
          <p:cNvPr id="24" name="Text 22"/>
          <p:cNvSpPr/>
          <p:nvPr/>
        </p:nvSpPr>
        <p:spPr>
          <a:xfrm>
            <a:off x="365760" y="2313432"/>
            <a:ext cx="310896" cy="347472"/>
          </a:xfrm>
          <a:prstGeom prst="rect">
            <a:avLst/>
          </a:prstGeom>
          <a:noFill/>
          <a:ln/>
        </p:spPr>
        <p:txBody>
          <a:bodyPr wrap="square" lIns="0" tIns="0" rIns="0" bIns="0" rtlCol="0" anchor="ctr"/>
          <a:lstStyle/>
          <a:p>
            <a:pPr marL="0" indent="0" algn="ctr">
              <a:buNone/>
            </a:pPr>
            <a:r>
              <a:rPr lang="en-US" sz="1500" b="1" dirty="0">
                <a:solidFill>
                  <a:srgbClr val="D97706"/>
                </a:solidFill>
                <a:latin typeface="Calibri" pitchFamily="34" charset="0"/>
                <a:ea typeface="Calibri" pitchFamily="34" charset="-122"/>
                <a:cs typeface="Calibri" pitchFamily="34" charset="-120"/>
              </a:rPr>
              <a:t>→</a:t>
            </a:r>
            <a:endParaRPr lang="en-US" sz="1500" dirty="0"/>
          </a:p>
        </p:txBody>
      </p:sp>
      <p:sp>
        <p:nvSpPr>
          <p:cNvPr id="25" name="Text 23"/>
          <p:cNvSpPr/>
          <p:nvPr/>
        </p:nvSpPr>
        <p:spPr>
          <a:xfrm>
            <a:off x="749808" y="2212848"/>
            <a:ext cx="2194560" cy="237744"/>
          </a:xfrm>
          <a:prstGeom prst="rect">
            <a:avLst/>
          </a:prstGeom>
          <a:noFill/>
          <a:ln/>
        </p:spPr>
        <p:txBody>
          <a:bodyPr wrap="square" lIns="0" tIns="0" rIns="0" bIns="0" rtlCol="0" anchor="ctr"/>
          <a:lstStyle/>
          <a:p>
            <a:pPr marL="0" indent="0">
              <a:buNone/>
            </a:pPr>
            <a:r>
              <a:rPr lang="en-US" sz="1000" b="1" dirty="0">
                <a:solidFill>
                  <a:srgbClr val="00234E"/>
                </a:solidFill>
                <a:latin typeface="Calibri" pitchFamily="34" charset="0"/>
                <a:ea typeface="Calibri" pitchFamily="34" charset="-122"/>
                <a:cs typeface="Calibri" pitchFamily="34" charset="-120"/>
              </a:rPr>
              <a:t>Evaluación de Contratos</a:t>
            </a:r>
            <a:endParaRPr lang="en-US" sz="1000" dirty="0"/>
          </a:p>
        </p:txBody>
      </p:sp>
      <p:sp>
        <p:nvSpPr>
          <p:cNvPr id="26" name="Text 24"/>
          <p:cNvSpPr/>
          <p:nvPr/>
        </p:nvSpPr>
        <p:spPr>
          <a:xfrm>
            <a:off x="749808" y="2487168"/>
            <a:ext cx="1188720" cy="256032"/>
          </a:xfrm>
          <a:prstGeom prst="rect">
            <a:avLst/>
          </a:prstGeom>
          <a:noFill/>
          <a:ln/>
        </p:spPr>
        <p:txBody>
          <a:bodyPr wrap="square" lIns="0" tIns="0" rIns="0" bIns="0" rtlCol="0" anchor="ctr"/>
          <a:lstStyle/>
          <a:p>
            <a:pPr marL="0" indent="0">
              <a:buNone/>
            </a:pPr>
            <a:r>
              <a:rPr lang="en-US" sz="1400" b="1" dirty="0">
                <a:solidFill>
                  <a:srgbClr val="D97706"/>
                </a:solidFill>
                <a:latin typeface="Calibri" pitchFamily="34" charset="0"/>
                <a:ea typeface="Calibri" pitchFamily="34" charset="-122"/>
                <a:cs typeface="Calibri" pitchFamily="34" charset="-120"/>
              </a:rPr>
              <a:t>5.00</a:t>
            </a:r>
            <a:endParaRPr lang="en-US" sz="1400" dirty="0"/>
          </a:p>
        </p:txBody>
      </p:sp>
      <p:sp>
        <p:nvSpPr>
          <p:cNvPr id="27" name="Text 25"/>
          <p:cNvSpPr/>
          <p:nvPr/>
        </p:nvSpPr>
        <p:spPr>
          <a:xfrm>
            <a:off x="1920240" y="2542032"/>
            <a:ext cx="1920240" cy="201168"/>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Media: 4.52  |  Mediana: 4.79</a:t>
            </a:r>
            <a:endParaRPr lang="en-US" sz="850" dirty="0"/>
          </a:p>
        </p:txBody>
      </p:sp>
      <p:sp>
        <p:nvSpPr>
          <p:cNvPr id="28" name="Text 26"/>
          <p:cNvSpPr/>
          <p:nvPr/>
        </p:nvSpPr>
        <p:spPr>
          <a:xfrm>
            <a:off x="3931920" y="2231136"/>
            <a:ext cx="4846320" cy="512064"/>
          </a:xfrm>
          <a:prstGeom prst="rect">
            <a:avLst/>
          </a:prstGeom>
          <a:noFill/>
          <a:ln/>
        </p:spPr>
        <p:txBody>
          <a:bodyPr wrap="square" lIns="0" tIns="0" rIns="0" bIns="0" rtlCol="0" anchor="ctr"/>
          <a:lstStyle/>
          <a:p>
            <a:pPr marL="0" indent="0">
              <a:buNone/>
            </a:pPr>
            <a:r>
              <a:rPr lang="en-US" sz="850" dirty="0">
                <a:solidFill>
                  <a:srgbClr val="333333"/>
                </a:solidFill>
                <a:latin typeface="Calibri" pitchFamily="34" charset="0"/>
                <a:ea typeface="Calibri" pitchFamily="34" charset="-122"/>
                <a:cs typeface="Calibri" pitchFamily="34" charset="-120"/>
              </a:rPr>
              <a:t>Nota máxima en los contratos evaluados en la plataforma. Importante: no todos los contratos del Servicio han sido calificados, por lo que el resultado debe entenderse en ese contexto.</a:t>
            </a:r>
            <a:endParaRPr lang="en-US" sz="850" dirty="0"/>
          </a:p>
        </p:txBody>
      </p:sp>
      <p:sp>
        <p:nvSpPr>
          <p:cNvPr id="29" name="Shape 27"/>
          <p:cNvSpPr/>
          <p:nvPr/>
        </p:nvSpPr>
        <p:spPr>
          <a:xfrm>
            <a:off x="256032" y="2852928"/>
            <a:ext cx="8631936" cy="621792"/>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30" name="Shape 28"/>
          <p:cNvSpPr/>
          <p:nvPr/>
        </p:nvSpPr>
        <p:spPr>
          <a:xfrm>
            <a:off x="256032" y="2852928"/>
            <a:ext cx="91440" cy="621792"/>
          </a:xfrm>
          <a:prstGeom prst="rect">
            <a:avLst/>
          </a:prstGeom>
          <a:solidFill>
            <a:srgbClr val="D97706"/>
          </a:solidFill>
          <a:ln w="12700">
            <a:solidFill>
              <a:srgbClr val="D97706"/>
            </a:solidFill>
            <a:prstDash val="solid"/>
          </a:ln>
        </p:spPr>
      </p:sp>
      <p:sp>
        <p:nvSpPr>
          <p:cNvPr id="31" name="Shape 29"/>
          <p:cNvSpPr/>
          <p:nvPr/>
        </p:nvSpPr>
        <p:spPr>
          <a:xfrm>
            <a:off x="365760" y="3008376"/>
            <a:ext cx="310896" cy="310896"/>
          </a:xfrm>
          <a:prstGeom prst="rect">
            <a:avLst/>
          </a:prstGeom>
          <a:solidFill>
            <a:srgbClr val="FFFBEB"/>
          </a:solidFill>
          <a:ln w="10160">
            <a:solidFill>
              <a:srgbClr val="D97706"/>
            </a:solidFill>
            <a:prstDash val="solid"/>
          </a:ln>
        </p:spPr>
      </p:sp>
      <p:sp>
        <p:nvSpPr>
          <p:cNvPr id="32" name="Text 30"/>
          <p:cNvSpPr/>
          <p:nvPr/>
        </p:nvSpPr>
        <p:spPr>
          <a:xfrm>
            <a:off x="365760" y="2990088"/>
            <a:ext cx="310896" cy="347472"/>
          </a:xfrm>
          <a:prstGeom prst="rect">
            <a:avLst/>
          </a:prstGeom>
          <a:noFill/>
          <a:ln/>
        </p:spPr>
        <p:txBody>
          <a:bodyPr wrap="square" lIns="0" tIns="0" rIns="0" bIns="0" rtlCol="0" anchor="ctr"/>
          <a:lstStyle/>
          <a:p>
            <a:pPr marL="0" indent="0" algn="ctr">
              <a:buNone/>
            </a:pPr>
            <a:r>
              <a:rPr lang="en-US" sz="1500" b="1" dirty="0">
                <a:solidFill>
                  <a:srgbClr val="D97706"/>
                </a:solidFill>
                <a:latin typeface="Calibri" pitchFamily="34" charset="0"/>
                <a:ea typeface="Calibri" pitchFamily="34" charset="-122"/>
                <a:cs typeface="Calibri" pitchFamily="34" charset="-120"/>
              </a:rPr>
              <a:t>→</a:t>
            </a:r>
            <a:endParaRPr lang="en-US" sz="1500" dirty="0"/>
          </a:p>
        </p:txBody>
      </p:sp>
      <p:sp>
        <p:nvSpPr>
          <p:cNvPr id="33" name="Text 31"/>
          <p:cNvSpPr/>
          <p:nvPr/>
        </p:nvSpPr>
        <p:spPr>
          <a:xfrm>
            <a:off x="749808" y="2889504"/>
            <a:ext cx="2194560" cy="237744"/>
          </a:xfrm>
          <a:prstGeom prst="rect">
            <a:avLst/>
          </a:prstGeom>
          <a:noFill/>
          <a:ln/>
        </p:spPr>
        <p:txBody>
          <a:bodyPr wrap="square" lIns="0" tIns="0" rIns="0" bIns="0" rtlCol="0" anchor="ctr"/>
          <a:lstStyle/>
          <a:p>
            <a:pPr marL="0" indent="0">
              <a:buNone/>
            </a:pPr>
            <a:r>
              <a:rPr lang="en-US" sz="1000" b="1" dirty="0">
                <a:solidFill>
                  <a:srgbClr val="00234E"/>
                </a:solidFill>
                <a:latin typeface="Calibri" pitchFamily="34" charset="0"/>
                <a:ea typeface="Calibri" pitchFamily="34" charset="-122"/>
                <a:cs typeface="Calibri" pitchFamily="34" charset="-120"/>
              </a:rPr>
              <a:t>Modificaciones al PAC</a:t>
            </a:r>
            <a:endParaRPr lang="en-US" sz="1000" dirty="0"/>
          </a:p>
        </p:txBody>
      </p:sp>
      <p:sp>
        <p:nvSpPr>
          <p:cNvPr id="34" name="Text 32"/>
          <p:cNvSpPr/>
          <p:nvPr/>
        </p:nvSpPr>
        <p:spPr>
          <a:xfrm>
            <a:off x="749808" y="3163824"/>
            <a:ext cx="1188720" cy="256032"/>
          </a:xfrm>
          <a:prstGeom prst="rect">
            <a:avLst/>
          </a:prstGeom>
          <a:noFill/>
          <a:ln/>
        </p:spPr>
        <p:txBody>
          <a:bodyPr wrap="square" lIns="0" tIns="0" rIns="0" bIns="0" rtlCol="0" anchor="ctr"/>
          <a:lstStyle/>
          <a:p>
            <a:pPr marL="0" indent="0">
              <a:buNone/>
            </a:pPr>
            <a:r>
              <a:rPr lang="en-US" sz="1400" b="1" dirty="0">
                <a:solidFill>
                  <a:srgbClr val="D97706"/>
                </a:solidFill>
                <a:latin typeface="Calibri" pitchFamily="34" charset="0"/>
                <a:ea typeface="Calibri" pitchFamily="34" charset="-122"/>
                <a:cs typeface="Calibri" pitchFamily="34" charset="-120"/>
              </a:rPr>
              <a:t>4</a:t>
            </a:r>
            <a:endParaRPr lang="en-US" sz="1400" dirty="0"/>
          </a:p>
        </p:txBody>
      </p:sp>
      <p:sp>
        <p:nvSpPr>
          <p:cNvPr id="35" name="Text 33"/>
          <p:cNvSpPr/>
          <p:nvPr/>
        </p:nvSpPr>
        <p:spPr>
          <a:xfrm>
            <a:off x="1920240" y="3218688"/>
            <a:ext cx="1920240" cy="201168"/>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Media: 6  |  Mediana: 2</a:t>
            </a:r>
            <a:endParaRPr lang="en-US" sz="850" dirty="0"/>
          </a:p>
        </p:txBody>
      </p:sp>
      <p:sp>
        <p:nvSpPr>
          <p:cNvPr id="36" name="Text 34"/>
          <p:cNvSpPr/>
          <p:nvPr/>
        </p:nvSpPr>
        <p:spPr>
          <a:xfrm>
            <a:off x="3931920" y="2907792"/>
            <a:ext cx="4846320" cy="512064"/>
          </a:xfrm>
          <a:prstGeom prst="rect">
            <a:avLst/>
          </a:prstGeom>
          <a:noFill/>
          <a:ln/>
        </p:spPr>
        <p:txBody>
          <a:bodyPr wrap="square" lIns="0" tIns="0" rIns="0" bIns="0" rtlCol="0" anchor="ctr"/>
          <a:lstStyle/>
          <a:p>
            <a:pPr marL="0" indent="0">
              <a:buNone/>
            </a:pPr>
            <a:r>
              <a:rPr lang="en-US" sz="850" dirty="0">
                <a:solidFill>
                  <a:srgbClr val="333333"/>
                </a:solidFill>
                <a:latin typeface="Calibri" pitchFamily="34" charset="0"/>
                <a:ea typeface="Calibri" pitchFamily="34" charset="-122"/>
                <a:cs typeface="Calibri" pitchFamily="34" charset="-120"/>
              </a:rPr>
              <a:t>SSO realizó 4 modificaciones formales (PAC Inicial + 3 en 2025). La media nacional es 6, lo que ubica al SSO en un rango razonable.</a:t>
            </a:r>
            <a:endParaRPr lang="en-US" sz="850" dirty="0"/>
          </a:p>
        </p:txBody>
      </p:sp>
      <p:sp>
        <p:nvSpPr>
          <p:cNvPr id="37" name="Shape 35"/>
          <p:cNvSpPr/>
          <p:nvPr/>
        </p:nvSpPr>
        <p:spPr>
          <a:xfrm>
            <a:off x="256032" y="3529584"/>
            <a:ext cx="8631936" cy="621792"/>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38" name="Shape 36"/>
          <p:cNvSpPr/>
          <p:nvPr/>
        </p:nvSpPr>
        <p:spPr>
          <a:xfrm>
            <a:off x="256032" y="3529584"/>
            <a:ext cx="91440" cy="621792"/>
          </a:xfrm>
          <a:prstGeom prst="rect">
            <a:avLst/>
          </a:prstGeom>
          <a:solidFill>
            <a:srgbClr val="DC2626"/>
          </a:solidFill>
          <a:ln w="12700">
            <a:solidFill>
              <a:srgbClr val="DC2626"/>
            </a:solidFill>
            <a:prstDash val="solid"/>
          </a:ln>
        </p:spPr>
      </p:sp>
      <p:sp>
        <p:nvSpPr>
          <p:cNvPr id="39" name="Shape 37"/>
          <p:cNvSpPr/>
          <p:nvPr/>
        </p:nvSpPr>
        <p:spPr>
          <a:xfrm>
            <a:off x="365760" y="3685032"/>
            <a:ext cx="310896" cy="310896"/>
          </a:xfrm>
          <a:prstGeom prst="rect">
            <a:avLst/>
          </a:prstGeom>
          <a:solidFill>
            <a:srgbClr val="FEF2F2"/>
          </a:solidFill>
          <a:ln w="10160">
            <a:solidFill>
              <a:srgbClr val="DC2626"/>
            </a:solidFill>
            <a:prstDash val="solid"/>
          </a:ln>
        </p:spPr>
      </p:sp>
      <p:sp>
        <p:nvSpPr>
          <p:cNvPr id="40" name="Text 38"/>
          <p:cNvSpPr/>
          <p:nvPr/>
        </p:nvSpPr>
        <p:spPr>
          <a:xfrm>
            <a:off x="365760" y="3666744"/>
            <a:ext cx="310896" cy="347472"/>
          </a:xfrm>
          <a:prstGeom prst="rect">
            <a:avLst/>
          </a:prstGeom>
          <a:noFill/>
          <a:ln/>
        </p:spPr>
        <p:txBody>
          <a:bodyPr wrap="square" lIns="0" tIns="0" rIns="0" bIns="0" rtlCol="0" anchor="ctr"/>
          <a:lstStyle/>
          <a:p>
            <a:pPr marL="0" indent="0" algn="ctr">
              <a:buNone/>
            </a:pPr>
            <a:r>
              <a:rPr lang="en-US" sz="1500" b="1" dirty="0">
                <a:solidFill>
                  <a:srgbClr val="DC2626"/>
                </a:solidFill>
                <a:latin typeface="Calibri" pitchFamily="34" charset="0"/>
                <a:ea typeface="Calibri" pitchFamily="34" charset="-122"/>
                <a:cs typeface="Calibri" pitchFamily="34" charset="-120"/>
              </a:rPr>
              <a:t>↓</a:t>
            </a:r>
            <a:endParaRPr lang="en-US" sz="1500" dirty="0"/>
          </a:p>
        </p:txBody>
      </p:sp>
      <p:sp>
        <p:nvSpPr>
          <p:cNvPr id="41" name="Text 39"/>
          <p:cNvSpPr/>
          <p:nvPr/>
        </p:nvSpPr>
        <p:spPr>
          <a:xfrm>
            <a:off x="749808" y="3566160"/>
            <a:ext cx="2194560" cy="237744"/>
          </a:xfrm>
          <a:prstGeom prst="rect">
            <a:avLst/>
          </a:prstGeom>
          <a:noFill/>
          <a:ln/>
        </p:spPr>
        <p:txBody>
          <a:bodyPr wrap="square" lIns="0" tIns="0" rIns="0" bIns="0" rtlCol="0" anchor="ctr"/>
          <a:lstStyle/>
          <a:p>
            <a:pPr marL="0" indent="0">
              <a:buNone/>
            </a:pPr>
            <a:r>
              <a:rPr lang="en-US" sz="1000" b="1" dirty="0">
                <a:solidFill>
                  <a:srgbClr val="00234E"/>
                </a:solidFill>
                <a:latin typeface="Calibri" pitchFamily="34" charset="0"/>
                <a:ea typeface="Calibri" pitchFamily="34" charset="-122"/>
                <a:cs typeface="Calibri" pitchFamily="34" charset="-120"/>
              </a:rPr>
              <a:t>Ahorro en Licitaciones</a:t>
            </a:r>
            <a:endParaRPr lang="en-US" sz="1000" dirty="0"/>
          </a:p>
        </p:txBody>
      </p:sp>
      <p:sp>
        <p:nvSpPr>
          <p:cNvPr id="42" name="Text 40"/>
          <p:cNvSpPr/>
          <p:nvPr/>
        </p:nvSpPr>
        <p:spPr>
          <a:xfrm>
            <a:off x="749808" y="3840480"/>
            <a:ext cx="1188720" cy="256032"/>
          </a:xfrm>
          <a:prstGeom prst="rect">
            <a:avLst/>
          </a:prstGeom>
          <a:noFill/>
          <a:ln/>
        </p:spPr>
        <p:txBody>
          <a:bodyPr wrap="square" lIns="0" tIns="0" rIns="0" bIns="0" rtlCol="0" anchor="ctr"/>
          <a:lstStyle/>
          <a:p>
            <a:pPr marL="0" indent="0">
              <a:buNone/>
            </a:pPr>
            <a:r>
              <a:rPr lang="en-US" sz="1400" b="1" dirty="0">
                <a:solidFill>
                  <a:srgbClr val="DC2626"/>
                </a:solidFill>
                <a:latin typeface="Calibri" pitchFamily="34" charset="0"/>
                <a:ea typeface="Calibri" pitchFamily="34" charset="-122"/>
                <a:cs typeface="Calibri" pitchFamily="34" charset="-120"/>
              </a:rPr>
              <a:t>-2.04%</a:t>
            </a:r>
            <a:endParaRPr lang="en-US" sz="1400" dirty="0"/>
          </a:p>
        </p:txBody>
      </p:sp>
      <p:sp>
        <p:nvSpPr>
          <p:cNvPr id="43" name="Text 41"/>
          <p:cNvSpPr/>
          <p:nvPr/>
        </p:nvSpPr>
        <p:spPr>
          <a:xfrm>
            <a:off x="1920240" y="3895344"/>
            <a:ext cx="1920240" cy="201168"/>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Media: 2.74%  |  Mediana: 1.85%</a:t>
            </a:r>
            <a:endParaRPr lang="en-US" sz="850" dirty="0"/>
          </a:p>
        </p:txBody>
      </p:sp>
      <p:sp>
        <p:nvSpPr>
          <p:cNvPr id="44" name="Text 42"/>
          <p:cNvSpPr/>
          <p:nvPr/>
        </p:nvSpPr>
        <p:spPr>
          <a:xfrm>
            <a:off x="3931920" y="3584448"/>
            <a:ext cx="4846320" cy="512064"/>
          </a:xfrm>
          <a:prstGeom prst="rect">
            <a:avLst/>
          </a:prstGeom>
          <a:noFill/>
          <a:ln/>
        </p:spPr>
        <p:txBody>
          <a:bodyPr wrap="square" lIns="0" tIns="0" rIns="0" bIns="0" rtlCol="0" anchor="ctr"/>
          <a:lstStyle/>
          <a:p>
            <a:pPr marL="0" indent="0">
              <a:buNone/>
            </a:pPr>
            <a:r>
              <a:rPr lang="en-US" sz="850" dirty="0">
                <a:solidFill>
                  <a:srgbClr val="333333"/>
                </a:solidFill>
                <a:latin typeface="Calibri" pitchFamily="34" charset="0"/>
                <a:ea typeface="Calibri" pitchFamily="34" charset="-122"/>
                <a:cs typeface="Calibri" pitchFamily="34" charset="-120"/>
              </a:rPr>
              <a:t>Único indicador bajo el promedio nacional. Ver explicación abajo.</a:t>
            </a:r>
            <a:endParaRPr lang="en-US" sz="850" dirty="0"/>
          </a:p>
        </p:txBody>
      </p:sp>
      <p:sp>
        <p:nvSpPr>
          <p:cNvPr id="45" name="Shape 43"/>
          <p:cNvSpPr/>
          <p:nvPr/>
        </p:nvSpPr>
        <p:spPr>
          <a:xfrm>
            <a:off x="256032" y="4233672"/>
            <a:ext cx="8631936" cy="749808"/>
          </a:xfrm>
          <a:prstGeom prst="rect">
            <a:avLst/>
          </a:prstGeom>
          <a:solidFill>
            <a:srgbClr val="FEF2F2"/>
          </a:solidFill>
          <a:ln w="12700">
            <a:solidFill>
              <a:srgbClr val="DC2626"/>
            </a:solidFill>
            <a:prstDash val="solid"/>
          </a:ln>
        </p:spPr>
      </p:sp>
      <p:sp>
        <p:nvSpPr>
          <p:cNvPr id="46" name="Shape 44"/>
          <p:cNvSpPr/>
          <p:nvPr/>
        </p:nvSpPr>
        <p:spPr>
          <a:xfrm>
            <a:off x="256032" y="4233672"/>
            <a:ext cx="502920" cy="749808"/>
          </a:xfrm>
          <a:prstGeom prst="rect">
            <a:avLst/>
          </a:prstGeom>
          <a:solidFill>
            <a:srgbClr val="DC2626"/>
          </a:solidFill>
          <a:ln w="12700">
            <a:solidFill>
              <a:srgbClr val="DC2626"/>
            </a:solidFill>
            <a:prstDash val="solid"/>
          </a:ln>
        </p:spPr>
      </p:sp>
      <p:sp>
        <p:nvSpPr>
          <p:cNvPr id="47" name="Text 45"/>
          <p:cNvSpPr/>
          <p:nvPr/>
        </p:nvSpPr>
        <p:spPr>
          <a:xfrm>
            <a:off x="256032" y="4297680"/>
            <a:ext cx="502920" cy="512064"/>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48" name="Text 46"/>
          <p:cNvSpPr/>
          <p:nvPr/>
        </p:nvSpPr>
        <p:spPr>
          <a:xfrm>
            <a:off x="822960" y="4270248"/>
            <a:ext cx="7973568" cy="676656"/>
          </a:xfrm>
          <a:prstGeom prst="rect">
            <a:avLst/>
          </a:prstGeom>
          <a:noFill/>
          <a:ln/>
        </p:spPr>
        <p:txBody>
          <a:bodyPr wrap="square" lIns="0" tIns="0" rIns="0" bIns="0" rtlCol="0" anchor="ctr"/>
          <a:lstStyle/>
          <a:p>
            <a:pPr marL="0" indent="0">
              <a:buNone/>
            </a:pPr>
            <a:r>
              <a:rPr lang="en-US" sz="850" b="1" dirty="0">
                <a:solidFill>
                  <a:srgbClr val="7F1D1D"/>
                </a:solidFill>
                <a:latin typeface="Calibri" pitchFamily="34" charset="0"/>
                <a:ea typeface="Calibri" pitchFamily="34" charset="-122"/>
                <a:cs typeface="Calibri" pitchFamily="34" charset="-120"/>
              </a:rPr>
              <a:t>¿Qué significa un valor negativo en Ahorro en Licitaciones? </a:t>
            </a:r>
            <a:r>
              <a:rPr lang="en-US" sz="850" dirty="0">
                <a:solidFill>
                  <a:srgbClr val="7F1D1D"/>
                </a:solidFill>
                <a:latin typeface="Calibri" pitchFamily="34" charset="0"/>
                <a:ea typeface="Calibri" pitchFamily="34" charset="-122"/>
                <a:cs typeface="Calibri" pitchFamily="34" charset="-120"/>
              </a:rPr>
              <a:t>La fórmula calcula: (Precio promedio de las ofertas recibidas – Precio adjudicado) × Cantidad adjudicada. Si el resultado es negativo, significa que el precio al que se adjudicó fue superior al promedio de las ofertas recibidas. Esto puede deberse a que la evaluación técnica prioriza criterios distintos al precio (calidad, plazo, garantía), o que en mercados específicos del sector salud hay baja competencia de proveedores. </a:t>
            </a:r>
            <a:r>
              <a:rPr lang="en-US" sz="850" b="1" dirty="0">
                <a:solidFill>
                  <a:srgbClr val="7F1D1D"/>
                </a:solidFill>
                <a:latin typeface="Calibri" pitchFamily="34" charset="0"/>
                <a:ea typeface="Calibri" pitchFamily="34" charset="-122"/>
                <a:cs typeface="Calibri" pitchFamily="34" charset="-120"/>
              </a:rPr>
              <a:t>Al ser la primera medición, este valor actúa como línea base para 2026.</a:t>
            </a:r>
            <a:endParaRPr lang="en-US" sz="850" dirty="0"/>
          </a:p>
        </p:txBody>
      </p:sp>
      <p:sp>
        <p:nvSpPr>
          <p:cNvPr id="49" name="Shape 47"/>
          <p:cNvSpPr/>
          <p:nvPr/>
        </p:nvSpPr>
        <p:spPr>
          <a:xfrm>
            <a:off x="0" y="5070348"/>
            <a:ext cx="9144000" cy="73152"/>
          </a:xfrm>
          <a:prstGeom prst="rect">
            <a:avLst/>
          </a:prstGeom>
          <a:solidFill>
            <a:srgbClr val="00234E"/>
          </a:solidFill>
          <a:ln w="12700">
            <a:solidFill>
              <a:srgbClr val="00234E"/>
            </a:solidFill>
            <a:prstDash val="solid"/>
          </a:ln>
        </p:spPr>
      </p:sp>
      <p:sp>
        <p:nvSpPr>
          <p:cNvPr id="50" name="Text 48"/>
          <p:cNvSpPr/>
          <p:nvPr/>
        </p:nvSpPr>
        <p:spPr>
          <a:xfrm>
            <a:off x="274320" y="4919472"/>
            <a:ext cx="8595360" cy="164592"/>
          </a:xfrm>
          <a:prstGeom prst="rect">
            <a:avLst/>
          </a:prstGeom>
          <a:noFill/>
          <a:ln/>
        </p:spPr>
        <p:txBody>
          <a:bodyPr wrap="square" lIns="0" tIns="0" rIns="0" bIns="0" rtlCol="0" anchor="ctr"/>
          <a:lstStyle/>
          <a:p>
            <a:pPr marL="0" indent="0" algn="r">
              <a:buNone/>
            </a:pPr>
            <a:r>
              <a:rPr lang="en-US" sz="800" dirty="0">
                <a:solidFill>
                  <a:srgbClr val="AAAAAA"/>
                </a:solidFill>
                <a:latin typeface="Calibri" pitchFamily="34" charset="0"/>
                <a:ea typeface="Calibri" pitchFamily="34" charset="-122"/>
                <a:cs typeface="Calibri" pitchFamily="34" charset="-120"/>
              </a:rPr>
              <a:t>Subdepartamento de Abastecimiento — Servicio de Salud Osorno</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0234E"/>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4DAADF"/>
          </a:solidFill>
          <a:ln w="12700">
            <a:solidFill>
              <a:srgbClr val="4DAADF"/>
            </a:solidFill>
            <a:prstDash val="solid"/>
          </a:ln>
        </p:spPr>
      </p:sp>
      <p:sp>
        <p:nvSpPr>
          <p:cNvPr id="3" name="Shape 1"/>
          <p:cNvSpPr/>
          <p:nvPr/>
        </p:nvSpPr>
        <p:spPr>
          <a:xfrm>
            <a:off x="0" y="73152"/>
            <a:ext cx="228600" cy="5070348"/>
          </a:xfrm>
          <a:prstGeom prst="rect">
            <a:avLst/>
          </a:prstGeom>
          <a:solidFill>
            <a:srgbClr val="004B8D"/>
          </a:solidFill>
          <a:ln w="12700">
            <a:solidFill>
              <a:srgbClr val="004B8D"/>
            </a:solidFill>
            <a:prstDash val="solid"/>
          </a:ln>
        </p:spPr>
      </p:sp>
      <p:sp>
        <p:nvSpPr>
          <p:cNvPr id="4" name="Text 2"/>
          <p:cNvSpPr/>
          <p:nvPr/>
        </p:nvSpPr>
        <p:spPr>
          <a:xfrm>
            <a:off x="502920" y="731520"/>
            <a:ext cx="1828800" cy="1097280"/>
          </a:xfrm>
          <a:prstGeom prst="rect">
            <a:avLst/>
          </a:prstGeom>
          <a:noFill/>
          <a:ln/>
        </p:spPr>
        <p:txBody>
          <a:bodyPr wrap="square" lIns="0" tIns="0" rIns="0" bIns="0" rtlCol="0" anchor="ctr"/>
          <a:lstStyle/>
          <a:p>
            <a:pPr marL="0" indent="0">
              <a:buNone/>
            </a:pPr>
            <a:r>
              <a:rPr lang="en-US" sz="8000" b="1" dirty="0">
                <a:solidFill>
                  <a:srgbClr val="1A3A6B"/>
                </a:solidFill>
                <a:latin typeface="Calibri" pitchFamily="34" charset="0"/>
                <a:ea typeface="Calibri" pitchFamily="34" charset="-122"/>
                <a:cs typeface="Calibri" pitchFamily="34" charset="-120"/>
              </a:rPr>
              <a:t>04</a:t>
            </a:r>
            <a:endParaRPr lang="en-US" sz="8000" dirty="0"/>
          </a:p>
        </p:txBody>
      </p:sp>
      <p:sp>
        <p:nvSpPr>
          <p:cNvPr id="5" name="Text 3"/>
          <p:cNvSpPr/>
          <p:nvPr/>
        </p:nvSpPr>
        <p:spPr>
          <a:xfrm>
            <a:off x="502920" y="1828800"/>
            <a:ext cx="8229600" cy="128016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PAC 2026</a:t>
            </a:r>
            <a:endParaRPr lang="en-US" sz="3600" dirty="0"/>
          </a:p>
          <a:p>
            <a:pPr marL="0" indent="0">
              <a:buNone/>
            </a:pPr>
            <a:r>
              <a:rPr lang="en-US" sz="3600" b="1" dirty="0">
                <a:solidFill>
                  <a:srgbClr val="FFFFFF"/>
                </a:solidFill>
                <a:latin typeface="Calibri" pitchFamily="34" charset="0"/>
                <a:ea typeface="Calibri" pitchFamily="34" charset="-122"/>
                <a:cs typeface="Calibri" pitchFamily="34" charset="-120"/>
              </a:rPr>
              <a:t>ESTADO ACTUAL</a:t>
            </a:r>
            <a:endParaRPr lang="en-US" sz="3600" dirty="0"/>
          </a:p>
        </p:txBody>
      </p:sp>
      <p:sp>
        <p:nvSpPr>
          <p:cNvPr id="6" name="Text 4"/>
          <p:cNvSpPr/>
          <p:nvPr/>
        </p:nvSpPr>
        <p:spPr>
          <a:xfrm>
            <a:off x="502920" y="3200400"/>
            <a:ext cx="8229600" cy="457200"/>
          </a:xfrm>
          <a:prstGeom prst="rect">
            <a:avLst/>
          </a:prstGeom>
          <a:noFill/>
          <a:ln/>
        </p:spPr>
        <p:txBody>
          <a:bodyPr wrap="square" lIns="0" tIns="0" rIns="0" bIns="0" rtlCol="0" anchor="ctr"/>
          <a:lstStyle/>
          <a:p>
            <a:pPr marL="0" indent="0">
              <a:buNone/>
            </a:pPr>
            <a:r>
              <a:rPr lang="en-US" sz="1500" i="1" dirty="0">
                <a:solidFill>
                  <a:srgbClr val="4DAADF"/>
                </a:solidFill>
                <a:latin typeface="Calibri" pitchFamily="34" charset="0"/>
                <a:ea typeface="Calibri" pitchFamily="34" charset="-122"/>
                <a:cs typeface="Calibri" pitchFamily="34" charset="-120"/>
              </a:rPr>
              <a:t>PAC Inicial (Res. N°397) y 1° Modificación (Res. N°7599)</a:t>
            </a:r>
            <a:endParaRPr lang="en-US" sz="1500" dirty="0"/>
          </a:p>
        </p:txBody>
      </p:sp>
      <p:sp>
        <p:nvSpPr>
          <p:cNvPr id="7" name="Shape 5"/>
          <p:cNvSpPr/>
          <p:nvPr/>
        </p:nvSpPr>
        <p:spPr>
          <a:xfrm>
            <a:off x="0" y="5070348"/>
            <a:ext cx="9144000" cy="73152"/>
          </a:xfrm>
          <a:prstGeom prst="rect">
            <a:avLst/>
          </a:prstGeom>
          <a:solidFill>
            <a:srgbClr val="4DAADF"/>
          </a:solidFill>
          <a:ln w="12700">
            <a:solidFill>
              <a:srgbClr val="4DAADF"/>
            </a:solidFill>
            <a:prstDash val="solid"/>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0F5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234E"/>
          </a:solidFill>
          <a:ln w="12700">
            <a:solidFill>
              <a:srgbClr val="00234E"/>
            </a:solidFill>
            <a:prstDash val="solid"/>
          </a:ln>
        </p:spPr>
      </p:sp>
      <p:sp>
        <p:nvSpPr>
          <p:cNvPr id="3" name="Text 1"/>
          <p:cNvSpPr/>
          <p:nvPr/>
        </p:nvSpPr>
        <p:spPr>
          <a:xfrm>
            <a:off x="457200" y="128016"/>
            <a:ext cx="8229600" cy="411480"/>
          </a:xfrm>
          <a:prstGeom prst="rect">
            <a:avLst/>
          </a:prstGeom>
          <a:noFill/>
          <a:ln/>
        </p:spPr>
        <p:txBody>
          <a:bodyPr wrap="square" lIns="0" tIns="0" rIns="0" bIns="0" rtlCol="0" anchor="ctr"/>
          <a:lstStyle/>
          <a:p>
            <a:pPr marL="0" indent="0" algn="l">
              <a:buNone/>
            </a:pPr>
            <a:r>
              <a:rPr lang="en-US" sz="2000" b="1" dirty="0">
                <a:solidFill>
                  <a:srgbClr val="00234E"/>
                </a:solidFill>
                <a:latin typeface="Calibri" pitchFamily="34" charset="0"/>
                <a:ea typeface="Calibri" pitchFamily="34" charset="-122"/>
                <a:cs typeface="Calibri" pitchFamily="34" charset="-120"/>
              </a:rPr>
              <a:t>PAC 2026 Inicial — Res. Exenta N°397 (09 enero 2026)</a:t>
            </a:r>
            <a:endParaRPr lang="en-US" sz="2000" dirty="0"/>
          </a:p>
        </p:txBody>
      </p:sp>
      <p:sp>
        <p:nvSpPr>
          <p:cNvPr id="4" name="Shape 2"/>
          <p:cNvSpPr/>
          <p:nvPr/>
        </p:nvSpPr>
        <p:spPr>
          <a:xfrm>
            <a:off x="256032" y="640080"/>
            <a:ext cx="2194560" cy="804672"/>
          </a:xfrm>
          <a:prstGeom prst="rect">
            <a:avLst/>
          </a:prstGeom>
          <a:solidFill>
            <a:srgbClr val="00234E"/>
          </a:solidFill>
          <a:ln w="12700">
            <a:solidFill>
              <a:srgbClr val="00234E"/>
            </a:solidFill>
            <a:prstDash val="solid"/>
          </a:ln>
          <a:effectLst>
            <a:outerShdw blurRad="101600" dist="38100" dir="8100000" algn="bl" rotWithShape="0">
              <a:srgbClr val="000000">
                <a:alpha val="12000"/>
              </a:srgbClr>
            </a:outerShdw>
          </a:effectLst>
        </p:spPr>
      </p:sp>
      <p:sp>
        <p:nvSpPr>
          <p:cNvPr id="5" name="Text 3"/>
          <p:cNvSpPr/>
          <p:nvPr/>
        </p:nvSpPr>
        <p:spPr>
          <a:xfrm>
            <a:off x="256032" y="667512"/>
            <a:ext cx="2194560" cy="475488"/>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393</a:t>
            </a:r>
            <a:endParaRPr lang="en-US" sz="2600" dirty="0"/>
          </a:p>
        </p:txBody>
      </p:sp>
      <p:sp>
        <p:nvSpPr>
          <p:cNvPr id="6" name="Text 4"/>
          <p:cNvSpPr/>
          <p:nvPr/>
        </p:nvSpPr>
        <p:spPr>
          <a:xfrm>
            <a:off x="256032" y="1115568"/>
            <a:ext cx="2194560" cy="256032"/>
          </a:xfrm>
          <a:prstGeom prst="rect">
            <a:avLst/>
          </a:prstGeom>
          <a:noFill/>
          <a:ln/>
        </p:spPr>
        <p:txBody>
          <a:bodyPr wrap="square" lIns="0" tIns="0" rIns="0" bIns="0" rtlCol="0" anchor="ctr"/>
          <a:lstStyle/>
          <a:p>
            <a:pPr marL="0" indent="0" algn="ctr">
              <a:buNone/>
            </a:pPr>
            <a:r>
              <a:rPr lang="en-US" sz="1000" dirty="0">
                <a:solidFill>
                  <a:srgbClr val="CCE0F5"/>
                </a:solidFill>
                <a:latin typeface="Calibri" pitchFamily="34" charset="0"/>
                <a:ea typeface="Calibri" pitchFamily="34" charset="-122"/>
                <a:cs typeface="Calibri" pitchFamily="34" charset="-120"/>
              </a:rPr>
              <a:t>Total Proyectos</a:t>
            </a:r>
            <a:endParaRPr lang="en-US" sz="1000" dirty="0"/>
          </a:p>
        </p:txBody>
      </p:sp>
      <p:sp>
        <p:nvSpPr>
          <p:cNvPr id="7" name="Shape 5"/>
          <p:cNvSpPr/>
          <p:nvPr/>
        </p:nvSpPr>
        <p:spPr>
          <a:xfrm>
            <a:off x="2633472" y="640080"/>
            <a:ext cx="2194560" cy="804672"/>
          </a:xfrm>
          <a:prstGeom prst="rect">
            <a:avLst/>
          </a:prstGeom>
          <a:solidFill>
            <a:srgbClr val="004B8D"/>
          </a:solidFill>
          <a:ln w="12700">
            <a:solidFill>
              <a:srgbClr val="004B8D"/>
            </a:solidFill>
            <a:prstDash val="solid"/>
          </a:ln>
          <a:effectLst>
            <a:outerShdw blurRad="101600" dist="38100" dir="8100000" algn="bl" rotWithShape="0">
              <a:srgbClr val="000000">
                <a:alpha val="12000"/>
              </a:srgbClr>
            </a:outerShdw>
          </a:effectLst>
        </p:spPr>
      </p:sp>
      <p:sp>
        <p:nvSpPr>
          <p:cNvPr id="8" name="Text 6"/>
          <p:cNvSpPr/>
          <p:nvPr/>
        </p:nvSpPr>
        <p:spPr>
          <a:xfrm>
            <a:off x="2633472" y="667512"/>
            <a:ext cx="2194560" cy="475488"/>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$22.142 M</a:t>
            </a:r>
            <a:endParaRPr lang="en-US" sz="2600" dirty="0"/>
          </a:p>
        </p:txBody>
      </p:sp>
      <p:sp>
        <p:nvSpPr>
          <p:cNvPr id="9" name="Text 7"/>
          <p:cNvSpPr/>
          <p:nvPr/>
        </p:nvSpPr>
        <p:spPr>
          <a:xfrm>
            <a:off x="2633472" y="1115568"/>
            <a:ext cx="2194560" cy="256032"/>
          </a:xfrm>
          <a:prstGeom prst="rect">
            <a:avLst/>
          </a:prstGeom>
          <a:noFill/>
          <a:ln/>
        </p:spPr>
        <p:txBody>
          <a:bodyPr wrap="square" lIns="0" tIns="0" rIns="0" bIns="0" rtlCol="0" anchor="ctr"/>
          <a:lstStyle/>
          <a:p>
            <a:pPr marL="0" indent="0" algn="ctr">
              <a:buNone/>
            </a:pPr>
            <a:r>
              <a:rPr lang="en-US" sz="1000" dirty="0">
                <a:solidFill>
                  <a:srgbClr val="CCE0F5"/>
                </a:solidFill>
                <a:latin typeface="Calibri" pitchFamily="34" charset="0"/>
                <a:ea typeface="Calibri" pitchFamily="34" charset="-122"/>
                <a:cs typeface="Calibri" pitchFamily="34" charset="-120"/>
              </a:rPr>
              <a:t>Monto Total</a:t>
            </a:r>
            <a:endParaRPr lang="en-US" sz="1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256032" y="1536192"/>
          <a:ext cx="5120640" cy="3145536"/>
        </p:xfrm>
        <a:graphic>
          <a:graphicData uri="http://schemas.openxmlformats.org/drawingml/2006/table">
            <a:tbl>
              <a:tblPr/>
              <a:tblGrid>
                <a:gridCol w="219456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777240">
                  <a:extLst>
                    <a:ext uri="{9D8B030D-6E8A-4147-A177-3AD203B41FA5}">
                      <a16:colId xmlns:a16="http://schemas.microsoft.com/office/drawing/2014/main" val="20002"/>
                    </a:ext>
                  </a:extLst>
                </a:gridCol>
                <a:gridCol w="594360">
                  <a:extLst>
                    <a:ext uri="{9D8B030D-6E8A-4147-A177-3AD203B41FA5}">
                      <a16:colId xmlns:a16="http://schemas.microsoft.com/office/drawing/2014/main" val="20003"/>
                    </a:ext>
                  </a:extLst>
                </a:gridCol>
              </a:tblGrid>
              <a:tr h="347472">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Unidad de Compra</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0234E"/>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Monto Total</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0234E"/>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N° Proyectos</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0234E"/>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 del Total</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0234E"/>
                    </a:solidFill>
                  </a:tcPr>
                </a:tc>
                <a:extLst>
                  <a:ext uri="{0D108BD9-81ED-4DB2-BD59-A6C34878D82A}">
                    <a16:rowId xmlns:a16="http://schemas.microsoft.com/office/drawing/2014/main" val="10000"/>
                  </a:ext>
                </a:extLst>
              </a:tr>
              <a:tr h="347472">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Bienes y Servicios</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$1.932.801.598</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238</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b="1" dirty="0">
                          <a:solidFill>
                            <a:srgbClr val="00234E"/>
                          </a:solidFill>
                          <a:latin typeface="Calibri" pitchFamily="34" charset="0"/>
                          <a:ea typeface="Calibri" pitchFamily="34" charset="-122"/>
                          <a:cs typeface="Calibri" pitchFamily="34" charset="-120"/>
                        </a:rPr>
                        <a:t>8.7%</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7472">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Activo Fijo</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$4.545.805.005</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18</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b="1" dirty="0">
                          <a:solidFill>
                            <a:srgbClr val="1565C0"/>
                          </a:solidFill>
                          <a:latin typeface="Calibri" pitchFamily="34" charset="0"/>
                          <a:ea typeface="Calibri" pitchFamily="34" charset="-122"/>
                          <a:cs typeface="Calibri" pitchFamily="34" charset="-120"/>
                        </a:rPr>
                        <a:t>20.5%</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47472">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Administración de Fondos</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$216.217.147</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47</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b="1" dirty="0">
                          <a:solidFill>
                            <a:srgbClr val="0097A7"/>
                          </a:solidFill>
                          <a:latin typeface="Calibri" pitchFamily="34" charset="0"/>
                          <a:ea typeface="Calibri" pitchFamily="34" charset="-122"/>
                          <a:cs typeface="Calibri" pitchFamily="34" charset="-120"/>
                        </a:rPr>
                        <a:t>1.0%</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47472">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Bienestar</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$156.000.000</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b="1" dirty="0">
                          <a:solidFill>
                            <a:srgbClr val="388E3C"/>
                          </a:solidFill>
                          <a:latin typeface="Calibri" pitchFamily="34" charset="0"/>
                          <a:ea typeface="Calibri" pitchFamily="34" charset="-122"/>
                          <a:cs typeface="Calibri" pitchFamily="34" charset="-120"/>
                        </a:rPr>
                        <a:t>0.7%</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47472">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Convenio GORE Región de Los Lagos</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$1.438.588.008</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16</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b="1" dirty="0">
                          <a:solidFill>
                            <a:srgbClr val="F57F17"/>
                          </a:solidFill>
                          <a:latin typeface="Calibri" pitchFamily="34" charset="0"/>
                          <a:ea typeface="Calibri" pitchFamily="34" charset="-122"/>
                          <a:cs typeface="Calibri" pitchFamily="34" charset="-120"/>
                        </a:rPr>
                        <a:t>6.5%</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47472">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Obras Civiles</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$7.264.673.295</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14</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b="1" dirty="0">
                          <a:solidFill>
                            <a:srgbClr val="BF360C"/>
                          </a:solidFill>
                          <a:latin typeface="Calibri" pitchFamily="34" charset="0"/>
                          <a:ea typeface="Calibri" pitchFamily="34" charset="-122"/>
                          <a:cs typeface="Calibri" pitchFamily="34" charset="-120"/>
                        </a:rPr>
                        <a:t>32.8%</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47472">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Proyectos de Arrastre</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$6.588.447.864</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59</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b="1" dirty="0">
                          <a:solidFill>
                            <a:srgbClr val="6A1B9A"/>
                          </a:solidFill>
                          <a:latin typeface="Calibri" pitchFamily="34" charset="0"/>
                          <a:ea typeface="Calibri" pitchFamily="34" charset="-122"/>
                          <a:cs typeface="Calibri" pitchFamily="34" charset="-120"/>
                        </a:rPr>
                        <a:t>29.8%</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47472">
                <a:tc>
                  <a:txBody>
                    <a:bodyPr/>
                    <a:lstStyle/>
                    <a:p>
                      <a:pPr marL="0" indent="0">
                        <a:buNone/>
                      </a:pPr>
                      <a:r>
                        <a:rPr lang="en-US" sz="900" b="1" dirty="0">
                          <a:solidFill>
                            <a:srgbClr val="000000"/>
                          </a:solidFill>
                          <a:latin typeface="Calibri" pitchFamily="34" charset="0"/>
                          <a:ea typeface="Calibri" pitchFamily="34" charset="-122"/>
                          <a:cs typeface="Calibri" pitchFamily="34" charset="-120"/>
                        </a:rPr>
                        <a:t>TOTAL GENERAL</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BF2FF"/>
                    </a:solidFill>
                  </a:tcPr>
                </a:tc>
                <a:tc>
                  <a:txBody>
                    <a:bodyPr/>
                    <a:lstStyle/>
                    <a:p>
                      <a:pPr marL="0" indent="0">
                        <a:buNone/>
                      </a:pPr>
                      <a:r>
                        <a:rPr lang="en-US" sz="900" b="1" dirty="0">
                          <a:solidFill>
                            <a:srgbClr val="000000"/>
                          </a:solidFill>
                          <a:latin typeface="Calibri" pitchFamily="34" charset="0"/>
                          <a:ea typeface="Calibri" pitchFamily="34" charset="-122"/>
                          <a:cs typeface="Calibri" pitchFamily="34" charset="-120"/>
                        </a:rPr>
                        <a:t>$22.142.532.917</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BF2FF"/>
                    </a:solidFill>
                  </a:tcPr>
                </a:tc>
                <a:tc>
                  <a:txBody>
                    <a:bodyPr/>
                    <a:lstStyle/>
                    <a:p>
                      <a:pPr marL="0" indent="0">
                        <a:buNone/>
                      </a:pPr>
                      <a:r>
                        <a:rPr lang="en-US" sz="900" b="1" dirty="0">
                          <a:solidFill>
                            <a:srgbClr val="000000"/>
                          </a:solidFill>
                          <a:latin typeface="Calibri" pitchFamily="34" charset="0"/>
                          <a:ea typeface="Calibri" pitchFamily="34" charset="-122"/>
                          <a:cs typeface="Calibri" pitchFamily="34" charset="-120"/>
                        </a:rPr>
                        <a:t>393</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BF2FF"/>
                    </a:solidFill>
                  </a:tcPr>
                </a:tc>
                <a:tc>
                  <a:txBody>
                    <a:bodyPr/>
                    <a:lstStyle/>
                    <a:p>
                      <a:pPr marL="0" indent="0">
                        <a:buNone/>
                      </a:pPr>
                      <a:r>
                        <a:rPr lang="en-US" sz="900" b="1" dirty="0">
                          <a:solidFill>
                            <a:srgbClr val="000000"/>
                          </a:solidFill>
                          <a:latin typeface="Calibri" pitchFamily="34" charset="0"/>
                          <a:ea typeface="Calibri" pitchFamily="34" charset="-122"/>
                          <a:cs typeface="Calibri" pitchFamily="34" charset="-120"/>
                        </a:rPr>
                        <a:t>100%</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BF2FF"/>
                    </a:solidFill>
                  </a:tcPr>
                </a:tc>
                <a:extLst>
                  <a:ext uri="{0D108BD9-81ED-4DB2-BD59-A6C34878D82A}">
                    <a16:rowId xmlns:a16="http://schemas.microsoft.com/office/drawing/2014/main" val="10008"/>
                  </a:ext>
                </a:extLst>
              </a:tr>
            </a:tbl>
          </a:graphicData>
        </a:graphic>
      </p:graphicFrame>
      <p:graphicFrame>
        <p:nvGraphicFramePr>
          <p:cNvPr id="11" name="Chart 0"/>
          <p:cNvGraphicFramePr/>
          <p:nvPr/>
        </p:nvGraphicFramePr>
        <p:xfrm>
          <a:off x="5440680" y="640080"/>
          <a:ext cx="3474720" cy="4279392"/>
        </p:xfrm>
        <a:graphic>
          <a:graphicData uri="http://schemas.openxmlformats.org/drawingml/2006/chart">
            <c:chart xmlns:c="http://schemas.openxmlformats.org/drawingml/2006/chart" xmlns:r="http://schemas.openxmlformats.org/officeDocument/2006/relationships" r:id="rId3"/>
          </a:graphicData>
        </a:graphic>
      </p:graphicFrame>
      <p:sp>
        <p:nvSpPr>
          <p:cNvPr id="12" name="Shape 8"/>
          <p:cNvSpPr/>
          <p:nvPr/>
        </p:nvSpPr>
        <p:spPr>
          <a:xfrm>
            <a:off x="0" y="5070348"/>
            <a:ext cx="9144000" cy="73152"/>
          </a:xfrm>
          <a:prstGeom prst="rect">
            <a:avLst/>
          </a:prstGeom>
          <a:solidFill>
            <a:srgbClr val="00234E"/>
          </a:solidFill>
          <a:ln w="12700">
            <a:solidFill>
              <a:srgbClr val="00234E"/>
            </a:solidFill>
            <a:prstDash val="solid"/>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0F5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234E"/>
          </a:solidFill>
          <a:ln w="12700">
            <a:solidFill>
              <a:srgbClr val="00234E"/>
            </a:solidFill>
            <a:prstDash val="solid"/>
          </a:ln>
        </p:spPr>
      </p:sp>
      <p:sp>
        <p:nvSpPr>
          <p:cNvPr id="3" name="Text 1"/>
          <p:cNvSpPr/>
          <p:nvPr/>
        </p:nvSpPr>
        <p:spPr>
          <a:xfrm>
            <a:off x="457200" y="128016"/>
            <a:ext cx="8229600" cy="411480"/>
          </a:xfrm>
          <a:prstGeom prst="rect">
            <a:avLst/>
          </a:prstGeom>
          <a:noFill/>
          <a:ln/>
        </p:spPr>
        <p:txBody>
          <a:bodyPr wrap="square" lIns="0" tIns="0" rIns="0" bIns="0" rtlCol="0" anchor="ctr"/>
          <a:lstStyle/>
          <a:p>
            <a:pPr marL="0" indent="0" algn="l">
              <a:buNone/>
            </a:pPr>
            <a:r>
              <a:rPr lang="en-US" sz="2000" b="1" dirty="0">
                <a:solidFill>
                  <a:srgbClr val="00234E"/>
                </a:solidFill>
                <a:latin typeface="Calibri" pitchFamily="34" charset="0"/>
                <a:ea typeface="Calibri" pitchFamily="34" charset="-122"/>
                <a:cs typeface="Calibri" pitchFamily="34" charset="-120"/>
              </a:rPr>
              <a:t>1° Modificación PAC 2026 — Res. Exenta N°7599 (29 abril 2026)</a:t>
            </a:r>
            <a:endParaRPr lang="en-US" sz="2000" dirty="0"/>
          </a:p>
        </p:txBody>
      </p:sp>
      <p:sp>
        <p:nvSpPr>
          <p:cNvPr id="4" name="Shape 2"/>
          <p:cNvSpPr/>
          <p:nvPr/>
        </p:nvSpPr>
        <p:spPr>
          <a:xfrm>
            <a:off x="256032" y="640080"/>
            <a:ext cx="2011680" cy="804672"/>
          </a:xfrm>
          <a:prstGeom prst="rect">
            <a:avLst/>
          </a:prstGeom>
          <a:solidFill>
            <a:srgbClr val="00234E"/>
          </a:solidFill>
          <a:ln w="12700">
            <a:solidFill>
              <a:srgbClr val="00234E"/>
            </a:solidFill>
            <a:prstDash val="solid"/>
          </a:ln>
          <a:effectLst>
            <a:outerShdw blurRad="101600" dist="38100" dir="8100000" algn="bl" rotWithShape="0">
              <a:srgbClr val="000000">
                <a:alpha val="12000"/>
              </a:srgbClr>
            </a:outerShdw>
          </a:effectLst>
        </p:spPr>
      </p:sp>
      <p:sp>
        <p:nvSpPr>
          <p:cNvPr id="5" name="Text 3"/>
          <p:cNvSpPr/>
          <p:nvPr/>
        </p:nvSpPr>
        <p:spPr>
          <a:xfrm>
            <a:off x="256032" y="658368"/>
            <a:ext cx="2011680" cy="475488"/>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393</a:t>
            </a:r>
            <a:endParaRPr lang="en-US" sz="2200" dirty="0"/>
          </a:p>
        </p:txBody>
      </p:sp>
      <p:sp>
        <p:nvSpPr>
          <p:cNvPr id="6" name="Text 4"/>
          <p:cNvSpPr/>
          <p:nvPr/>
        </p:nvSpPr>
        <p:spPr>
          <a:xfrm>
            <a:off x="256032" y="1115568"/>
            <a:ext cx="2011680" cy="256032"/>
          </a:xfrm>
          <a:prstGeom prst="rect">
            <a:avLst/>
          </a:prstGeom>
          <a:noFill/>
          <a:ln/>
        </p:spPr>
        <p:txBody>
          <a:bodyPr wrap="square" lIns="0" tIns="0" rIns="0" bIns="0" rtlCol="0" anchor="ctr"/>
          <a:lstStyle/>
          <a:p>
            <a:pPr marL="0" indent="0" algn="ctr">
              <a:buNone/>
            </a:pPr>
            <a:r>
              <a:rPr lang="en-US" sz="900" dirty="0">
                <a:solidFill>
                  <a:srgbClr val="CCE0F5"/>
                </a:solidFill>
                <a:latin typeface="Calibri" pitchFamily="34" charset="0"/>
                <a:ea typeface="Calibri" pitchFamily="34" charset="-122"/>
                <a:cs typeface="Calibri" pitchFamily="34" charset="-120"/>
              </a:rPr>
              <a:t>Proyectos PAC Inicial</a:t>
            </a:r>
            <a:endParaRPr lang="en-US" sz="900" dirty="0"/>
          </a:p>
        </p:txBody>
      </p:sp>
      <p:sp>
        <p:nvSpPr>
          <p:cNvPr id="7" name="Shape 5"/>
          <p:cNvSpPr/>
          <p:nvPr/>
        </p:nvSpPr>
        <p:spPr>
          <a:xfrm>
            <a:off x="2432304" y="640080"/>
            <a:ext cx="2011680" cy="804672"/>
          </a:xfrm>
          <a:prstGeom prst="rect">
            <a:avLst/>
          </a:prstGeom>
          <a:solidFill>
            <a:srgbClr val="004B8D"/>
          </a:solidFill>
          <a:ln w="12700">
            <a:solidFill>
              <a:srgbClr val="004B8D"/>
            </a:solidFill>
            <a:prstDash val="solid"/>
          </a:ln>
          <a:effectLst>
            <a:outerShdw blurRad="101600" dist="38100" dir="8100000" algn="bl" rotWithShape="0">
              <a:srgbClr val="000000">
                <a:alpha val="12000"/>
              </a:srgbClr>
            </a:outerShdw>
          </a:effectLst>
        </p:spPr>
      </p:sp>
      <p:sp>
        <p:nvSpPr>
          <p:cNvPr id="8" name="Text 6"/>
          <p:cNvSpPr/>
          <p:nvPr/>
        </p:nvSpPr>
        <p:spPr>
          <a:xfrm>
            <a:off x="2432304" y="658368"/>
            <a:ext cx="2011680" cy="475488"/>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478</a:t>
            </a:r>
            <a:endParaRPr lang="en-US" sz="2200" dirty="0"/>
          </a:p>
        </p:txBody>
      </p:sp>
      <p:sp>
        <p:nvSpPr>
          <p:cNvPr id="9" name="Text 7"/>
          <p:cNvSpPr/>
          <p:nvPr/>
        </p:nvSpPr>
        <p:spPr>
          <a:xfrm>
            <a:off x="2432304" y="1115568"/>
            <a:ext cx="2011680" cy="256032"/>
          </a:xfrm>
          <a:prstGeom prst="rect">
            <a:avLst/>
          </a:prstGeom>
          <a:noFill/>
          <a:ln/>
        </p:spPr>
        <p:txBody>
          <a:bodyPr wrap="square" lIns="0" tIns="0" rIns="0" bIns="0" rtlCol="0" anchor="ctr"/>
          <a:lstStyle/>
          <a:p>
            <a:pPr marL="0" indent="0" algn="ctr">
              <a:buNone/>
            </a:pPr>
            <a:r>
              <a:rPr lang="en-US" sz="900" dirty="0">
                <a:solidFill>
                  <a:srgbClr val="CCE0F5"/>
                </a:solidFill>
                <a:latin typeface="Calibri" pitchFamily="34" charset="0"/>
                <a:ea typeface="Calibri" pitchFamily="34" charset="-122"/>
                <a:cs typeface="Calibri" pitchFamily="34" charset="-120"/>
              </a:rPr>
              <a:t>Proyectos Mod. N°1</a:t>
            </a:r>
            <a:endParaRPr lang="en-US" sz="900" dirty="0"/>
          </a:p>
        </p:txBody>
      </p:sp>
      <p:sp>
        <p:nvSpPr>
          <p:cNvPr id="10" name="Shape 8"/>
          <p:cNvSpPr/>
          <p:nvPr/>
        </p:nvSpPr>
        <p:spPr>
          <a:xfrm>
            <a:off x="4608576" y="640080"/>
            <a:ext cx="2011680" cy="804672"/>
          </a:xfrm>
          <a:prstGeom prst="rect">
            <a:avLst/>
          </a:prstGeom>
          <a:solidFill>
            <a:srgbClr val="16A34A"/>
          </a:solidFill>
          <a:ln w="12700">
            <a:solidFill>
              <a:srgbClr val="16A34A"/>
            </a:solidFill>
            <a:prstDash val="solid"/>
          </a:ln>
          <a:effectLst>
            <a:outerShdw blurRad="101600" dist="38100" dir="8100000" algn="bl" rotWithShape="0">
              <a:srgbClr val="000000">
                <a:alpha val="12000"/>
              </a:srgbClr>
            </a:outerShdw>
          </a:effectLst>
        </p:spPr>
      </p:sp>
      <p:sp>
        <p:nvSpPr>
          <p:cNvPr id="11" name="Text 9"/>
          <p:cNvSpPr/>
          <p:nvPr/>
        </p:nvSpPr>
        <p:spPr>
          <a:xfrm>
            <a:off x="4608576" y="658368"/>
            <a:ext cx="2011680" cy="475488"/>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+85</a:t>
            </a:r>
            <a:endParaRPr lang="en-US" sz="2200" dirty="0"/>
          </a:p>
        </p:txBody>
      </p:sp>
      <p:sp>
        <p:nvSpPr>
          <p:cNvPr id="12" name="Text 10"/>
          <p:cNvSpPr/>
          <p:nvPr/>
        </p:nvSpPr>
        <p:spPr>
          <a:xfrm>
            <a:off x="4608576" y="1115568"/>
            <a:ext cx="2011680" cy="256032"/>
          </a:xfrm>
          <a:prstGeom prst="rect">
            <a:avLst/>
          </a:prstGeom>
          <a:noFill/>
          <a:ln/>
        </p:spPr>
        <p:txBody>
          <a:bodyPr wrap="square" lIns="0" tIns="0" rIns="0" bIns="0" rtlCol="0" anchor="ctr"/>
          <a:lstStyle/>
          <a:p>
            <a:pPr marL="0" indent="0" algn="ctr">
              <a:buNone/>
            </a:pPr>
            <a:r>
              <a:rPr lang="en-US" sz="900" dirty="0">
                <a:solidFill>
                  <a:srgbClr val="C6F6D5"/>
                </a:solidFill>
                <a:latin typeface="Calibri" pitchFamily="34" charset="0"/>
                <a:ea typeface="Calibri" pitchFamily="34" charset="-122"/>
                <a:cs typeface="Calibri" pitchFamily="34" charset="-120"/>
              </a:rPr>
              <a:t>Nuevos Proyectos</a:t>
            </a:r>
            <a:endParaRPr lang="en-US" sz="900" dirty="0"/>
          </a:p>
        </p:txBody>
      </p:sp>
      <p:sp>
        <p:nvSpPr>
          <p:cNvPr id="13" name="Shape 11"/>
          <p:cNvSpPr/>
          <p:nvPr/>
        </p:nvSpPr>
        <p:spPr>
          <a:xfrm>
            <a:off x="6784848" y="640080"/>
            <a:ext cx="2011680" cy="804672"/>
          </a:xfrm>
          <a:prstGeom prst="rect">
            <a:avLst/>
          </a:prstGeom>
          <a:solidFill>
            <a:srgbClr val="005A9E"/>
          </a:solidFill>
          <a:ln w="12700">
            <a:solidFill>
              <a:srgbClr val="005A9E"/>
            </a:solidFill>
            <a:prstDash val="solid"/>
          </a:ln>
          <a:effectLst>
            <a:outerShdw blurRad="101600" dist="38100" dir="8100000" algn="bl" rotWithShape="0">
              <a:srgbClr val="000000">
                <a:alpha val="12000"/>
              </a:srgbClr>
            </a:outerShdw>
          </a:effectLst>
        </p:spPr>
      </p:sp>
      <p:sp>
        <p:nvSpPr>
          <p:cNvPr id="14" name="Text 12"/>
          <p:cNvSpPr/>
          <p:nvPr/>
        </p:nvSpPr>
        <p:spPr>
          <a:xfrm>
            <a:off x="6784848" y="658368"/>
            <a:ext cx="2011680" cy="475488"/>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+$3.013 M</a:t>
            </a:r>
            <a:endParaRPr lang="en-US" sz="2200" dirty="0"/>
          </a:p>
        </p:txBody>
      </p:sp>
      <p:sp>
        <p:nvSpPr>
          <p:cNvPr id="15" name="Text 13"/>
          <p:cNvSpPr/>
          <p:nvPr/>
        </p:nvSpPr>
        <p:spPr>
          <a:xfrm>
            <a:off x="6784848" y="1115568"/>
            <a:ext cx="2011680" cy="256032"/>
          </a:xfrm>
          <a:prstGeom prst="rect">
            <a:avLst/>
          </a:prstGeom>
          <a:noFill/>
          <a:ln/>
        </p:spPr>
        <p:txBody>
          <a:bodyPr wrap="square" lIns="0" tIns="0" rIns="0" bIns="0" rtlCol="0" anchor="ctr"/>
          <a:lstStyle/>
          <a:p>
            <a:pPr marL="0" indent="0" algn="ctr">
              <a:buNone/>
            </a:pPr>
            <a:r>
              <a:rPr lang="en-US" sz="900" dirty="0">
                <a:solidFill>
                  <a:srgbClr val="CCE0F5"/>
                </a:solidFill>
                <a:latin typeface="Calibri" pitchFamily="34" charset="0"/>
                <a:ea typeface="Calibri" pitchFamily="34" charset="-122"/>
                <a:cs typeface="Calibri" pitchFamily="34" charset="-120"/>
              </a:rPr>
              <a:t>Incremento en Monto</a:t>
            </a:r>
            <a:endParaRPr lang="en-US" sz="9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256032" y="1536192"/>
          <a:ext cx="8631936" cy="3127248"/>
        </p:xfrm>
        <a:graphic>
          <a:graphicData uri="http://schemas.openxmlformats.org/drawingml/2006/table">
            <a:tbl>
              <a:tblPr/>
              <a:tblGrid>
                <a:gridCol w="201168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2322576">
                  <a:extLst>
                    <a:ext uri="{9D8B030D-6E8A-4147-A177-3AD203B41FA5}">
                      <a16:colId xmlns:a16="http://schemas.microsoft.com/office/drawing/2014/main" val="20003"/>
                    </a:ext>
                  </a:extLst>
                </a:gridCol>
              </a:tblGrid>
              <a:tr h="347472">
                <a:tc>
                  <a:txBody>
                    <a:bodyPr/>
                    <a:lstStyle/>
                    <a:p>
                      <a:pPr marL="0" indent="0">
                        <a:buNone/>
                      </a:pPr>
                      <a:r>
                        <a:rPr lang="en-US" sz="800" b="1" dirty="0">
                          <a:solidFill>
                            <a:srgbClr val="FFFFFF"/>
                          </a:solidFill>
                          <a:latin typeface="Calibri" pitchFamily="34" charset="0"/>
                          <a:ea typeface="Calibri" pitchFamily="34" charset="-122"/>
                          <a:cs typeface="Calibri" pitchFamily="34" charset="-120"/>
                        </a:rPr>
                        <a:t>Unidad de Compra</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0234E"/>
                    </a:solidFill>
                  </a:tcPr>
                </a:tc>
                <a:tc>
                  <a:txBody>
                    <a:bodyPr/>
                    <a:lstStyle/>
                    <a:p>
                      <a:pPr marL="0" indent="0">
                        <a:buNone/>
                      </a:pPr>
                      <a:r>
                        <a:rPr lang="en-US" sz="800" b="1" dirty="0">
                          <a:solidFill>
                            <a:srgbClr val="FFFFFF"/>
                          </a:solidFill>
                          <a:latin typeface="Calibri" pitchFamily="34" charset="0"/>
                          <a:ea typeface="Calibri" pitchFamily="34" charset="-122"/>
                          <a:cs typeface="Calibri" pitchFamily="34" charset="-120"/>
                        </a:rPr>
                        <a:t>PAC Inicial</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0234E"/>
                    </a:solidFill>
                  </a:tcPr>
                </a:tc>
                <a:tc>
                  <a:txBody>
                    <a:bodyPr/>
                    <a:lstStyle/>
                    <a:p>
                      <a:pPr marL="0" indent="0">
                        <a:buNone/>
                      </a:pPr>
                      <a:r>
                        <a:rPr lang="en-US" sz="800" b="1" dirty="0">
                          <a:solidFill>
                            <a:srgbClr val="FFFFFF"/>
                          </a:solidFill>
                          <a:latin typeface="Calibri" pitchFamily="34" charset="0"/>
                          <a:ea typeface="Calibri" pitchFamily="34" charset="-122"/>
                          <a:cs typeface="Calibri" pitchFamily="34" charset="-120"/>
                        </a:rPr>
                        <a:t>Modificación N°1</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0234E"/>
                    </a:solidFill>
                  </a:tcPr>
                </a:tc>
                <a:tc>
                  <a:txBody>
                    <a:bodyPr/>
                    <a:lstStyle/>
                    <a:p>
                      <a:pPr marL="0" indent="0">
                        <a:buNone/>
                      </a:pPr>
                      <a:r>
                        <a:rPr lang="en-US" sz="800" b="1" dirty="0">
                          <a:solidFill>
                            <a:srgbClr val="FFFFFF"/>
                          </a:solidFill>
                          <a:latin typeface="Calibri" pitchFamily="34" charset="0"/>
                          <a:ea typeface="Calibri" pitchFamily="34" charset="-122"/>
                          <a:cs typeface="Calibri" pitchFamily="34" charset="-120"/>
                        </a:rPr>
                        <a:t>Variación Proyectos | Monto</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0234E"/>
                    </a:solidFill>
                  </a:tcPr>
                </a:tc>
                <a:extLst>
                  <a:ext uri="{0D108BD9-81ED-4DB2-BD59-A6C34878D82A}">
                    <a16:rowId xmlns:a16="http://schemas.microsoft.com/office/drawing/2014/main" val="10000"/>
                  </a:ext>
                </a:extLst>
              </a:tr>
              <a:tr h="347472">
                <a:tc>
                  <a:txBody>
                    <a:bodyPr/>
                    <a:lstStyle/>
                    <a:p>
                      <a:pPr marL="0" indent="0">
                        <a:buNone/>
                      </a:pPr>
                      <a:r>
                        <a:rPr lang="en-US" sz="800" dirty="0">
                          <a:solidFill>
                            <a:srgbClr val="000000"/>
                          </a:solidFill>
                          <a:latin typeface="Calibri" pitchFamily="34" charset="0"/>
                          <a:ea typeface="Calibri" pitchFamily="34" charset="-122"/>
                          <a:cs typeface="Calibri" pitchFamily="34" charset="-120"/>
                        </a:rPr>
                        <a:t>Bienes y Servicios</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800" dirty="0">
                          <a:solidFill>
                            <a:srgbClr val="000000"/>
                          </a:solidFill>
                          <a:latin typeface="Calibri" pitchFamily="34" charset="0"/>
                          <a:ea typeface="Calibri" pitchFamily="34" charset="-122"/>
                          <a:cs typeface="Calibri" pitchFamily="34" charset="-120"/>
                        </a:rPr>
                        <a:t>238 proyectos | $1.932.801.598</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800" dirty="0">
                          <a:solidFill>
                            <a:srgbClr val="000000"/>
                          </a:solidFill>
                          <a:latin typeface="Calibri" pitchFamily="34" charset="0"/>
                          <a:ea typeface="Calibri" pitchFamily="34" charset="-122"/>
                          <a:cs typeface="Calibri" pitchFamily="34" charset="-120"/>
                        </a:rPr>
                        <a:t>319 proyectos | $5.431.168.079</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800" dirty="0">
                          <a:solidFill>
                            <a:srgbClr val="000000"/>
                          </a:solidFill>
                          <a:latin typeface="Calibri" pitchFamily="34" charset="0"/>
                          <a:ea typeface="Calibri" pitchFamily="34" charset="-122"/>
                          <a:cs typeface="Calibri" pitchFamily="34" charset="-120"/>
                        </a:rPr>
                        <a:t>+81 proyectos | +$3.498.366.481</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347472">
                <a:tc>
                  <a:txBody>
                    <a:bodyPr/>
                    <a:lstStyle/>
                    <a:p>
                      <a:pPr marL="0" indent="0">
                        <a:buNone/>
                      </a:pPr>
                      <a:r>
                        <a:rPr lang="en-US" sz="800" dirty="0">
                          <a:solidFill>
                            <a:srgbClr val="000000"/>
                          </a:solidFill>
                          <a:latin typeface="Calibri" pitchFamily="34" charset="0"/>
                          <a:ea typeface="Calibri" pitchFamily="34" charset="-122"/>
                          <a:cs typeface="Calibri" pitchFamily="34" charset="-120"/>
                        </a:rPr>
                        <a:t>Activo Fijo</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800" dirty="0">
                          <a:solidFill>
                            <a:srgbClr val="000000"/>
                          </a:solidFill>
                          <a:latin typeface="Calibri" pitchFamily="34" charset="0"/>
                          <a:ea typeface="Calibri" pitchFamily="34" charset="-122"/>
                          <a:cs typeface="Calibri" pitchFamily="34" charset="-120"/>
                        </a:rPr>
                        <a:t>18 proyectos | $4.545.805.005</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800" dirty="0">
                          <a:solidFill>
                            <a:srgbClr val="000000"/>
                          </a:solidFill>
                          <a:latin typeface="Calibri" pitchFamily="34" charset="0"/>
                          <a:ea typeface="Calibri" pitchFamily="34" charset="-122"/>
                          <a:cs typeface="Calibri" pitchFamily="34" charset="-120"/>
                        </a:rPr>
                        <a:t>24 proyectos | $4.912.176.950</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800" dirty="0">
                          <a:solidFill>
                            <a:srgbClr val="000000"/>
                          </a:solidFill>
                          <a:latin typeface="Calibri" pitchFamily="34" charset="0"/>
                          <a:ea typeface="Calibri" pitchFamily="34" charset="-122"/>
                          <a:cs typeface="Calibri" pitchFamily="34" charset="-120"/>
                        </a:rPr>
                        <a:t>+6 proyectos | +$366.371.945</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347472">
                <a:tc>
                  <a:txBody>
                    <a:bodyPr/>
                    <a:lstStyle/>
                    <a:p>
                      <a:pPr marL="0" indent="0">
                        <a:buNone/>
                      </a:pPr>
                      <a:r>
                        <a:rPr lang="en-US" sz="800" dirty="0">
                          <a:solidFill>
                            <a:srgbClr val="000000"/>
                          </a:solidFill>
                          <a:latin typeface="Calibri" pitchFamily="34" charset="0"/>
                          <a:ea typeface="Calibri" pitchFamily="34" charset="-122"/>
                          <a:cs typeface="Calibri" pitchFamily="34" charset="-120"/>
                        </a:rPr>
                        <a:t>Administración de Fondos</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800" dirty="0">
                          <a:solidFill>
                            <a:srgbClr val="000000"/>
                          </a:solidFill>
                          <a:latin typeface="Calibri" pitchFamily="34" charset="0"/>
                          <a:ea typeface="Calibri" pitchFamily="34" charset="-122"/>
                          <a:cs typeface="Calibri" pitchFamily="34" charset="-120"/>
                        </a:rPr>
                        <a:t>47 proyectos | $216.217.147</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800" dirty="0">
                          <a:solidFill>
                            <a:srgbClr val="000000"/>
                          </a:solidFill>
                          <a:latin typeface="Calibri" pitchFamily="34" charset="0"/>
                          <a:ea typeface="Calibri" pitchFamily="34" charset="-122"/>
                          <a:cs typeface="Calibri" pitchFamily="34" charset="-120"/>
                        </a:rPr>
                        <a:t>52 proyectos | $167.675.445</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800" dirty="0">
                          <a:solidFill>
                            <a:srgbClr val="000000"/>
                          </a:solidFill>
                          <a:latin typeface="Calibri" pitchFamily="34" charset="0"/>
                          <a:ea typeface="Calibri" pitchFamily="34" charset="-122"/>
                          <a:cs typeface="Calibri" pitchFamily="34" charset="-120"/>
                        </a:rPr>
                        <a:t>+5 proyectos | -$48.541.702</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347472">
                <a:tc>
                  <a:txBody>
                    <a:bodyPr/>
                    <a:lstStyle/>
                    <a:p>
                      <a:pPr marL="0" indent="0">
                        <a:buNone/>
                      </a:pPr>
                      <a:r>
                        <a:rPr lang="en-US" sz="800" dirty="0">
                          <a:solidFill>
                            <a:srgbClr val="000000"/>
                          </a:solidFill>
                          <a:latin typeface="Calibri" pitchFamily="34" charset="0"/>
                          <a:ea typeface="Calibri" pitchFamily="34" charset="-122"/>
                          <a:cs typeface="Calibri" pitchFamily="34" charset="-120"/>
                        </a:rPr>
                        <a:t>Bienestar</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800" dirty="0">
                          <a:solidFill>
                            <a:srgbClr val="000000"/>
                          </a:solidFill>
                          <a:latin typeface="Calibri" pitchFamily="34" charset="0"/>
                          <a:ea typeface="Calibri" pitchFamily="34" charset="-122"/>
                          <a:cs typeface="Calibri" pitchFamily="34" charset="-120"/>
                        </a:rPr>
                        <a:t>1 proyecto | $156.000.000</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800" dirty="0">
                          <a:solidFill>
                            <a:srgbClr val="000000"/>
                          </a:solidFill>
                          <a:latin typeface="Calibri" pitchFamily="34" charset="0"/>
                          <a:ea typeface="Calibri" pitchFamily="34" charset="-122"/>
                          <a:cs typeface="Calibri" pitchFamily="34" charset="-120"/>
                        </a:rPr>
                        <a:t>2 proyectos | $156.870.073</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800" dirty="0">
                          <a:solidFill>
                            <a:srgbClr val="000000"/>
                          </a:solidFill>
                          <a:latin typeface="Calibri" pitchFamily="34" charset="0"/>
                          <a:ea typeface="Calibri" pitchFamily="34" charset="-122"/>
                          <a:cs typeface="Calibri" pitchFamily="34" charset="-120"/>
                        </a:rPr>
                        <a:t>+1 proyecto | +$870.073</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r h="347472">
                <a:tc>
                  <a:txBody>
                    <a:bodyPr/>
                    <a:lstStyle/>
                    <a:p>
                      <a:pPr marL="0" indent="0">
                        <a:buNone/>
                      </a:pPr>
                      <a:r>
                        <a:rPr lang="en-US" sz="800" dirty="0">
                          <a:solidFill>
                            <a:srgbClr val="000000"/>
                          </a:solidFill>
                          <a:latin typeface="Calibri" pitchFamily="34" charset="0"/>
                          <a:ea typeface="Calibri" pitchFamily="34" charset="-122"/>
                          <a:cs typeface="Calibri" pitchFamily="34" charset="-120"/>
                        </a:rPr>
                        <a:t>Convenio GORE Región de Los Lagos</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800" dirty="0">
                          <a:solidFill>
                            <a:srgbClr val="000000"/>
                          </a:solidFill>
                          <a:latin typeface="Calibri" pitchFamily="34" charset="0"/>
                          <a:ea typeface="Calibri" pitchFamily="34" charset="-122"/>
                          <a:cs typeface="Calibri" pitchFamily="34" charset="-120"/>
                        </a:rPr>
                        <a:t>16 proyectos | $1.438.588.008</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800" dirty="0">
                          <a:solidFill>
                            <a:srgbClr val="000000"/>
                          </a:solidFill>
                          <a:latin typeface="Calibri" pitchFamily="34" charset="0"/>
                          <a:ea typeface="Calibri" pitchFamily="34" charset="-122"/>
                          <a:cs typeface="Calibri" pitchFamily="34" charset="-120"/>
                        </a:rPr>
                        <a:t>12 proyectos | $1.189.884.008</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800" dirty="0">
                          <a:solidFill>
                            <a:srgbClr val="000000"/>
                          </a:solidFill>
                          <a:latin typeface="Calibri" pitchFamily="34" charset="0"/>
                          <a:ea typeface="Calibri" pitchFamily="34" charset="-122"/>
                          <a:cs typeface="Calibri" pitchFamily="34" charset="-120"/>
                        </a:rPr>
                        <a:t>-4 proyectos | -$248.704.000</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5"/>
                  </a:ext>
                </a:extLst>
              </a:tr>
              <a:tr h="347472">
                <a:tc>
                  <a:txBody>
                    <a:bodyPr/>
                    <a:lstStyle/>
                    <a:p>
                      <a:pPr marL="0" indent="0">
                        <a:buNone/>
                      </a:pPr>
                      <a:r>
                        <a:rPr lang="en-US" sz="800" dirty="0">
                          <a:solidFill>
                            <a:srgbClr val="000000"/>
                          </a:solidFill>
                          <a:latin typeface="Calibri" pitchFamily="34" charset="0"/>
                          <a:ea typeface="Calibri" pitchFamily="34" charset="-122"/>
                          <a:cs typeface="Calibri" pitchFamily="34" charset="-120"/>
                        </a:rPr>
                        <a:t>Obras Civiles</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800" dirty="0">
                          <a:solidFill>
                            <a:srgbClr val="000000"/>
                          </a:solidFill>
                          <a:latin typeface="Calibri" pitchFamily="34" charset="0"/>
                          <a:ea typeface="Calibri" pitchFamily="34" charset="-122"/>
                          <a:cs typeface="Calibri" pitchFamily="34" charset="-120"/>
                        </a:rPr>
                        <a:t>14 proyectos | $7.264.673.295</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800" dirty="0">
                          <a:solidFill>
                            <a:srgbClr val="000000"/>
                          </a:solidFill>
                          <a:latin typeface="Calibri" pitchFamily="34" charset="0"/>
                          <a:ea typeface="Calibri" pitchFamily="34" charset="-122"/>
                          <a:cs typeface="Calibri" pitchFamily="34" charset="-120"/>
                        </a:rPr>
                        <a:t>10 proyectos | $6.709.706.499</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800" dirty="0">
                          <a:solidFill>
                            <a:srgbClr val="000000"/>
                          </a:solidFill>
                          <a:latin typeface="Calibri" pitchFamily="34" charset="0"/>
                          <a:ea typeface="Calibri" pitchFamily="34" charset="-122"/>
                          <a:cs typeface="Calibri" pitchFamily="34" charset="-120"/>
                        </a:rPr>
                        <a:t>-4 proyectos | -$554.966.796</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6"/>
                  </a:ext>
                </a:extLst>
              </a:tr>
              <a:tr h="347472">
                <a:tc>
                  <a:txBody>
                    <a:bodyPr/>
                    <a:lstStyle/>
                    <a:p>
                      <a:pPr marL="0" indent="0">
                        <a:buNone/>
                      </a:pPr>
                      <a:r>
                        <a:rPr lang="en-US" sz="800" dirty="0">
                          <a:solidFill>
                            <a:srgbClr val="000000"/>
                          </a:solidFill>
                          <a:latin typeface="Calibri" pitchFamily="34" charset="0"/>
                          <a:ea typeface="Calibri" pitchFamily="34" charset="-122"/>
                          <a:cs typeface="Calibri" pitchFamily="34" charset="-120"/>
                        </a:rPr>
                        <a:t>Proyectos de Arrastre</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800" dirty="0">
                          <a:solidFill>
                            <a:srgbClr val="000000"/>
                          </a:solidFill>
                          <a:latin typeface="Calibri" pitchFamily="34" charset="0"/>
                          <a:ea typeface="Calibri" pitchFamily="34" charset="-122"/>
                          <a:cs typeface="Calibri" pitchFamily="34" charset="-120"/>
                        </a:rPr>
                        <a:t>59 proyectos | $6.588.447.864</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800" dirty="0">
                          <a:solidFill>
                            <a:srgbClr val="000000"/>
                          </a:solidFill>
                          <a:latin typeface="Calibri" pitchFamily="34" charset="0"/>
                          <a:ea typeface="Calibri" pitchFamily="34" charset="-122"/>
                          <a:cs typeface="Calibri" pitchFamily="34" charset="-120"/>
                        </a:rPr>
                        <a:t>59 proyectos | $6.588.447.864</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800" dirty="0">
                          <a:solidFill>
                            <a:srgbClr val="000000"/>
                          </a:solidFill>
                          <a:latin typeface="Calibri" pitchFamily="34" charset="0"/>
                          <a:ea typeface="Calibri" pitchFamily="34" charset="-122"/>
                          <a:cs typeface="Calibri" pitchFamily="34" charset="-120"/>
                        </a:rPr>
                        <a:t>Sin variación</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7"/>
                  </a:ext>
                </a:extLst>
              </a:tr>
              <a:tr h="347472">
                <a:tc>
                  <a:txBody>
                    <a:bodyPr/>
                    <a:lstStyle/>
                    <a:p>
                      <a:pPr marL="0" indent="0">
                        <a:buNone/>
                      </a:pPr>
                      <a:r>
                        <a:rPr lang="en-US" sz="800" b="1" dirty="0">
                          <a:solidFill>
                            <a:srgbClr val="000000"/>
                          </a:solidFill>
                          <a:latin typeface="Calibri" pitchFamily="34" charset="0"/>
                          <a:ea typeface="Calibri" pitchFamily="34" charset="-122"/>
                          <a:cs typeface="Calibri" pitchFamily="34" charset="-120"/>
                        </a:rPr>
                        <a:t>TOTAL</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BF2FF"/>
                    </a:solidFill>
                  </a:tcPr>
                </a:tc>
                <a:tc>
                  <a:txBody>
                    <a:bodyPr/>
                    <a:lstStyle/>
                    <a:p>
                      <a:pPr marL="0" indent="0">
                        <a:buNone/>
                      </a:pPr>
                      <a:r>
                        <a:rPr lang="en-US" sz="800" b="1" dirty="0">
                          <a:solidFill>
                            <a:srgbClr val="000000"/>
                          </a:solidFill>
                          <a:latin typeface="Calibri" pitchFamily="34" charset="0"/>
                          <a:ea typeface="Calibri" pitchFamily="34" charset="-122"/>
                          <a:cs typeface="Calibri" pitchFamily="34" charset="-120"/>
                        </a:rPr>
                        <a:t>393 proyectos | $22.142.532.917</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BF2FF"/>
                    </a:solidFill>
                  </a:tcPr>
                </a:tc>
                <a:tc>
                  <a:txBody>
                    <a:bodyPr/>
                    <a:lstStyle/>
                    <a:p>
                      <a:pPr marL="0" indent="0">
                        <a:buNone/>
                      </a:pPr>
                      <a:r>
                        <a:rPr lang="en-US" sz="800" b="1" dirty="0">
                          <a:solidFill>
                            <a:srgbClr val="000000"/>
                          </a:solidFill>
                          <a:latin typeface="Calibri" pitchFamily="34" charset="0"/>
                          <a:ea typeface="Calibri" pitchFamily="34" charset="-122"/>
                          <a:cs typeface="Calibri" pitchFamily="34" charset="-120"/>
                        </a:rPr>
                        <a:t>478 proyectos | $25.155.928.918</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BF2FF"/>
                    </a:solidFill>
                  </a:tcPr>
                </a:tc>
                <a:tc>
                  <a:txBody>
                    <a:bodyPr/>
                    <a:lstStyle/>
                    <a:p>
                      <a:pPr marL="0" indent="0">
                        <a:buNone/>
                      </a:pPr>
                      <a:r>
                        <a:rPr lang="en-US" sz="800" b="1" dirty="0">
                          <a:solidFill>
                            <a:srgbClr val="000000"/>
                          </a:solidFill>
                          <a:latin typeface="Calibri" pitchFamily="34" charset="0"/>
                          <a:ea typeface="Calibri" pitchFamily="34" charset="-122"/>
                          <a:cs typeface="Calibri" pitchFamily="34" charset="-120"/>
                        </a:rPr>
                        <a:t>+85 proyectos | +$3.013.396.001</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BF2FF"/>
                    </a:solidFill>
                  </a:tcPr>
                </a:tc>
                <a:extLst>
                  <a:ext uri="{0D108BD9-81ED-4DB2-BD59-A6C34878D82A}">
                    <a16:rowId xmlns:a16="http://schemas.microsoft.com/office/drawing/2014/main" val="10008"/>
                  </a:ext>
                </a:extLst>
              </a:tr>
            </a:tbl>
          </a:graphicData>
        </a:graphic>
      </p:graphicFrame>
      <p:sp>
        <p:nvSpPr>
          <p:cNvPr id="16" name="Shape 14"/>
          <p:cNvSpPr/>
          <p:nvPr/>
        </p:nvSpPr>
        <p:spPr>
          <a:xfrm>
            <a:off x="0" y="5070348"/>
            <a:ext cx="9144000" cy="73152"/>
          </a:xfrm>
          <a:prstGeom prst="rect">
            <a:avLst/>
          </a:prstGeom>
          <a:solidFill>
            <a:srgbClr val="00234E"/>
          </a:solidFill>
          <a:ln w="12700">
            <a:solidFill>
              <a:srgbClr val="00234E"/>
            </a:solidFill>
            <a:prstDash val="solid"/>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0234E"/>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4DAADF"/>
          </a:solidFill>
          <a:ln w="12700">
            <a:solidFill>
              <a:srgbClr val="4DAADF"/>
            </a:solidFill>
            <a:prstDash val="solid"/>
          </a:ln>
        </p:spPr>
      </p:sp>
      <p:sp>
        <p:nvSpPr>
          <p:cNvPr id="3" name="Shape 1"/>
          <p:cNvSpPr/>
          <p:nvPr/>
        </p:nvSpPr>
        <p:spPr>
          <a:xfrm>
            <a:off x="0" y="73152"/>
            <a:ext cx="228600" cy="5070348"/>
          </a:xfrm>
          <a:prstGeom prst="rect">
            <a:avLst/>
          </a:prstGeom>
          <a:solidFill>
            <a:srgbClr val="004B8D"/>
          </a:solidFill>
          <a:ln w="12700">
            <a:solidFill>
              <a:srgbClr val="004B8D"/>
            </a:solidFill>
            <a:prstDash val="solid"/>
          </a:ln>
        </p:spPr>
      </p:sp>
      <p:sp>
        <p:nvSpPr>
          <p:cNvPr id="4" name="Text 2"/>
          <p:cNvSpPr/>
          <p:nvPr/>
        </p:nvSpPr>
        <p:spPr>
          <a:xfrm>
            <a:off x="502920" y="731520"/>
            <a:ext cx="1828800" cy="1097280"/>
          </a:xfrm>
          <a:prstGeom prst="rect">
            <a:avLst/>
          </a:prstGeom>
          <a:noFill/>
          <a:ln/>
        </p:spPr>
        <p:txBody>
          <a:bodyPr wrap="square" lIns="0" tIns="0" rIns="0" bIns="0" rtlCol="0" anchor="ctr"/>
          <a:lstStyle/>
          <a:p>
            <a:pPr marL="0" indent="0">
              <a:buNone/>
            </a:pPr>
            <a:r>
              <a:rPr lang="en-US" sz="8000" b="1" dirty="0">
                <a:solidFill>
                  <a:srgbClr val="1A3A6B"/>
                </a:solidFill>
                <a:latin typeface="Calibri" pitchFamily="34" charset="0"/>
                <a:ea typeface="Calibri" pitchFamily="34" charset="-122"/>
                <a:cs typeface="Calibri" pitchFamily="34" charset="-120"/>
              </a:rPr>
              <a:t>05</a:t>
            </a:r>
            <a:endParaRPr lang="en-US" sz="8000" dirty="0"/>
          </a:p>
        </p:txBody>
      </p:sp>
      <p:sp>
        <p:nvSpPr>
          <p:cNvPr id="5" name="Text 3"/>
          <p:cNvSpPr/>
          <p:nvPr/>
        </p:nvSpPr>
        <p:spPr>
          <a:xfrm>
            <a:off x="502920" y="1828800"/>
            <a:ext cx="8229600" cy="1280160"/>
          </a:xfrm>
          <a:prstGeom prst="rect">
            <a:avLst/>
          </a:prstGeom>
          <a:noFill/>
          <a:ln/>
        </p:spPr>
        <p:txBody>
          <a:bodyPr wrap="square" lIns="0" tIns="0" rIns="0" bIns="0"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CONCLUSIONES</a:t>
            </a:r>
            <a:endParaRPr lang="en-US" sz="3400" dirty="0"/>
          </a:p>
          <a:p>
            <a:pPr marL="0" indent="0">
              <a:buNone/>
            </a:pPr>
            <a:r>
              <a:rPr lang="en-US" sz="3400" b="1" dirty="0">
                <a:solidFill>
                  <a:srgbClr val="FFFFFF"/>
                </a:solidFill>
                <a:latin typeface="Calibri" pitchFamily="34" charset="0"/>
                <a:ea typeface="Calibri" pitchFamily="34" charset="-122"/>
                <a:cs typeface="Calibri" pitchFamily="34" charset="-120"/>
              </a:rPr>
              <a:t>Y COMPROMISOS</a:t>
            </a:r>
            <a:endParaRPr lang="en-US" sz="3400" dirty="0"/>
          </a:p>
        </p:txBody>
      </p:sp>
      <p:sp>
        <p:nvSpPr>
          <p:cNvPr id="6" name="Text 4"/>
          <p:cNvSpPr/>
          <p:nvPr/>
        </p:nvSpPr>
        <p:spPr>
          <a:xfrm>
            <a:off x="502920" y="3200400"/>
            <a:ext cx="8229600" cy="457200"/>
          </a:xfrm>
          <a:prstGeom prst="rect">
            <a:avLst/>
          </a:prstGeom>
          <a:noFill/>
          <a:ln/>
        </p:spPr>
        <p:txBody>
          <a:bodyPr wrap="square" lIns="0" tIns="0" rIns="0" bIns="0" rtlCol="0" anchor="ctr"/>
          <a:lstStyle/>
          <a:p>
            <a:pPr marL="0" indent="0">
              <a:buNone/>
            </a:pPr>
            <a:r>
              <a:rPr lang="en-US" sz="1500" i="1" dirty="0">
                <a:solidFill>
                  <a:srgbClr val="4DAADF"/>
                </a:solidFill>
                <a:latin typeface="Calibri" pitchFamily="34" charset="0"/>
                <a:ea typeface="Calibri" pitchFamily="34" charset="-122"/>
                <a:cs typeface="Calibri" pitchFamily="34" charset="-120"/>
              </a:rPr>
              <a:t>El PAC como instrumento de planificación estratégica del SSO</a:t>
            </a:r>
            <a:endParaRPr lang="en-US" sz="1500" dirty="0"/>
          </a:p>
        </p:txBody>
      </p:sp>
      <p:sp>
        <p:nvSpPr>
          <p:cNvPr id="7" name="Shape 5"/>
          <p:cNvSpPr/>
          <p:nvPr/>
        </p:nvSpPr>
        <p:spPr>
          <a:xfrm>
            <a:off x="0" y="5070348"/>
            <a:ext cx="9144000" cy="73152"/>
          </a:xfrm>
          <a:prstGeom prst="rect">
            <a:avLst/>
          </a:prstGeom>
          <a:solidFill>
            <a:srgbClr val="4DAADF"/>
          </a:solidFill>
          <a:ln w="12700">
            <a:solidFill>
              <a:srgbClr val="4DAADF"/>
            </a:solidFill>
            <a:prstDash val="solid"/>
          </a:ln>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0F5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234E"/>
          </a:solidFill>
          <a:ln w="12700">
            <a:solidFill>
              <a:srgbClr val="00234E"/>
            </a:solidFill>
            <a:prstDash val="solid"/>
          </a:ln>
        </p:spPr>
      </p:sp>
      <p:sp>
        <p:nvSpPr>
          <p:cNvPr id="3" name="Text 1"/>
          <p:cNvSpPr/>
          <p:nvPr/>
        </p:nvSpPr>
        <p:spPr>
          <a:xfrm>
            <a:off x="457200" y="137160"/>
            <a:ext cx="8229600" cy="457200"/>
          </a:xfrm>
          <a:prstGeom prst="rect">
            <a:avLst/>
          </a:prstGeom>
          <a:noFill/>
          <a:ln/>
        </p:spPr>
        <p:txBody>
          <a:bodyPr wrap="square" lIns="0" tIns="0" rIns="0" bIns="0" rtlCol="0" anchor="ctr"/>
          <a:lstStyle/>
          <a:p>
            <a:pPr marL="0" indent="0" algn="l">
              <a:buNone/>
            </a:pPr>
            <a:r>
              <a:rPr lang="en-US" sz="2200" b="1" dirty="0">
                <a:solidFill>
                  <a:srgbClr val="00234E"/>
                </a:solidFill>
                <a:latin typeface="Calibri" pitchFamily="34" charset="0"/>
                <a:ea typeface="Calibri" pitchFamily="34" charset="-122"/>
                <a:cs typeface="Calibri" pitchFamily="34" charset="-120"/>
              </a:rPr>
              <a:t>Conclusiones y Compromisos 2026</a:t>
            </a:r>
            <a:endParaRPr lang="en-US" sz="2200" dirty="0"/>
          </a:p>
        </p:txBody>
      </p:sp>
      <p:sp>
        <p:nvSpPr>
          <p:cNvPr id="4" name="Shape 2"/>
          <p:cNvSpPr/>
          <p:nvPr/>
        </p:nvSpPr>
        <p:spPr>
          <a:xfrm>
            <a:off x="256032" y="749808"/>
            <a:ext cx="8631936" cy="987552"/>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5" name="Shape 3"/>
          <p:cNvSpPr/>
          <p:nvPr/>
        </p:nvSpPr>
        <p:spPr>
          <a:xfrm>
            <a:off x="256032" y="749808"/>
            <a:ext cx="502920" cy="987552"/>
          </a:xfrm>
          <a:prstGeom prst="rect">
            <a:avLst/>
          </a:prstGeom>
          <a:solidFill>
            <a:srgbClr val="16A34A"/>
          </a:solidFill>
          <a:ln w="12700">
            <a:solidFill>
              <a:srgbClr val="16A34A"/>
            </a:solidFill>
            <a:prstDash val="solid"/>
          </a:ln>
        </p:spPr>
      </p:sp>
      <p:sp>
        <p:nvSpPr>
          <p:cNvPr id="6" name="Text 4"/>
          <p:cNvSpPr/>
          <p:nvPr/>
        </p:nvSpPr>
        <p:spPr>
          <a:xfrm>
            <a:off x="256032" y="1005840"/>
            <a:ext cx="502920" cy="457200"/>
          </a:xfrm>
          <a:prstGeom prst="rect">
            <a:avLst/>
          </a:prstGeom>
          <a:noFill/>
          <a:ln/>
        </p:spPr>
        <p:txBody>
          <a:bodyPr wrap="square" lIns="0" tIns="0" rIns="0" bIns="0" rtlCol="0" anchor="ctr"/>
          <a:lstStyle/>
          <a:p>
            <a:pPr marL="0" indent="0" algn="ctr">
              <a:buNone/>
            </a:pPr>
            <a:r>
              <a:rPr lang="en-US" sz="2000" dirty="0">
                <a:solidFill>
                  <a:srgbClr val="FFFFFF"/>
                </a:solidFill>
                <a:latin typeface="Calibri" pitchFamily="34" charset="0"/>
                <a:ea typeface="Calibri" pitchFamily="34" charset="-122"/>
                <a:cs typeface="Calibri" pitchFamily="34" charset="-120"/>
              </a:rPr>
              <a:t>✓</a:t>
            </a:r>
            <a:endParaRPr lang="en-US" sz="2000" dirty="0"/>
          </a:p>
        </p:txBody>
      </p:sp>
      <p:sp>
        <p:nvSpPr>
          <p:cNvPr id="7" name="Text 5"/>
          <p:cNvSpPr/>
          <p:nvPr/>
        </p:nvSpPr>
        <p:spPr>
          <a:xfrm>
            <a:off x="841248" y="804672"/>
            <a:ext cx="7955280" cy="274320"/>
          </a:xfrm>
          <a:prstGeom prst="rect">
            <a:avLst/>
          </a:prstGeom>
          <a:noFill/>
          <a:ln/>
        </p:spPr>
        <p:txBody>
          <a:bodyPr wrap="square" lIns="0" tIns="0" rIns="0" bIns="0" rtlCol="0" anchor="ctr"/>
          <a:lstStyle/>
          <a:p>
            <a:pPr marL="0" indent="0">
              <a:buNone/>
            </a:pPr>
            <a:r>
              <a:rPr lang="en-US" sz="1200" b="1" dirty="0">
                <a:solidFill>
                  <a:srgbClr val="16A34A"/>
                </a:solidFill>
                <a:latin typeface="Calibri" pitchFamily="34" charset="0"/>
                <a:ea typeface="Calibri" pitchFamily="34" charset="-122"/>
                <a:cs typeface="Calibri" pitchFamily="34" charset="-120"/>
              </a:rPr>
              <a:t>Resultados PAC 2025 son positivos, con matices a considerar</a:t>
            </a:r>
            <a:endParaRPr lang="en-US" sz="1200" dirty="0"/>
          </a:p>
        </p:txBody>
      </p:sp>
      <p:sp>
        <p:nvSpPr>
          <p:cNvPr id="8" name="Text 6"/>
          <p:cNvSpPr/>
          <p:nvPr/>
        </p:nvSpPr>
        <p:spPr>
          <a:xfrm>
            <a:off x="841248" y="1097280"/>
            <a:ext cx="7863840" cy="585216"/>
          </a:xfrm>
          <a:prstGeom prst="rect">
            <a:avLst/>
          </a:prstGeom>
          <a:noFill/>
          <a:ln/>
        </p:spPr>
        <p:txBody>
          <a:bodyPr wrap="square" lIns="0" tIns="0" rIns="0" bIns="0" rtlCol="0" anchor="ctr"/>
          <a:lstStyle/>
          <a:p>
            <a:pPr marL="0" indent="0">
              <a:buNone/>
            </a:pPr>
            <a:r>
              <a:rPr lang="en-US" sz="850" dirty="0">
                <a:solidFill>
                  <a:srgbClr val="333333"/>
                </a:solidFill>
                <a:latin typeface="Calibri" pitchFamily="34" charset="0"/>
                <a:ea typeface="Calibri" pitchFamily="34" charset="-122"/>
                <a:cs typeface="Calibri" pitchFamily="34" charset="-120"/>
              </a:rPr>
              <a:t>El SSO obtuvo resultados por sobre la media nacional en 4 de 5 indicadores, lo que es un buen punto de partida. La evaluación de contratos registró nota 5.0, aunque es importante precisar que no todos los contratos del Servicio han sido evaluados en la plataforma: el indicador favorable refleja los contratos efectivamente calificados. Las compras dentro del PAC al 78% son un logro concreto del equipo.</a:t>
            </a:r>
            <a:endParaRPr lang="en-US" sz="850" dirty="0"/>
          </a:p>
        </p:txBody>
      </p:sp>
      <p:sp>
        <p:nvSpPr>
          <p:cNvPr id="9" name="Shape 7"/>
          <p:cNvSpPr/>
          <p:nvPr/>
        </p:nvSpPr>
        <p:spPr>
          <a:xfrm>
            <a:off x="256032" y="1810512"/>
            <a:ext cx="8631936" cy="987552"/>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10" name="Shape 8"/>
          <p:cNvSpPr/>
          <p:nvPr/>
        </p:nvSpPr>
        <p:spPr>
          <a:xfrm>
            <a:off x="256032" y="1810512"/>
            <a:ext cx="502920" cy="987552"/>
          </a:xfrm>
          <a:prstGeom prst="rect">
            <a:avLst/>
          </a:prstGeom>
          <a:solidFill>
            <a:srgbClr val="D97706"/>
          </a:solidFill>
          <a:ln w="12700">
            <a:solidFill>
              <a:srgbClr val="D97706"/>
            </a:solidFill>
            <a:prstDash val="solid"/>
          </a:ln>
        </p:spPr>
      </p:sp>
      <p:sp>
        <p:nvSpPr>
          <p:cNvPr id="11" name="Text 9"/>
          <p:cNvSpPr/>
          <p:nvPr/>
        </p:nvSpPr>
        <p:spPr>
          <a:xfrm>
            <a:off x="256032" y="2066544"/>
            <a:ext cx="502920" cy="457200"/>
          </a:xfrm>
          <a:prstGeom prst="rect">
            <a:avLst/>
          </a:prstGeom>
          <a:noFill/>
          <a:ln/>
        </p:spPr>
        <p:txBody>
          <a:bodyPr wrap="square" lIns="0" tIns="0" rIns="0" bIns="0" rtlCol="0" anchor="ctr"/>
          <a:lstStyle/>
          <a:p>
            <a:pPr marL="0" indent="0" algn="ctr">
              <a:buNone/>
            </a:pPr>
            <a:r>
              <a:rPr lang="en-US" sz="2000" dirty="0">
                <a:solidFill>
                  <a:srgbClr val="FFFFFF"/>
                </a:solidFill>
                <a:latin typeface="Calibri" pitchFamily="34" charset="0"/>
                <a:ea typeface="Calibri" pitchFamily="34" charset="-122"/>
                <a:cs typeface="Calibri" pitchFamily="34" charset="-120"/>
              </a:rPr>
              <a:t>⚠</a:t>
            </a:r>
            <a:endParaRPr lang="en-US" sz="2000" dirty="0"/>
          </a:p>
        </p:txBody>
      </p:sp>
      <p:sp>
        <p:nvSpPr>
          <p:cNvPr id="12" name="Text 10"/>
          <p:cNvSpPr/>
          <p:nvPr/>
        </p:nvSpPr>
        <p:spPr>
          <a:xfrm>
            <a:off x="841248" y="1865376"/>
            <a:ext cx="7955280" cy="274320"/>
          </a:xfrm>
          <a:prstGeom prst="rect">
            <a:avLst/>
          </a:prstGeom>
          <a:noFill/>
          <a:ln/>
        </p:spPr>
        <p:txBody>
          <a:bodyPr wrap="square" lIns="0" tIns="0" rIns="0" bIns="0" rtlCol="0" anchor="ctr"/>
          <a:lstStyle/>
          <a:p>
            <a:pPr marL="0" indent="0">
              <a:buNone/>
            </a:pPr>
            <a:r>
              <a:rPr lang="en-US" sz="1200" b="1" dirty="0">
                <a:solidFill>
                  <a:srgbClr val="D97706"/>
                </a:solidFill>
                <a:latin typeface="Calibri" pitchFamily="34" charset="0"/>
                <a:ea typeface="Calibri" pitchFamily="34" charset="-122"/>
                <a:cs typeface="Calibri" pitchFamily="34" charset="-120"/>
              </a:rPr>
              <a:t>El ahorro en licitaciones es el indicador prioritario para 2026</a:t>
            </a:r>
            <a:endParaRPr lang="en-US" sz="1200" dirty="0"/>
          </a:p>
        </p:txBody>
      </p:sp>
      <p:sp>
        <p:nvSpPr>
          <p:cNvPr id="13" name="Text 11"/>
          <p:cNvSpPr/>
          <p:nvPr/>
        </p:nvSpPr>
        <p:spPr>
          <a:xfrm>
            <a:off x="841248" y="2157984"/>
            <a:ext cx="7863840" cy="585216"/>
          </a:xfrm>
          <a:prstGeom prst="rect">
            <a:avLst/>
          </a:prstGeom>
          <a:noFill/>
          <a:ln/>
        </p:spPr>
        <p:txBody>
          <a:bodyPr wrap="square" lIns="0" tIns="0" rIns="0" bIns="0" rtlCol="0" anchor="ctr"/>
          <a:lstStyle/>
          <a:p>
            <a:pPr marL="0" indent="0">
              <a:buNone/>
            </a:pPr>
            <a:r>
              <a:rPr lang="en-US" sz="850" dirty="0">
                <a:solidFill>
                  <a:srgbClr val="333333"/>
                </a:solidFill>
                <a:latin typeface="Calibri" pitchFamily="34" charset="0"/>
                <a:ea typeface="Calibri" pitchFamily="34" charset="-122"/>
                <a:cs typeface="Calibri" pitchFamily="34" charset="-120"/>
              </a:rPr>
              <a:t>El -2.04% indica que en promedio se adjudicó a un precio superior al promedio de las ofertas recibidas. Esto puede obedecer a que en muchos procesos la evaluación técnica pondera otros criterios además del precio, o que algunos mercados del sector salud tienen poca competencia de proveedores. Al ser la primera medición, esta cifra actúa como línea base. El objetivo 2026 es trabajar en mejorar la competencia en licitaciones y el análisis previo de mercado.</a:t>
            </a:r>
            <a:endParaRPr lang="en-US" sz="850" dirty="0"/>
          </a:p>
        </p:txBody>
      </p:sp>
      <p:sp>
        <p:nvSpPr>
          <p:cNvPr id="14" name="Shape 12"/>
          <p:cNvSpPr/>
          <p:nvPr/>
        </p:nvSpPr>
        <p:spPr>
          <a:xfrm>
            <a:off x="256032" y="2871216"/>
            <a:ext cx="8631936" cy="987552"/>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15" name="Shape 13"/>
          <p:cNvSpPr/>
          <p:nvPr/>
        </p:nvSpPr>
        <p:spPr>
          <a:xfrm>
            <a:off x="256032" y="2871216"/>
            <a:ext cx="502920" cy="987552"/>
          </a:xfrm>
          <a:prstGeom prst="rect">
            <a:avLst/>
          </a:prstGeom>
          <a:solidFill>
            <a:srgbClr val="004B8D"/>
          </a:solidFill>
          <a:ln w="12700">
            <a:solidFill>
              <a:srgbClr val="004B8D"/>
            </a:solidFill>
            <a:prstDash val="solid"/>
          </a:ln>
        </p:spPr>
      </p:sp>
      <p:sp>
        <p:nvSpPr>
          <p:cNvPr id="16" name="Text 14"/>
          <p:cNvSpPr/>
          <p:nvPr/>
        </p:nvSpPr>
        <p:spPr>
          <a:xfrm>
            <a:off x="256032" y="3127248"/>
            <a:ext cx="502920" cy="457200"/>
          </a:xfrm>
          <a:prstGeom prst="rect">
            <a:avLst/>
          </a:prstGeom>
          <a:noFill/>
          <a:ln/>
        </p:spPr>
        <p:txBody>
          <a:bodyPr wrap="square" lIns="0" tIns="0" rIns="0" bIns="0" rtlCol="0" anchor="ctr"/>
          <a:lstStyle/>
          <a:p>
            <a:pPr marL="0" indent="0" algn="ctr">
              <a:buNone/>
            </a:pPr>
            <a:r>
              <a:rPr lang="en-US" sz="2000" dirty="0">
                <a:solidFill>
                  <a:srgbClr val="FFFFFF"/>
                </a:solidFill>
                <a:latin typeface="Calibri" pitchFamily="34" charset="0"/>
                <a:ea typeface="Calibri" pitchFamily="34" charset="-122"/>
                <a:cs typeface="Calibri" pitchFamily="34" charset="-120"/>
              </a:rPr>
              <a:t>▶</a:t>
            </a:r>
            <a:endParaRPr lang="en-US" sz="2000" dirty="0"/>
          </a:p>
        </p:txBody>
      </p:sp>
      <p:sp>
        <p:nvSpPr>
          <p:cNvPr id="17" name="Text 15"/>
          <p:cNvSpPr/>
          <p:nvPr/>
        </p:nvSpPr>
        <p:spPr>
          <a:xfrm>
            <a:off x="841248" y="2926080"/>
            <a:ext cx="7955280" cy="274320"/>
          </a:xfrm>
          <a:prstGeom prst="rect">
            <a:avLst/>
          </a:prstGeom>
          <a:noFill/>
          <a:ln/>
        </p:spPr>
        <p:txBody>
          <a:bodyPr wrap="square" lIns="0" tIns="0" rIns="0" bIns="0" rtlCol="0" anchor="ctr"/>
          <a:lstStyle/>
          <a:p>
            <a:pPr marL="0" indent="0">
              <a:buNone/>
            </a:pPr>
            <a:r>
              <a:rPr lang="en-US" sz="1200" b="1" dirty="0">
                <a:solidFill>
                  <a:srgbClr val="004B8D"/>
                </a:solidFill>
                <a:latin typeface="Calibri" pitchFamily="34" charset="0"/>
                <a:ea typeface="Calibri" pitchFamily="34" charset="-122"/>
                <a:cs typeface="Calibri" pitchFamily="34" charset="-120"/>
              </a:rPr>
              <a:t>El Comité PAC debe fortalecerse como órgano de gobernanza</a:t>
            </a:r>
            <a:endParaRPr lang="en-US" sz="1200" dirty="0"/>
          </a:p>
        </p:txBody>
      </p:sp>
      <p:sp>
        <p:nvSpPr>
          <p:cNvPr id="18" name="Text 16"/>
          <p:cNvSpPr/>
          <p:nvPr/>
        </p:nvSpPr>
        <p:spPr>
          <a:xfrm>
            <a:off x="841248" y="3218688"/>
            <a:ext cx="7863840" cy="585216"/>
          </a:xfrm>
          <a:prstGeom prst="rect">
            <a:avLst/>
          </a:prstGeom>
          <a:noFill/>
          <a:ln/>
        </p:spPr>
        <p:txBody>
          <a:bodyPr wrap="square" lIns="0" tIns="0" rIns="0" bIns="0" rtlCol="0" anchor="ctr"/>
          <a:lstStyle/>
          <a:p>
            <a:pPr marL="0" indent="0">
              <a:buNone/>
            </a:pPr>
            <a:r>
              <a:rPr lang="en-US" sz="850" dirty="0">
                <a:solidFill>
                  <a:srgbClr val="333333"/>
                </a:solidFill>
                <a:latin typeface="Calibri" pitchFamily="34" charset="0"/>
                <a:ea typeface="Calibri" pitchFamily="34" charset="-122"/>
                <a:cs typeface="Calibri" pitchFamily="34" charset="-120"/>
              </a:rPr>
              <a:t>El Oficio N°25231 establece nuevos estándares que van más allá de la Res. N°2194: involucrar áreas clínicas, alinear con el plan estratégico y establecer sesiones formales con acta son requisitos no opcionales. El compromiso de los directivos en este espacio es clave para que el PAC sea un instrumento de gestión real y no solo un trámite administrativo.</a:t>
            </a:r>
            <a:endParaRPr lang="en-US" sz="850" dirty="0"/>
          </a:p>
        </p:txBody>
      </p:sp>
      <p:sp>
        <p:nvSpPr>
          <p:cNvPr id="19" name="Shape 17"/>
          <p:cNvSpPr/>
          <p:nvPr/>
        </p:nvSpPr>
        <p:spPr>
          <a:xfrm>
            <a:off x="256032" y="3931920"/>
            <a:ext cx="8631936" cy="987552"/>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20" name="Shape 18"/>
          <p:cNvSpPr/>
          <p:nvPr/>
        </p:nvSpPr>
        <p:spPr>
          <a:xfrm>
            <a:off x="256032" y="3931920"/>
            <a:ext cx="502920" cy="987552"/>
          </a:xfrm>
          <a:prstGeom prst="rect">
            <a:avLst/>
          </a:prstGeom>
          <a:solidFill>
            <a:srgbClr val="00234E"/>
          </a:solidFill>
          <a:ln w="12700">
            <a:solidFill>
              <a:srgbClr val="00234E"/>
            </a:solidFill>
            <a:prstDash val="solid"/>
          </a:ln>
        </p:spPr>
      </p:sp>
      <p:sp>
        <p:nvSpPr>
          <p:cNvPr id="21" name="Text 19"/>
          <p:cNvSpPr/>
          <p:nvPr/>
        </p:nvSpPr>
        <p:spPr>
          <a:xfrm>
            <a:off x="256032" y="4187952"/>
            <a:ext cx="502920" cy="457200"/>
          </a:xfrm>
          <a:prstGeom prst="rect">
            <a:avLst/>
          </a:prstGeom>
          <a:noFill/>
          <a:ln/>
        </p:spPr>
        <p:txBody>
          <a:bodyPr wrap="square" lIns="0" tIns="0" rIns="0" bIns="0" rtlCol="0" anchor="ctr"/>
          <a:lstStyle/>
          <a:p>
            <a:pPr marL="0" indent="0" algn="ctr">
              <a:buNone/>
            </a:pPr>
            <a:r>
              <a:rPr lang="en-US" sz="2000" dirty="0">
                <a:solidFill>
                  <a:srgbClr val="FFFFFF"/>
                </a:solidFill>
                <a:latin typeface="Calibri" pitchFamily="34" charset="0"/>
                <a:ea typeface="Calibri" pitchFamily="34" charset="-122"/>
                <a:cs typeface="Calibri" pitchFamily="34" charset="-120"/>
              </a:rPr>
              <a:t>★</a:t>
            </a:r>
            <a:endParaRPr lang="en-US" sz="2000" dirty="0"/>
          </a:p>
        </p:txBody>
      </p:sp>
      <p:sp>
        <p:nvSpPr>
          <p:cNvPr id="22" name="Text 20"/>
          <p:cNvSpPr/>
          <p:nvPr/>
        </p:nvSpPr>
        <p:spPr>
          <a:xfrm>
            <a:off x="841248" y="3986784"/>
            <a:ext cx="7955280" cy="274320"/>
          </a:xfrm>
          <a:prstGeom prst="rect">
            <a:avLst/>
          </a:prstGeom>
          <a:noFill/>
          <a:ln/>
        </p:spPr>
        <p:txBody>
          <a:bodyPr wrap="square" lIns="0" tIns="0" rIns="0" bIns="0" rtlCol="0" anchor="ctr"/>
          <a:lstStyle/>
          <a:p>
            <a:pPr marL="0" indent="0">
              <a:buNone/>
            </a:pPr>
            <a:r>
              <a:rPr lang="en-US" sz="1200" b="1" dirty="0">
                <a:solidFill>
                  <a:srgbClr val="00234E"/>
                </a:solidFill>
                <a:latin typeface="Calibri" pitchFamily="34" charset="0"/>
                <a:ea typeface="Calibri" pitchFamily="34" charset="-122"/>
                <a:cs typeface="Calibri" pitchFamily="34" charset="-120"/>
              </a:rPr>
              <a:t>El PAC debe alinearse con el Plan Estratégico del SSO</a:t>
            </a:r>
            <a:endParaRPr lang="en-US" sz="1200" dirty="0"/>
          </a:p>
        </p:txBody>
      </p:sp>
      <p:sp>
        <p:nvSpPr>
          <p:cNvPr id="23" name="Text 21"/>
          <p:cNvSpPr/>
          <p:nvPr/>
        </p:nvSpPr>
        <p:spPr>
          <a:xfrm>
            <a:off x="841248" y="4279392"/>
            <a:ext cx="7863840" cy="585216"/>
          </a:xfrm>
          <a:prstGeom prst="rect">
            <a:avLst/>
          </a:prstGeom>
          <a:noFill/>
          <a:ln/>
        </p:spPr>
        <p:txBody>
          <a:bodyPr wrap="square" lIns="0" tIns="0" rIns="0" bIns="0" rtlCol="0" anchor="ctr"/>
          <a:lstStyle/>
          <a:p>
            <a:pPr marL="0" indent="0">
              <a:buNone/>
            </a:pPr>
            <a:r>
              <a:rPr lang="en-US" sz="850" dirty="0">
                <a:solidFill>
                  <a:srgbClr val="333333"/>
                </a:solidFill>
                <a:latin typeface="Calibri" pitchFamily="34" charset="0"/>
                <a:ea typeface="Calibri" pitchFamily="34" charset="-122"/>
                <a:cs typeface="Calibri" pitchFamily="34" charset="-120"/>
              </a:rPr>
              <a:t>La Directiva N°6/2025 es explícita: el PAC debe reflejar los objetivos estratégicos institucionales. Finanzas, Gestión Asistencial y Abastecimiento deben planificar juntos, no en silos. La planificación de compras ES planificación sanitaria: los insumos y servicios que se compran determinan directamente la calidad y oportunidad de la atención.</a:t>
            </a:r>
            <a:endParaRPr lang="en-US" sz="850" dirty="0"/>
          </a:p>
        </p:txBody>
      </p:sp>
      <p:sp>
        <p:nvSpPr>
          <p:cNvPr id="24" name="Shape 22"/>
          <p:cNvSpPr/>
          <p:nvPr/>
        </p:nvSpPr>
        <p:spPr>
          <a:xfrm>
            <a:off x="0" y="5070348"/>
            <a:ext cx="9144000" cy="73152"/>
          </a:xfrm>
          <a:prstGeom prst="rect">
            <a:avLst/>
          </a:prstGeom>
          <a:solidFill>
            <a:srgbClr val="00234E"/>
          </a:solidFill>
          <a:ln w="12700">
            <a:solidFill>
              <a:srgbClr val="00234E"/>
            </a:solidFill>
            <a:prstDash val="solid"/>
          </a:ln>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0234E"/>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4DAADF"/>
          </a:solidFill>
          <a:ln w="12700">
            <a:solidFill>
              <a:srgbClr val="4DAADF"/>
            </a:solidFill>
            <a:prstDash val="solid"/>
          </a:ln>
        </p:spPr>
      </p:sp>
      <p:sp>
        <p:nvSpPr>
          <p:cNvPr id="3" name="Shape 1"/>
          <p:cNvSpPr/>
          <p:nvPr/>
        </p:nvSpPr>
        <p:spPr>
          <a:xfrm>
            <a:off x="0" y="73152"/>
            <a:ext cx="228600" cy="5070348"/>
          </a:xfrm>
          <a:prstGeom prst="rect">
            <a:avLst/>
          </a:prstGeom>
          <a:solidFill>
            <a:srgbClr val="004B8D"/>
          </a:solidFill>
          <a:ln w="12700">
            <a:solidFill>
              <a:srgbClr val="004B8D"/>
            </a:solidFill>
            <a:prstDash val="solid"/>
          </a:ln>
        </p:spPr>
      </p:sp>
      <p:sp>
        <p:nvSpPr>
          <p:cNvPr id="4" name="Text 2"/>
          <p:cNvSpPr/>
          <p:nvPr/>
        </p:nvSpPr>
        <p:spPr>
          <a:xfrm>
            <a:off x="502920" y="731520"/>
            <a:ext cx="8229600" cy="2286000"/>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Un PAC bien planificado</a:t>
            </a:r>
            <a:endParaRPr lang="en-US" sz="3000" dirty="0"/>
          </a:p>
          <a:p>
            <a:pPr marL="0" indent="0" algn="l">
              <a:buNone/>
            </a:pPr>
            <a:r>
              <a:rPr lang="en-US" sz="3000" b="1" dirty="0">
                <a:solidFill>
                  <a:srgbClr val="FFFFFF"/>
                </a:solidFill>
                <a:latin typeface="Calibri" pitchFamily="34" charset="0"/>
                <a:ea typeface="Calibri" pitchFamily="34" charset="-122"/>
                <a:cs typeface="Calibri" pitchFamily="34" charset="-120"/>
              </a:rPr>
              <a:t>es una prestación de salud</a:t>
            </a:r>
            <a:endParaRPr lang="en-US" sz="3000" dirty="0"/>
          </a:p>
          <a:p>
            <a:pPr marL="0" indent="0" algn="l">
              <a:buNone/>
            </a:pPr>
            <a:r>
              <a:rPr lang="en-US" sz="3000" b="1" dirty="0">
                <a:solidFill>
                  <a:srgbClr val="FFFFFF"/>
                </a:solidFill>
                <a:latin typeface="Calibri" pitchFamily="34" charset="0"/>
                <a:ea typeface="Calibri" pitchFamily="34" charset="-122"/>
                <a:cs typeface="Calibri" pitchFamily="34" charset="-120"/>
              </a:rPr>
              <a:t>que llega a tiempo.</a:t>
            </a:r>
            <a:endParaRPr lang="en-US" sz="3000" dirty="0"/>
          </a:p>
        </p:txBody>
      </p:sp>
      <p:sp>
        <p:nvSpPr>
          <p:cNvPr id="5" name="Shape 3"/>
          <p:cNvSpPr/>
          <p:nvPr/>
        </p:nvSpPr>
        <p:spPr>
          <a:xfrm>
            <a:off x="502920" y="3108960"/>
            <a:ext cx="4572000" cy="36576"/>
          </a:xfrm>
          <a:prstGeom prst="rect">
            <a:avLst/>
          </a:prstGeom>
          <a:solidFill>
            <a:srgbClr val="4DAADF"/>
          </a:solidFill>
          <a:ln w="12700">
            <a:solidFill>
              <a:srgbClr val="4DAADF"/>
            </a:solidFill>
            <a:prstDash val="solid"/>
          </a:ln>
        </p:spPr>
      </p:sp>
      <p:sp>
        <p:nvSpPr>
          <p:cNvPr id="6" name="Text 4"/>
          <p:cNvSpPr/>
          <p:nvPr/>
        </p:nvSpPr>
        <p:spPr>
          <a:xfrm>
            <a:off x="502920" y="3291840"/>
            <a:ext cx="8229600" cy="731520"/>
          </a:xfrm>
          <a:prstGeom prst="rect">
            <a:avLst/>
          </a:prstGeom>
          <a:noFill/>
          <a:ln/>
        </p:spPr>
        <p:txBody>
          <a:bodyPr wrap="square" lIns="0" tIns="0" rIns="0" bIns="0" rtlCol="0" anchor="ctr"/>
          <a:lstStyle/>
          <a:p>
            <a:pPr marL="0" indent="0" algn="l">
              <a:buNone/>
            </a:pPr>
            <a:r>
              <a:rPr lang="en-US" sz="1400" dirty="0">
                <a:solidFill>
                  <a:srgbClr val="B0C8E0"/>
                </a:solidFill>
                <a:latin typeface="Calibri" pitchFamily="34" charset="0"/>
                <a:ea typeface="Calibri" pitchFamily="34" charset="-122"/>
                <a:cs typeface="Calibri" pitchFamily="34" charset="-120"/>
              </a:rPr>
              <a:t>Subdepartamento de Abastecimiento</a:t>
            </a:r>
            <a:endParaRPr lang="en-US" sz="1400" dirty="0"/>
          </a:p>
          <a:p>
            <a:pPr marL="0" indent="0" algn="l">
              <a:buNone/>
            </a:pPr>
            <a:r>
              <a:rPr lang="en-US" sz="1400" dirty="0">
                <a:solidFill>
                  <a:srgbClr val="B0C8E0"/>
                </a:solidFill>
                <a:latin typeface="Calibri" pitchFamily="34" charset="0"/>
                <a:ea typeface="Calibri" pitchFamily="34" charset="-122"/>
                <a:cs typeface="Calibri" pitchFamily="34" charset="-120"/>
              </a:rPr>
              <a:t>Servicio de Salud Osorno — Mayo 2026</a:t>
            </a:r>
            <a:endParaRPr lang="en-US" sz="1400" dirty="0"/>
          </a:p>
        </p:txBody>
      </p:sp>
      <p:sp>
        <p:nvSpPr>
          <p:cNvPr id="7" name="Text 5"/>
          <p:cNvSpPr/>
          <p:nvPr/>
        </p:nvSpPr>
        <p:spPr>
          <a:xfrm>
            <a:off x="502920" y="4114800"/>
            <a:ext cx="8229600" cy="548640"/>
          </a:xfrm>
          <a:prstGeom prst="rect">
            <a:avLst/>
          </a:prstGeom>
          <a:noFill/>
          <a:ln/>
        </p:spPr>
        <p:txBody>
          <a:bodyPr wrap="square" lIns="0" tIns="0" rIns="0" bIns="0" rtlCol="0" anchor="ctr"/>
          <a:lstStyle/>
          <a:p>
            <a:pPr marL="0" indent="0" algn="l">
              <a:buNone/>
            </a:pPr>
            <a:r>
              <a:rPr lang="en-US" sz="2200" b="1" i="1" dirty="0">
                <a:solidFill>
                  <a:srgbClr val="4DAADF"/>
                </a:solidFill>
                <a:latin typeface="Calibri" pitchFamily="34" charset="0"/>
                <a:ea typeface="Calibri" pitchFamily="34" charset="-122"/>
                <a:cs typeface="Calibri" pitchFamily="34" charset="-120"/>
              </a:rPr>
              <a:t>Muchas gracias</a:t>
            </a:r>
            <a:endParaRPr lang="en-US" sz="2200" dirty="0"/>
          </a:p>
        </p:txBody>
      </p:sp>
      <p:sp>
        <p:nvSpPr>
          <p:cNvPr id="8" name="Shape 6"/>
          <p:cNvSpPr/>
          <p:nvPr/>
        </p:nvSpPr>
        <p:spPr>
          <a:xfrm>
            <a:off x="0" y="5070348"/>
            <a:ext cx="9144000" cy="73152"/>
          </a:xfrm>
          <a:prstGeom prst="rect">
            <a:avLst/>
          </a:prstGeom>
          <a:solidFill>
            <a:srgbClr val="4DAADF"/>
          </a:solidFill>
          <a:ln w="12700">
            <a:solidFill>
              <a:srgbClr val="4DAADF"/>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TotalTime>
  <Words>3075</Words>
  <Application>Microsoft Office PowerPoint</Application>
  <PresentationFormat>Presentación en pantalla (16:9)</PresentationFormat>
  <Paragraphs>392</Paragraphs>
  <Slides>19</Slides>
  <Notes>19</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19</vt:i4>
      </vt:variant>
    </vt:vector>
  </HeadingPairs>
  <TitlesOfParts>
    <vt:vector size="22" baseType="lpstr">
      <vt:lpstr>Arial</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Plan Anual de Compras SSO 2026</dc:title>
  <dc:subject>PptxGenJS Presentation</dc:subject>
  <dc:creator>PptxGenJS</dc:creator>
  <cp:lastModifiedBy>Sandra</cp:lastModifiedBy>
  <cp:revision>7</cp:revision>
  <dcterms:created xsi:type="dcterms:W3CDTF">2026-05-13T02:38:53Z</dcterms:created>
  <dcterms:modified xsi:type="dcterms:W3CDTF">2026-05-13T12:37:56Z</dcterms:modified>
</cp:coreProperties>
</file>